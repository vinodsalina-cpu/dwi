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DWI as a project-aware operating layer for consistent AI-assisted delivery, beginning with a local proof of concept.
Separate the claims: the current POC standardizes the project-to-review interaction; PMS-informed budget allocation and aggregated feedback are proposed future extensions.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management issue is not merely prompt quality. It is the absence of a consistent operating contract across context, intent, resource use and feedback.
The current POC addresses the first part of that contract; future extensions could connect bounded resource policy and aggregated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four verbs: bring together, structure, resolve and review. This is the standard interaction contract already visible in the local POC.
A material gap can be surfaced today. The focused answer, skip and safe application sequence remains a target extension; do not demonstrate it as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generic answer can look polished while missing local deployment or rollback constraints.
The current POC grounds the plan and makes a material gap visible. The next extension is a one-question answer or skip flow bound to the current task and context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on the outcome: less briefing, fewer avoidable omissions, lower cognitive load and clearer review.
Human control is part of the value proposition. The current evidence is local and deterministic; it does not establish production scale or real-provider semantic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only current behavior: reviewed project context, structured task input, inspectable sources and assumptions, local composition, save, and scoped reset.
Name the boundary directly: gap detection exists, while the focused answer and application flow is a next product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future model, not a current product claim. PMS supplies minimal approved task metadata; a DWI governance policy maps it to a capped budget envelope.
The composition engine can use the envelope to allocate approved context and depth. It cannot bypass consent, safety ceilings, explicit provider action or human approval.
Feedback should be content-free, consented and aggregated. Raw prompts, generated content and project material must not become management 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developer level, optimize the work experience. At team level, improve shared knowledge and handoffs. At SDLC operations level, find stage friction. At management and AI CoE level, govern useful adoption and investment.
Management reporting should aggregate by workflow or cohort. It must exclude raw content and avoid individual ranking or activity-based productivity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management to evaluate usefulness and sponsor a staged evidence plan, not to declare production readiness.
The sequence is deliberate: experience the POC, close exact-tree continuity and focused clarification, freeze governance, run shadow allocation, then pilot one bounded workflow.
Phase 5 and Phase 6 local POC evidence are recorded as passing. Phase 4 real-provider semantic and fixed-executor qualification remains blocked.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WI">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530352" y="6437376"/>
            <a:ext cx="11082528" cy="0"/>
          </a:xfrm>
          <a:prstGeom prst="line">
            <a:avLst/>
          </a:prstGeom>
          <a:noFill/>
          <a:ln w="8890">
            <a:solidFill>
              <a:srgbClr val="D8DEE7"/>
            </a:solidFill>
            <a:prstDash val="solid"/>
          </a:ln>
        </p:spPr>
      </p:sp>
      <p:sp>
        <p:nvSpPr>
          <p:cNvPr id="3" name="Text 1"/>
          <p:cNvSpPr/>
          <p:nvPr/>
        </p:nvSpPr>
        <p:spPr>
          <a:xfrm>
            <a:off x="585216" y="6492240"/>
            <a:ext cx="5212080" cy="146304"/>
          </a:xfrm>
          <a:prstGeom prst="rect">
            <a:avLst/>
          </a:prstGeom>
          <a:noFill/>
          <a:ln/>
        </p:spPr>
        <p:txBody>
          <a:bodyPr wrap="square" lIns="0" tIns="0" rIns="0" bIns="0" rtlCol="0" anchor="ctr"/>
          <a:lstStyle/>
          <a:p>
            <a:pPr indent="0" marL="0">
              <a:buNone/>
            </a:pPr>
            <a:r>
              <a:rPr lang="en-US" sz="780" b="1" spc="70" kern="0" dirty="0">
                <a:solidFill>
                  <a:srgbClr val="667085"/>
                </a:solidFill>
                <a:latin typeface="Aptos" pitchFamily="34" charset="0"/>
                <a:ea typeface="Aptos" pitchFamily="34" charset="-122"/>
                <a:cs typeface="Aptos" pitchFamily="34" charset="-120"/>
              </a:rPr>
              <a:t>DWI  •  MANAGEMENT POC &amp; FUTURE DIRECTION</a:t>
            </a:r>
            <a:endParaRPr lang="en-US" sz="780" dirty="0"/>
          </a:p>
        </p:txBody>
      </p:sp>
      <p:sp>
        <p:nvSpPr>
          <p:cNvPr id="4" name="Text 2"/>
          <p:cNvSpPr/>
          <p:nvPr/>
        </p:nvSpPr>
        <p:spPr>
          <a:xfrm>
            <a:off x="9802368" y="6492240"/>
            <a:ext cx="1755648" cy="146304"/>
          </a:xfrm>
          <a:prstGeom prst="rect">
            <a:avLst/>
          </a:prstGeom>
          <a:noFill/>
          <a:ln/>
        </p:spPr>
        <p:txBody>
          <a:bodyPr wrap="square" lIns="0" tIns="0" rIns="0" bIns="0" rtlCol="0" anchor="ctr"/>
          <a:lstStyle/>
          <a:p>
            <a:pPr algn="r" indent="0" marL="0">
              <a:buNone/>
            </a:pPr>
            <a:r>
              <a:rPr lang="en-US" sz="780" dirty="0">
                <a:solidFill>
                  <a:srgbClr val="667085"/>
                </a:solidFill>
                <a:latin typeface="Aptos" pitchFamily="34" charset="0"/>
                <a:ea typeface="Aptos" pitchFamily="34" charset="-122"/>
                <a:cs typeface="Aptos" pitchFamily="34" charset="-120"/>
              </a:rPr>
              <a:t>01 SEP 2026</a:t>
            </a:r>
            <a:endParaRPr lang="en-US" sz="780" dirty="0"/>
          </a:p>
        </p:txBody>
      </p:sp>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53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253D"/>
          </a:solidFill>
          <a:ln w="12700">
            <a:solidFill>
              <a:srgbClr val="0E253D"/>
            </a:solidFill>
            <a:prstDash val="solid"/>
          </a:ln>
        </p:spPr>
      </p:sp>
      <p:sp>
        <p:nvSpPr>
          <p:cNvPr id="3" name="Shape 1"/>
          <p:cNvSpPr/>
          <p:nvPr/>
        </p:nvSpPr>
        <p:spPr>
          <a:xfrm rot="1080000">
            <a:off x="7498080" y="-1051560"/>
            <a:ext cx="6126480" cy="6126480"/>
          </a:xfrm>
          <a:prstGeom prst="arc">
            <a:avLst/>
          </a:prstGeom>
          <a:solidFill>
            <a:srgbClr val="007F80">
              <a:alpha val="84000"/>
            </a:srgbClr>
          </a:solidFill>
          <a:ln w="12700">
            <a:solidFill>
              <a:srgbClr val="007F80">
                <a:alpha val="0"/>
              </a:srgbClr>
            </a:solidFill>
            <a:prstDash val="solid"/>
          </a:ln>
        </p:spPr>
      </p:sp>
      <p:sp>
        <p:nvSpPr>
          <p:cNvPr id="4" name="Shape 2"/>
          <p:cNvSpPr/>
          <p:nvPr/>
        </p:nvSpPr>
        <p:spPr>
          <a:xfrm rot="12300000">
            <a:off x="8503920" y="1353312"/>
            <a:ext cx="4389120" cy="4389120"/>
          </a:xfrm>
          <a:prstGeom prst="arc">
            <a:avLst/>
          </a:prstGeom>
          <a:solidFill>
            <a:srgbClr val="21A7B7">
              <a:alpha val="60000"/>
            </a:srgbClr>
          </a:solidFill>
          <a:ln w="12700">
            <a:solidFill>
              <a:srgbClr val="21A7B7">
                <a:alpha val="0"/>
              </a:srgbClr>
            </a:solidFill>
            <a:prstDash val="solid"/>
          </a:ln>
        </p:spPr>
      </p:sp>
      <p:sp>
        <p:nvSpPr>
          <p:cNvPr id="5" name="Shape 3"/>
          <p:cNvSpPr/>
          <p:nvPr/>
        </p:nvSpPr>
        <p:spPr>
          <a:xfrm>
            <a:off x="676656" y="603504"/>
            <a:ext cx="2441448" cy="292608"/>
          </a:xfrm>
          <a:prstGeom prst="roundRect">
            <a:avLst>
              <a:gd name="adj" fmla="val 50000"/>
            </a:avLst>
          </a:prstGeom>
          <a:solidFill>
            <a:srgbClr val="29475F"/>
          </a:solidFill>
          <a:ln w="12700">
            <a:solidFill>
              <a:srgbClr val="29475F"/>
            </a:solidFill>
            <a:prstDash val="solid"/>
          </a:ln>
        </p:spPr>
      </p:sp>
      <p:sp>
        <p:nvSpPr>
          <p:cNvPr id="6" name="Text 4"/>
          <p:cNvSpPr txBox="1"/>
          <p:nvPr/>
        </p:nvSpPr>
        <p:spPr>
          <a:xfrm>
            <a:off x="740664" y="621792"/>
            <a:ext cx="2313432"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B9D85C"/>
                </a:solidFill>
                <a:latin typeface="Aptos" pitchFamily="34" charset="0"/>
                <a:ea typeface="Aptos" pitchFamily="34" charset="-122"/>
                <a:cs typeface="Aptos" pitchFamily="34" charset="-120"/>
              </a:rPr>
              <a:t>LOCAL POC + FUTURE DIRECTION</a:t>
            </a:r>
            <a:endParaRPr lang="en-US" sz="920" dirty="0"/>
          </a:p>
        </p:txBody>
      </p:sp>
      <p:sp>
        <p:nvSpPr>
          <p:cNvPr id="7" name="Text 5"/>
          <p:cNvSpPr txBox="1"/>
          <p:nvPr/>
        </p:nvSpPr>
        <p:spPr>
          <a:xfrm>
            <a:off x="676656" y="1353312"/>
            <a:ext cx="7315200" cy="1426464"/>
          </a:xfrm>
          <a:prstGeom prst="rect">
            <a:avLst/>
          </a:prstGeom>
          <a:noFill/>
          <a:ln/>
        </p:spPr>
        <p:txBody>
          <a:bodyPr wrap="square" lIns="0" tIns="0" rIns="0" bIns="0" rtlCol="0" anchor="t">
            <a:normAutofit/>
          </a:bodyPr>
          <a:lstStyle/>
          <a:p>
            <a:pPr algn="l" indent="0" marL="0">
              <a:buNone/>
            </a:pPr>
            <a:r>
              <a:rPr lang="en-US" sz="3350" b="1" dirty="0">
                <a:solidFill>
                  <a:srgbClr val="FFFFFF"/>
                </a:solidFill>
                <a:latin typeface="Aptos" pitchFamily="34" charset="0"/>
                <a:ea typeface="Aptos" pitchFamily="34" charset="-122"/>
                <a:cs typeface="Aptos" pitchFamily="34" charset="-120"/>
              </a:rPr>
              <a:t>A project-aware operating layer</a:t>
            </a:r>
            <a:endParaRPr lang="en-US" sz="3350" dirty="0"/>
          </a:p>
          <a:p>
            <a:pPr algn="l" indent="0" marL="0">
              <a:buNone/>
            </a:pPr>
            <a:r>
              <a:rPr lang="en-US" sz="3350" b="1" dirty="0">
                <a:solidFill>
                  <a:srgbClr val="FFFFFF"/>
                </a:solidFill>
                <a:latin typeface="Aptos" pitchFamily="34" charset="0"/>
                <a:ea typeface="Aptos" pitchFamily="34" charset="-122"/>
                <a:cs typeface="Aptos" pitchFamily="34" charset="-120"/>
              </a:rPr>
              <a:t>for scalable AI-assisted delivery</a:t>
            </a:r>
            <a:endParaRPr lang="en-US" sz="3350" dirty="0"/>
          </a:p>
        </p:txBody>
      </p:sp>
      <p:sp>
        <p:nvSpPr>
          <p:cNvPr id="8" name="Text 6"/>
          <p:cNvSpPr txBox="1"/>
          <p:nvPr/>
        </p:nvSpPr>
        <p:spPr>
          <a:xfrm>
            <a:off x="694944" y="3200400"/>
            <a:ext cx="6812280" cy="932688"/>
          </a:xfrm>
          <a:prstGeom prst="rect">
            <a:avLst/>
          </a:prstGeom>
          <a:noFill/>
          <a:ln/>
        </p:spPr>
        <p:txBody>
          <a:bodyPr wrap="square" lIns="0" tIns="0" rIns="0" bIns="0" rtlCol="0" anchor="t">
            <a:normAutofit/>
          </a:bodyPr>
          <a:lstStyle/>
          <a:p>
            <a:pPr algn="l" indent="0" marL="0">
              <a:buNone/>
            </a:pPr>
            <a:r>
              <a:rPr lang="en-US" sz="1870" dirty="0">
                <a:solidFill>
                  <a:srgbClr val="C1EBEE"/>
                </a:solidFill>
                <a:latin typeface="Aptos" pitchFamily="34" charset="0"/>
                <a:ea typeface="Aptos" pitchFamily="34" charset="-122"/>
                <a:cs typeface="Aptos" pitchFamily="34" charset="-120"/>
              </a:rPr>
              <a:t>Standardized context, task intent, review and control today.</a:t>
            </a:r>
            <a:endParaRPr lang="en-US" sz="1870" dirty="0"/>
          </a:p>
          <a:p>
            <a:pPr algn="l" indent="0" marL="0">
              <a:buNone/>
            </a:pPr>
            <a:r>
              <a:rPr lang="en-US" sz="1870" dirty="0">
                <a:solidFill>
                  <a:srgbClr val="C1EBEE"/>
                </a:solidFill>
                <a:latin typeface="Aptos" pitchFamily="34" charset="0"/>
                <a:ea typeface="Aptos" pitchFamily="34" charset="-122"/>
                <a:cs typeface="Aptos" pitchFamily="34" charset="-120"/>
              </a:rPr>
              <a:t>A governed path to PMS-informed budgets and useful feedback tomorrow.</a:t>
            </a:r>
            <a:endParaRPr lang="en-US" sz="1870" dirty="0"/>
          </a:p>
        </p:txBody>
      </p:sp>
      <p:sp>
        <p:nvSpPr>
          <p:cNvPr id="9" name="Text 7"/>
          <p:cNvSpPr txBox="1"/>
          <p:nvPr/>
        </p:nvSpPr>
        <p:spPr>
          <a:xfrm>
            <a:off x="694944" y="5961888"/>
            <a:ext cx="2743200" cy="237744"/>
          </a:xfrm>
          <a:prstGeom prst="rect">
            <a:avLst/>
          </a:prstGeom>
          <a:noFill/>
          <a:ln/>
        </p:spPr>
        <p:txBody>
          <a:bodyPr wrap="square" lIns="0" tIns="0" rIns="0" bIns="0" rtlCol="0" anchor="ctr">
            <a:normAutofit/>
          </a:bodyPr>
          <a:lstStyle/>
          <a:p>
            <a:pPr algn="l" indent="0" marL="0">
              <a:buNone/>
            </a:pPr>
            <a:r>
              <a:rPr lang="en-US" sz="1000" b="1" spc="110" kern="0" dirty="0">
                <a:solidFill>
                  <a:srgbClr val="9EB4C5"/>
                </a:solidFill>
                <a:latin typeface="Aptos" pitchFamily="34" charset="0"/>
                <a:ea typeface="Aptos" pitchFamily="34" charset="-122"/>
                <a:cs typeface="Aptos" pitchFamily="34" charset="-120"/>
              </a:rPr>
              <a:t>DWI PROMPT OPTIMIZER</a:t>
            </a:r>
            <a:endParaRPr lang="en-US" sz="1000" dirty="0"/>
          </a:p>
        </p:txBody>
      </p:sp>
      <p:sp>
        <p:nvSpPr>
          <p:cNvPr id="10" name="Text 8"/>
          <p:cNvSpPr txBox="1"/>
          <p:nvPr/>
        </p:nvSpPr>
        <p:spPr>
          <a:xfrm>
            <a:off x="8641080" y="5961888"/>
            <a:ext cx="2743200" cy="237744"/>
          </a:xfrm>
          <a:prstGeom prst="rect">
            <a:avLst/>
          </a:prstGeom>
          <a:noFill/>
          <a:ln/>
        </p:spPr>
        <p:txBody>
          <a:bodyPr wrap="square" lIns="0" tIns="0" rIns="0" bIns="0" rtlCol="0" anchor="ctr">
            <a:normAutofit/>
          </a:bodyPr>
          <a:lstStyle/>
          <a:p>
            <a:pPr algn="r" indent="0" marL="0">
              <a:buNone/>
            </a:pPr>
            <a:r>
              <a:rPr lang="en-US" sz="1000" b="1" spc="90" kern="0" dirty="0">
                <a:solidFill>
                  <a:srgbClr val="9EB4C5"/>
                </a:solidFill>
                <a:latin typeface="Aptos" pitchFamily="34" charset="0"/>
                <a:ea typeface="Aptos" pitchFamily="34" charset="-122"/>
                <a:cs typeface="Aptos" pitchFamily="34" charset="-120"/>
              </a:rPr>
              <a:t>MANAGEMENT BRIEF  •  FINAL</a:t>
            </a:r>
            <a:endParaRPr lang="en-US" sz="1000" dirty="0"/>
          </a:p>
        </p:txBody>
      </p:sp>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03504" y="310896"/>
            <a:ext cx="5120640" cy="219456"/>
          </a:xfrm>
          <a:prstGeom prst="rect">
            <a:avLst/>
          </a:prstGeom>
          <a:noFill/>
          <a:ln/>
        </p:spPr>
        <p:txBody>
          <a:bodyPr wrap="square" lIns="0" tIns="0" rIns="0" bIns="0" rtlCol="0" anchor="ctr">
            <a:normAutofit/>
          </a:bodyPr>
          <a:lstStyle/>
          <a:p>
            <a:pPr algn="l" indent="0" marL="0">
              <a:buNone/>
            </a:pPr>
            <a:r>
              <a:rPr lang="en-US" sz="950" b="1" spc="120" kern="0" dirty="0">
                <a:solidFill>
                  <a:srgbClr val="007F80"/>
                </a:solidFill>
                <a:latin typeface="Aptos" pitchFamily="34" charset="0"/>
                <a:ea typeface="Aptos" pitchFamily="34" charset="-122"/>
                <a:cs typeface="Aptos" pitchFamily="34" charset="-120"/>
              </a:rPr>
              <a:t>THE MANAGEMENT PROBLEM</a:t>
            </a:r>
            <a:endParaRPr lang="en-US" sz="950" dirty="0"/>
          </a:p>
        </p:txBody>
      </p:sp>
      <p:sp>
        <p:nvSpPr>
          <p:cNvPr id="3" name="Text 1"/>
          <p:cNvSpPr txBox="1"/>
          <p:nvPr/>
        </p:nvSpPr>
        <p:spPr>
          <a:xfrm>
            <a:off x="603504" y="603504"/>
            <a:ext cx="10972800" cy="548640"/>
          </a:xfrm>
          <a:prstGeom prst="rect">
            <a:avLst/>
          </a:prstGeom>
          <a:noFill/>
          <a:ln/>
        </p:spPr>
        <p:txBody>
          <a:bodyPr wrap="square" lIns="0" tIns="0" rIns="0" bIns="0" rtlCol="0" anchor="ctr">
            <a:normAutofit/>
          </a:bodyPr>
          <a:lstStyle/>
          <a:p>
            <a:pPr algn="l" indent="0" marL="0">
              <a:buNone/>
            </a:pPr>
            <a:r>
              <a:rPr lang="en-US" sz="2750" b="1" dirty="0">
                <a:solidFill>
                  <a:srgbClr val="172033"/>
                </a:solidFill>
                <a:latin typeface="Aptos" pitchFamily="34" charset="0"/>
                <a:ea typeface="Aptos" pitchFamily="34" charset="-122"/>
                <a:cs typeface="Aptos" pitchFamily="34" charset="-120"/>
              </a:rPr>
              <a:t>AI interactions are growing faster than the operating model</a:t>
            </a:r>
            <a:endParaRPr lang="en-US" sz="2750" dirty="0"/>
          </a:p>
        </p:txBody>
      </p:sp>
      <p:sp>
        <p:nvSpPr>
          <p:cNvPr id="4" name="Text 2"/>
          <p:cNvSpPr txBox="1"/>
          <p:nvPr/>
        </p:nvSpPr>
        <p:spPr>
          <a:xfrm>
            <a:off x="603504" y="1170432"/>
            <a:ext cx="10927080" cy="365760"/>
          </a:xfrm>
          <a:prstGeom prst="rect">
            <a:avLst/>
          </a:prstGeom>
          <a:noFill/>
          <a:ln/>
        </p:spPr>
        <p:txBody>
          <a:bodyPr wrap="square" lIns="0" tIns="0" rIns="0" bIns="0" rtlCol="0" anchor="ctr">
            <a:normAutofit/>
          </a:bodyPr>
          <a:lstStyle/>
          <a:p>
            <a:pPr algn="l" indent="0" marL="0">
              <a:buNone/>
            </a:pPr>
            <a:r>
              <a:rPr lang="en-US" sz="1350" dirty="0">
                <a:solidFill>
                  <a:srgbClr val="667085"/>
                </a:solidFill>
                <a:latin typeface="Aptos" pitchFamily="34" charset="0"/>
                <a:ea typeface="Aptos" pitchFamily="34" charset="-122"/>
                <a:cs typeface="Aptos" pitchFamily="34" charset="-120"/>
              </a:rPr>
              <a:t>Without a shared structure, teams repeat context, vary in quality and generate little decision-ready feedback.</a:t>
            </a:r>
            <a:endParaRPr lang="en-US" sz="1350" dirty="0"/>
          </a:p>
        </p:txBody>
      </p:sp>
      <p:sp>
        <p:nvSpPr>
          <p:cNvPr id="5" name="Shape 3"/>
          <p:cNvSpPr/>
          <p:nvPr/>
        </p:nvSpPr>
        <p:spPr>
          <a:xfrm>
            <a:off x="640080" y="1773936"/>
            <a:ext cx="5276088" cy="1536192"/>
          </a:xfrm>
          <a:prstGeom prst="roundRect">
            <a:avLst>
              <a:gd name="adj" fmla="val 4762"/>
            </a:avLst>
          </a:prstGeom>
          <a:solidFill>
            <a:srgbClr val="FFFFFF"/>
          </a:solidFill>
          <a:ln w="10160">
            <a:solidFill>
              <a:srgbClr val="D8DEE7"/>
            </a:solidFill>
            <a:prstDash val="solid"/>
          </a:ln>
        </p:spPr>
      </p:sp>
      <p:sp>
        <p:nvSpPr>
          <p:cNvPr id="6" name="Shape 4"/>
          <p:cNvSpPr/>
          <p:nvPr/>
        </p:nvSpPr>
        <p:spPr>
          <a:xfrm>
            <a:off x="640080" y="1773936"/>
            <a:ext cx="73152" cy="1536192"/>
          </a:xfrm>
          <a:prstGeom prst="rect">
            <a:avLst/>
          </a:prstGeom>
          <a:solidFill>
            <a:srgbClr val="007F80"/>
          </a:solidFill>
          <a:ln w="12700">
            <a:solidFill>
              <a:srgbClr val="007F80"/>
            </a:solidFill>
            <a:prstDash val="solid"/>
          </a:ln>
        </p:spPr>
      </p:sp>
      <p:sp>
        <p:nvSpPr>
          <p:cNvPr id="7" name="Text 5"/>
          <p:cNvSpPr txBox="1"/>
          <p:nvPr/>
        </p:nvSpPr>
        <p:spPr>
          <a:xfrm>
            <a:off x="886968" y="1956816"/>
            <a:ext cx="4818888" cy="201168"/>
          </a:xfrm>
          <a:prstGeom prst="rect">
            <a:avLst/>
          </a:prstGeom>
          <a:noFill/>
          <a:ln/>
        </p:spPr>
        <p:txBody>
          <a:bodyPr wrap="square" lIns="0" tIns="0" rIns="0" bIns="0" rtlCol="0" anchor="ctr">
            <a:normAutofit/>
          </a:bodyPr>
          <a:lstStyle/>
          <a:p>
            <a:pPr algn="l" indent="0" marL="0">
              <a:buNone/>
            </a:pPr>
            <a:r>
              <a:rPr lang="en-US" sz="880" b="1" spc="70" kern="0" dirty="0">
                <a:solidFill>
                  <a:srgbClr val="007F80"/>
                </a:solidFill>
                <a:latin typeface="Aptos" pitchFamily="34" charset="0"/>
                <a:ea typeface="Aptos" pitchFamily="34" charset="-122"/>
                <a:cs typeface="Aptos" pitchFamily="34" charset="-120"/>
              </a:rPr>
              <a:t>CONTEXT</a:t>
            </a:r>
            <a:endParaRPr lang="en-US" sz="880" dirty="0"/>
          </a:p>
        </p:txBody>
      </p:sp>
      <p:sp>
        <p:nvSpPr>
          <p:cNvPr id="8" name="Text 6"/>
          <p:cNvSpPr txBox="1"/>
          <p:nvPr/>
        </p:nvSpPr>
        <p:spPr>
          <a:xfrm>
            <a:off x="886968" y="2240280"/>
            <a:ext cx="4800600"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Repeated briefing</a:t>
            </a:r>
            <a:endParaRPr lang="en-US" sz="1650" dirty="0"/>
          </a:p>
        </p:txBody>
      </p:sp>
      <p:sp>
        <p:nvSpPr>
          <p:cNvPr id="9" name="Text 7"/>
          <p:cNvSpPr txBox="1"/>
          <p:nvPr/>
        </p:nvSpPr>
        <p:spPr>
          <a:xfrm>
            <a:off x="886968" y="2651760"/>
            <a:ext cx="4800600" cy="493776"/>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Developers rebuild the same project background for each task and tool.</a:t>
            </a:r>
            <a:endParaRPr lang="en-US" sz="1180" dirty="0"/>
          </a:p>
        </p:txBody>
      </p:sp>
      <p:sp>
        <p:nvSpPr>
          <p:cNvPr id="10" name="Shape 8"/>
          <p:cNvSpPr/>
          <p:nvPr/>
        </p:nvSpPr>
        <p:spPr>
          <a:xfrm>
            <a:off x="6236208" y="1773936"/>
            <a:ext cx="5276088" cy="1536192"/>
          </a:xfrm>
          <a:prstGeom prst="roundRect">
            <a:avLst>
              <a:gd name="adj" fmla="val 4762"/>
            </a:avLst>
          </a:prstGeom>
          <a:solidFill>
            <a:srgbClr val="FFFFFF"/>
          </a:solidFill>
          <a:ln w="10160">
            <a:solidFill>
              <a:srgbClr val="D8DEE7"/>
            </a:solidFill>
            <a:prstDash val="solid"/>
          </a:ln>
        </p:spPr>
      </p:sp>
      <p:sp>
        <p:nvSpPr>
          <p:cNvPr id="11" name="Shape 9"/>
          <p:cNvSpPr/>
          <p:nvPr/>
        </p:nvSpPr>
        <p:spPr>
          <a:xfrm>
            <a:off x="6236208" y="1773936"/>
            <a:ext cx="73152" cy="1536192"/>
          </a:xfrm>
          <a:prstGeom prst="rect">
            <a:avLst/>
          </a:prstGeom>
          <a:solidFill>
            <a:srgbClr val="B94A48"/>
          </a:solidFill>
          <a:ln w="12700">
            <a:solidFill>
              <a:srgbClr val="B94A48"/>
            </a:solidFill>
            <a:prstDash val="solid"/>
          </a:ln>
        </p:spPr>
      </p:sp>
      <p:sp>
        <p:nvSpPr>
          <p:cNvPr id="12" name="Text 10"/>
          <p:cNvSpPr txBox="1"/>
          <p:nvPr/>
        </p:nvSpPr>
        <p:spPr>
          <a:xfrm>
            <a:off x="6483096" y="1956816"/>
            <a:ext cx="4818888" cy="201168"/>
          </a:xfrm>
          <a:prstGeom prst="rect">
            <a:avLst/>
          </a:prstGeom>
          <a:noFill/>
          <a:ln/>
        </p:spPr>
        <p:txBody>
          <a:bodyPr wrap="square" lIns="0" tIns="0" rIns="0" bIns="0" rtlCol="0" anchor="ctr">
            <a:normAutofit/>
          </a:bodyPr>
          <a:lstStyle/>
          <a:p>
            <a:pPr algn="l" indent="0" marL="0">
              <a:buNone/>
            </a:pPr>
            <a:r>
              <a:rPr lang="en-US" sz="880" b="1" spc="70" kern="0" dirty="0">
                <a:solidFill>
                  <a:srgbClr val="B94A48"/>
                </a:solidFill>
                <a:latin typeface="Aptos" pitchFamily="34" charset="0"/>
                <a:ea typeface="Aptos" pitchFamily="34" charset="-122"/>
                <a:cs typeface="Aptos" pitchFamily="34" charset="-120"/>
              </a:rPr>
              <a:t>QUALITY</a:t>
            </a:r>
            <a:endParaRPr lang="en-US" sz="880" dirty="0"/>
          </a:p>
        </p:txBody>
      </p:sp>
      <p:sp>
        <p:nvSpPr>
          <p:cNvPr id="13" name="Text 11"/>
          <p:cNvSpPr txBox="1"/>
          <p:nvPr/>
        </p:nvSpPr>
        <p:spPr>
          <a:xfrm>
            <a:off x="6483096" y="2240280"/>
            <a:ext cx="4800600"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Inconsistent outputs</a:t>
            </a:r>
            <a:endParaRPr lang="en-US" sz="1650" dirty="0"/>
          </a:p>
        </p:txBody>
      </p:sp>
      <p:sp>
        <p:nvSpPr>
          <p:cNvPr id="14" name="Text 12"/>
          <p:cNvSpPr txBox="1"/>
          <p:nvPr/>
        </p:nvSpPr>
        <p:spPr>
          <a:xfrm>
            <a:off x="6483096" y="2651760"/>
            <a:ext cx="4800600" cy="493776"/>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Important constraints, assumptions and acceptance detail vary by interaction.</a:t>
            </a:r>
            <a:endParaRPr lang="en-US" sz="1180" dirty="0"/>
          </a:p>
        </p:txBody>
      </p:sp>
      <p:sp>
        <p:nvSpPr>
          <p:cNvPr id="15" name="Shape 13"/>
          <p:cNvSpPr/>
          <p:nvPr/>
        </p:nvSpPr>
        <p:spPr>
          <a:xfrm>
            <a:off x="640080" y="3675888"/>
            <a:ext cx="5276088" cy="1536192"/>
          </a:xfrm>
          <a:prstGeom prst="roundRect">
            <a:avLst>
              <a:gd name="adj" fmla="val 4762"/>
            </a:avLst>
          </a:prstGeom>
          <a:solidFill>
            <a:srgbClr val="FFFFFF"/>
          </a:solidFill>
          <a:ln w="10160">
            <a:solidFill>
              <a:srgbClr val="D8DEE7"/>
            </a:solidFill>
            <a:prstDash val="solid"/>
          </a:ln>
        </p:spPr>
      </p:sp>
      <p:sp>
        <p:nvSpPr>
          <p:cNvPr id="16" name="Shape 14"/>
          <p:cNvSpPr/>
          <p:nvPr/>
        </p:nvSpPr>
        <p:spPr>
          <a:xfrm>
            <a:off x="640080" y="3675888"/>
            <a:ext cx="73152" cy="1536192"/>
          </a:xfrm>
          <a:prstGeom prst="rect">
            <a:avLst/>
          </a:prstGeom>
          <a:solidFill>
            <a:srgbClr val="D9952A"/>
          </a:solidFill>
          <a:ln w="12700">
            <a:solidFill>
              <a:srgbClr val="D9952A"/>
            </a:solidFill>
            <a:prstDash val="solid"/>
          </a:ln>
        </p:spPr>
      </p:sp>
      <p:sp>
        <p:nvSpPr>
          <p:cNvPr id="17" name="Text 15"/>
          <p:cNvSpPr txBox="1"/>
          <p:nvPr/>
        </p:nvSpPr>
        <p:spPr>
          <a:xfrm>
            <a:off x="886968" y="3858768"/>
            <a:ext cx="4818888" cy="201168"/>
          </a:xfrm>
          <a:prstGeom prst="rect">
            <a:avLst/>
          </a:prstGeom>
          <a:noFill/>
          <a:ln/>
        </p:spPr>
        <p:txBody>
          <a:bodyPr wrap="square" lIns="0" tIns="0" rIns="0" bIns="0" rtlCol="0" anchor="ctr">
            <a:normAutofit/>
          </a:bodyPr>
          <a:lstStyle/>
          <a:p>
            <a:pPr algn="l" indent="0" marL="0">
              <a:buNone/>
            </a:pPr>
            <a:r>
              <a:rPr lang="en-US" sz="880" b="1" spc="70" kern="0" dirty="0">
                <a:solidFill>
                  <a:srgbClr val="D9952A"/>
                </a:solidFill>
                <a:latin typeface="Aptos" pitchFamily="34" charset="0"/>
                <a:ea typeface="Aptos" pitchFamily="34" charset="-122"/>
                <a:cs typeface="Aptos" pitchFamily="34" charset="-120"/>
              </a:rPr>
              <a:t>CAPACITY</a:t>
            </a:r>
            <a:endParaRPr lang="en-US" sz="880" dirty="0"/>
          </a:p>
        </p:txBody>
      </p:sp>
      <p:sp>
        <p:nvSpPr>
          <p:cNvPr id="18" name="Text 16"/>
          <p:cNvSpPr txBox="1"/>
          <p:nvPr/>
        </p:nvSpPr>
        <p:spPr>
          <a:xfrm>
            <a:off x="886968" y="4142232"/>
            <a:ext cx="4800600"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Unclear resource use</a:t>
            </a:r>
            <a:endParaRPr lang="en-US" sz="1650" dirty="0"/>
          </a:p>
        </p:txBody>
      </p:sp>
      <p:sp>
        <p:nvSpPr>
          <p:cNvPr id="19" name="Text 17"/>
          <p:cNvSpPr txBox="1"/>
          <p:nvPr/>
        </p:nvSpPr>
        <p:spPr>
          <a:xfrm>
            <a:off x="886968" y="4553712"/>
            <a:ext cx="4800600" cy="493776"/>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Priority and complexity are disconnected from bounded AI effort and budget.</a:t>
            </a:r>
            <a:endParaRPr lang="en-US" sz="1180" dirty="0"/>
          </a:p>
        </p:txBody>
      </p:sp>
      <p:sp>
        <p:nvSpPr>
          <p:cNvPr id="20" name="Shape 18"/>
          <p:cNvSpPr/>
          <p:nvPr/>
        </p:nvSpPr>
        <p:spPr>
          <a:xfrm>
            <a:off x="6236208" y="3675888"/>
            <a:ext cx="5276088" cy="1536192"/>
          </a:xfrm>
          <a:prstGeom prst="roundRect">
            <a:avLst>
              <a:gd name="adj" fmla="val 4762"/>
            </a:avLst>
          </a:prstGeom>
          <a:solidFill>
            <a:srgbClr val="FFFFFF"/>
          </a:solidFill>
          <a:ln w="10160">
            <a:solidFill>
              <a:srgbClr val="D8DEE7"/>
            </a:solidFill>
            <a:prstDash val="solid"/>
          </a:ln>
        </p:spPr>
      </p:sp>
      <p:sp>
        <p:nvSpPr>
          <p:cNvPr id="21" name="Shape 19"/>
          <p:cNvSpPr/>
          <p:nvPr/>
        </p:nvSpPr>
        <p:spPr>
          <a:xfrm>
            <a:off x="6236208" y="3675888"/>
            <a:ext cx="73152" cy="1536192"/>
          </a:xfrm>
          <a:prstGeom prst="rect">
            <a:avLst/>
          </a:prstGeom>
          <a:solidFill>
            <a:srgbClr val="163454"/>
          </a:solidFill>
          <a:ln w="12700">
            <a:solidFill>
              <a:srgbClr val="163454"/>
            </a:solidFill>
            <a:prstDash val="solid"/>
          </a:ln>
        </p:spPr>
      </p:sp>
      <p:sp>
        <p:nvSpPr>
          <p:cNvPr id="22" name="Text 20"/>
          <p:cNvSpPr txBox="1"/>
          <p:nvPr/>
        </p:nvSpPr>
        <p:spPr>
          <a:xfrm>
            <a:off x="6483096" y="3858768"/>
            <a:ext cx="4818888" cy="201168"/>
          </a:xfrm>
          <a:prstGeom prst="rect">
            <a:avLst/>
          </a:prstGeom>
          <a:noFill/>
          <a:ln/>
        </p:spPr>
        <p:txBody>
          <a:bodyPr wrap="square" lIns="0" tIns="0" rIns="0" bIns="0" rtlCol="0" anchor="ctr">
            <a:normAutofit/>
          </a:bodyPr>
          <a:lstStyle/>
          <a:p>
            <a:pPr algn="l" indent="0" marL="0">
              <a:buNone/>
            </a:pPr>
            <a:r>
              <a:rPr lang="en-US" sz="880" b="1" spc="70" kern="0" dirty="0">
                <a:solidFill>
                  <a:srgbClr val="163454"/>
                </a:solidFill>
                <a:latin typeface="Aptos" pitchFamily="34" charset="0"/>
                <a:ea typeface="Aptos" pitchFamily="34" charset="-122"/>
                <a:cs typeface="Aptos" pitchFamily="34" charset="-120"/>
              </a:rPr>
              <a:t>LEARNING</a:t>
            </a:r>
            <a:endParaRPr lang="en-US" sz="880" dirty="0"/>
          </a:p>
        </p:txBody>
      </p:sp>
      <p:sp>
        <p:nvSpPr>
          <p:cNvPr id="23" name="Text 21"/>
          <p:cNvSpPr txBox="1"/>
          <p:nvPr/>
        </p:nvSpPr>
        <p:spPr>
          <a:xfrm>
            <a:off x="6483096" y="4142232"/>
            <a:ext cx="4800600"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Weak feedback loop</a:t>
            </a:r>
            <a:endParaRPr lang="en-US" sz="1650" dirty="0"/>
          </a:p>
        </p:txBody>
      </p:sp>
      <p:sp>
        <p:nvSpPr>
          <p:cNvPr id="24" name="Text 22"/>
          <p:cNvSpPr txBox="1"/>
          <p:nvPr/>
        </p:nvSpPr>
        <p:spPr>
          <a:xfrm>
            <a:off x="6483096" y="4553712"/>
            <a:ext cx="4800600" cy="493776"/>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Usage counts show activity, but not usefulness, friction or operating outcomes.</a:t>
            </a:r>
            <a:endParaRPr lang="en-US" sz="1180" dirty="0"/>
          </a:p>
        </p:txBody>
      </p:sp>
      <p:sp>
        <p:nvSpPr>
          <p:cNvPr id="25" name="Shape 23"/>
          <p:cNvSpPr/>
          <p:nvPr/>
        </p:nvSpPr>
        <p:spPr>
          <a:xfrm>
            <a:off x="640080" y="5715000"/>
            <a:ext cx="10991088" cy="502920"/>
          </a:xfrm>
          <a:prstGeom prst="roundRect">
            <a:avLst>
              <a:gd name="adj" fmla="val 14545"/>
            </a:avLst>
          </a:prstGeom>
          <a:solidFill>
            <a:srgbClr val="163454"/>
          </a:solidFill>
          <a:ln w="10160">
            <a:solidFill>
              <a:srgbClr val="163454"/>
            </a:solidFill>
            <a:prstDash val="solid"/>
          </a:ln>
        </p:spPr>
      </p:sp>
      <p:sp>
        <p:nvSpPr>
          <p:cNvPr id="26" name="Text 24"/>
          <p:cNvSpPr txBox="1"/>
          <p:nvPr/>
        </p:nvSpPr>
        <p:spPr>
          <a:xfrm>
            <a:off x="941832" y="5824728"/>
            <a:ext cx="10378440" cy="246888"/>
          </a:xfrm>
          <a:prstGeom prst="rect">
            <a:avLst/>
          </a:prstGeom>
          <a:noFill/>
          <a:ln/>
        </p:spPr>
        <p:txBody>
          <a:bodyPr wrap="square" lIns="0" tIns="0" rIns="0" bIns="0" rtlCol="0" anchor="ctr">
            <a:normAutofit/>
          </a:bodyPr>
          <a:lstStyle/>
          <a:p>
            <a:pPr algn="ctr" indent="0" marL="0">
              <a:buNone/>
            </a:pPr>
            <a:r>
              <a:rPr lang="en-US" sz="1420" b="1" dirty="0">
                <a:solidFill>
                  <a:srgbClr val="FFFFFF"/>
                </a:solidFill>
                <a:latin typeface="Aptos" pitchFamily="34" charset="0"/>
                <a:ea typeface="Aptos" pitchFamily="34" charset="-122"/>
                <a:cs typeface="Aptos" pitchFamily="34" charset="-120"/>
              </a:rPr>
              <a:t>The opportunity: create one governed interaction contract from approved project context to reviewed work.</a:t>
            </a:r>
            <a:endParaRPr lang="en-US" sz="1420" dirty="0"/>
          </a:p>
        </p:txBody>
      </p:sp>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03504" y="310896"/>
            <a:ext cx="5120640" cy="219456"/>
          </a:xfrm>
          <a:prstGeom prst="rect">
            <a:avLst/>
          </a:prstGeom>
          <a:noFill/>
          <a:ln/>
        </p:spPr>
        <p:txBody>
          <a:bodyPr wrap="square" lIns="0" tIns="0" rIns="0" bIns="0" rtlCol="0" anchor="ctr">
            <a:normAutofit/>
          </a:bodyPr>
          <a:lstStyle/>
          <a:p>
            <a:pPr algn="l" indent="0" marL="0">
              <a:buNone/>
            </a:pPr>
            <a:r>
              <a:rPr lang="en-US" sz="950" b="1" spc="120" kern="0" dirty="0">
                <a:solidFill>
                  <a:srgbClr val="007F80"/>
                </a:solidFill>
                <a:latin typeface="Aptos" pitchFamily="34" charset="0"/>
                <a:ea typeface="Aptos" pitchFamily="34" charset="-122"/>
                <a:cs typeface="Aptos" pitchFamily="34" charset="-120"/>
              </a:rPr>
              <a:t>CURRENT LOCAL POC</a:t>
            </a:r>
            <a:endParaRPr lang="en-US" sz="950" dirty="0"/>
          </a:p>
        </p:txBody>
      </p:sp>
      <p:sp>
        <p:nvSpPr>
          <p:cNvPr id="3" name="Text 1"/>
          <p:cNvSpPr txBox="1"/>
          <p:nvPr/>
        </p:nvSpPr>
        <p:spPr>
          <a:xfrm>
            <a:off x="603504" y="603504"/>
            <a:ext cx="10972800" cy="548640"/>
          </a:xfrm>
          <a:prstGeom prst="rect">
            <a:avLst/>
          </a:prstGeom>
          <a:noFill/>
          <a:ln/>
        </p:spPr>
        <p:txBody>
          <a:bodyPr wrap="square" lIns="0" tIns="0" rIns="0" bIns="0" rtlCol="0" anchor="ctr">
            <a:normAutofit/>
          </a:bodyPr>
          <a:lstStyle/>
          <a:p>
            <a:pPr algn="l" indent="0" marL="0">
              <a:buNone/>
            </a:pPr>
            <a:r>
              <a:rPr lang="en-US" sz="2750" b="1" dirty="0">
                <a:solidFill>
                  <a:srgbClr val="172033"/>
                </a:solidFill>
                <a:latin typeface="Aptos" pitchFamily="34" charset="0"/>
                <a:ea typeface="Aptos" pitchFamily="34" charset="-122"/>
                <a:cs typeface="Aptos" pitchFamily="34" charset="-120"/>
              </a:rPr>
              <a:t>A repeatable structure for AI-assisted work</a:t>
            </a:r>
            <a:endParaRPr lang="en-US" sz="2750" dirty="0"/>
          </a:p>
        </p:txBody>
      </p:sp>
      <p:sp>
        <p:nvSpPr>
          <p:cNvPr id="4" name="Text 2"/>
          <p:cNvSpPr txBox="1"/>
          <p:nvPr/>
        </p:nvSpPr>
        <p:spPr>
          <a:xfrm>
            <a:off x="603504" y="1170432"/>
            <a:ext cx="10927080" cy="365760"/>
          </a:xfrm>
          <a:prstGeom prst="rect">
            <a:avLst/>
          </a:prstGeom>
          <a:noFill/>
          <a:ln/>
        </p:spPr>
        <p:txBody>
          <a:bodyPr wrap="square" lIns="0" tIns="0" rIns="0" bIns="0" rtlCol="0" anchor="ctr">
            <a:normAutofit/>
          </a:bodyPr>
          <a:lstStyle/>
          <a:p>
            <a:pPr algn="l" indent="0" marL="0">
              <a:buNone/>
            </a:pPr>
            <a:r>
              <a:rPr lang="en-US" sz="1350" dirty="0">
                <a:solidFill>
                  <a:srgbClr val="667085"/>
                </a:solidFill>
                <a:latin typeface="Aptos" pitchFamily="34" charset="0"/>
                <a:ea typeface="Aptos" pitchFamily="34" charset="-122"/>
                <a:cs typeface="Aptos" pitchFamily="34" charset="-120"/>
              </a:rPr>
              <a:t>DWI brings approved project knowledge, task intent and human review into one consistent path.</a:t>
            </a:r>
            <a:endParaRPr lang="en-US" sz="1350" dirty="0"/>
          </a:p>
        </p:txBody>
      </p:sp>
      <p:sp>
        <p:nvSpPr>
          <p:cNvPr id="5" name="Shape 3"/>
          <p:cNvSpPr/>
          <p:nvPr/>
        </p:nvSpPr>
        <p:spPr>
          <a:xfrm>
            <a:off x="9464040" y="320040"/>
            <a:ext cx="1920240" cy="292608"/>
          </a:xfrm>
          <a:prstGeom prst="roundRect">
            <a:avLst>
              <a:gd name="adj" fmla="val 50000"/>
            </a:avLst>
          </a:prstGeom>
          <a:solidFill>
            <a:srgbClr val="E9F5EF"/>
          </a:solidFill>
          <a:ln w="12700">
            <a:solidFill>
              <a:srgbClr val="E9F5EF"/>
            </a:solidFill>
            <a:prstDash val="solid"/>
          </a:ln>
        </p:spPr>
      </p:sp>
      <p:sp>
        <p:nvSpPr>
          <p:cNvPr id="6" name="Text 4"/>
          <p:cNvSpPr txBox="1"/>
          <p:nvPr/>
        </p:nvSpPr>
        <p:spPr>
          <a:xfrm>
            <a:off x="9528048" y="338328"/>
            <a:ext cx="1792224"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2D8A65"/>
                </a:solidFill>
                <a:latin typeface="Aptos" pitchFamily="34" charset="0"/>
                <a:ea typeface="Aptos" pitchFamily="34" charset="-122"/>
                <a:cs typeface="Aptos" pitchFamily="34" charset="-120"/>
              </a:rPr>
              <a:t>IMPLEMENTED LOCALLY</a:t>
            </a:r>
            <a:endParaRPr lang="en-US" sz="920" dirty="0"/>
          </a:p>
        </p:txBody>
      </p:sp>
      <p:sp>
        <p:nvSpPr>
          <p:cNvPr id="7" name="Shape 5"/>
          <p:cNvSpPr/>
          <p:nvPr/>
        </p:nvSpPr>
        <p:spPr>
          <a:xfrm>
            <a:off x="612648" y="1874520"/>
            <a:ext cx="2560320" cy="3108960"/>
          </a:xfrm>
          <a:prstGeom prst="roundRect">
            <a:avLst>
              <a:gd name="adj" fmla="val 2857"/>
            </a:avLst>
          </a:prstGeom>
          <a:solidFill>
            <a:srgbClr val="FFFFFF"/>
          </a:solidFill>
          <a:ln w="10160">
            <a:solidFill>
              <a:srgbClr val="D8DEE7"/>
            </a:solidFill>
            <a:prstDash val="solid"/>
          </a:ln>
        </p:spPr>
      </p:sp>
      <p:sp>
        <p:nvSpPr>
          <p:cNvPr id="8" name="Shape 6"/>
          <p:cNvSpPr/>
          <p:nvPr/>
        </p:nvSpPr>
        <p:spPr>
          <a:xfrm>
            <a:off x="841248" y="2121408"/>
            <a:ext cx="530352" cy="292608"/>
          </a:xfrm>
          <a:prstGeom prst="roundRect">
            <a:avLst>
              <a:gd name="adj" fmla="val 50000"/>
            </a:avLst>
          </a:prstGeom>
          <a:solidFill>
            <a:srgbClr val="E8F6F5"/>
          </a:solidFill>
          <a:ln w="12700">
            <a:solidFill>
              <a:srgbClr val="E8F6F5"/>
            </a:solidFill>
            <a:prstDash val="solid"/>
          </a:ln>
        </p:spPr>
      </p:sp>
      <p:sp>
        <p:nvSpPr>
          <p:cNvPr id="9" name="Text 7"/>
          <p:cNvSpPr txBox="1"/>
          <p:nvPr/>
        </p:nvSpPr>
        <p:spPr>
          <a:xfrm>
            <a:off x="905256" y="2139696"/>
            <a:ext cx="402336"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007F80"/>
                </a:solidFill>
                <a:latin typeface="Aptos" pitchFamily="34" charset="0"/>
                <a:ea typeface="Aptos" pitchFamily="34" charset="-122"/>
                <a:cs typeface="Aptos" pitchFamily="34" charset="-120"/>
              </a:rPr>
              <a:t>01</a:t>
            </a:r>
            <a:endParaRPr lang="en-US" sz="920" dirty="0"/>
          </a:p>
        </p:txBody>
      </p:sp>
      <p:sp>
        <p:nvSpPr>
          <p:cNvPr id="10" name="Text 8"/>
          <p:cNvSpPr txBox="1"/>
          <p:nvPr/>
        </p:nvSpPr>
        <p:spPr>
          <a:xfrm>
            <a:off x="841248" y="2761488"/>
            <a:ext cx="2103120" cy="384048"/>
          </a:xfrm>
          <a:prstGeom prst="rect">
            <a:avLst/>
          </a:prstGeom>
          <a:noFill/>
          <a:ln/>
        </p:spPr>
        <p:txBody>
          <a:bodyPr wrap="square" lIns="0" tIns="0" rIns="0" bIns="0" rtlCol="0" anchor="ctr">
            <a:normAutofit/>
          </a:bodyPr>
          <a:lstStyle/>
          <a:p>
            <a:pPr algn="l" indent="0" marL="0">
              <a:buNone/>
            </a:pPr>
            <a:r>
              <a:rPr lang="en-US" sz="1950" b="1" dirty="0">
                <a:solidFill>
                  <a:srgbClr val="172033"/>
                </a:solidFill>
                <a:latin typeface="Aptos" pitchFamily="34" charset="0"/>
                <a:ea typeface="Aptos" pitchFamily="34" charset="-122"/>
                <a:cs typeface="Aptos" pitchFamily="34" charset="-120"/>
              </a:rPr>
              <a:t>Bring together</a:t>
            </a:r>
            <a:endParaRPr lang="en-US" sz="1950" dirty="0"/>
          </a:p>
        </p:txBody>
      </p:sp>
      <p:sp>
        <p:nvSpPr>
          <p:cNvPr id="11" name="Text 9"/>
          <p:cNvSpPr txBox="1"/>
          <p:nvPr/>
        </p:nvSpPr>
        <p:spPr>
          <a:xfrm>
            <a:off x="841248" y="3310128"/>
            <a:ext cx="2103120" cy="1005840"/>
          </a:xfrm>
          <a:prstGeom prst="rect">
            <a:avLst/>
          </a:prstGeom>
          <a:noFill/>
          <a:ln/>
        </p:spPr>
        <p:txBody>
          <a:bodyPr wrap="square" lIns="0" tIns="0" rIns="0" bIns="0" rtlCol="0" anchor="t">
            <a:normAutofit/>
          </a:bodyPr>
          <a:lstStyle/>
          <a:p>
            <a:pPr algn="l" indent="0" marL="0">
              <a:buNone/>
            </a:pPr>
            <a:r>
              <a:rPr lang="en-US" sz="1270" dirty="0">
                <a:solidFill>
                  <a:srgbClr val="667085"/>
                </a:solidFill>
                <a:latin typeface="Aptos" pitchFamily="34" charset="0"/>
                <a:ea typeface="Aptos" pitchFamily="34" charset="-122"/>
                <a:cs typeface="Aptos" pitchFamily="34" charset="-120"/>
              </a:rPr>
              <a:t>Reuse approved, consent-based project knowledge.</a:t>
            </a:r>
            <a:endParaRPr lang="en-US" sz="1270" dirty="0"/>
          </a:p>
        </p:txBody>
      </p:sp>
      <p:sp>
        <p:nvSpPr>
          <p:cNvPr id="12" name="Shape 10"/>
          <p:cNvSpPr/>
          <p:nvPr/>
        </p:nvSpPr>
        <p:spPr>
          <a:xfrm>
            <a:off x="3429000" y="1874520"/>
            <a:ext cx="2560320" cy="3108960"/>
          </a:xfrm>
          <a:prstGeom prst="roundRect">
            <a:avLst>
              <a:gd name="adj" fmla="val 2857"/>
            </a:avLst>
          </a:prstGeom>
          <a:solidFill>
            <a:srgbClr val="FFFFFF"/>
          </a:solidFill>
          <a:ln w="10160">
            <a:solidFill>
              <a:srgbClr val="D8DEE7"/>
            </a:solidFill>
            <a:prstDash val="solid"/>
          </a:ln>
        </p:spPr>
      </p:sp>
      <p:sp>
        <p:nvSpPr>
          <p:cNvPr id="13" name="Shape 11"/>
          <p:cNvSpPr/>
          <p:nvPr/>
        </p:nvSpPr>
        <p:spPr>
          <a:xfrm>
            <a:off x="3657600" y="2121408"/>
            <a:ext cx="530352" cy="292608"/>
          </a:xfrm>
          <a:prstGeom prst="roundRect">
            <a:avLst>
              <a:gd name="adj" fmla="val 50000"/>
            </a:avLst>
          </a:prstGeom>
          <a:solidFill>
            <a:srgbClr val="E8F6F5"/>
          </a:solidFill>
          <a:ln w="12700">
            <a:solidFill>
              <a:srgbClr val="E8F6F5"/>
            </a:solidFill>
            <a:prstDash val="solid"/>
          </a:ln>
        </p:spPr>
      </p:sp>
      <p:sp>
        <p:nvSpPr>
          <p:cNvPr id="14" name="Text 12"/>
          <p:cNvSpPr txBox="1"/>
          <p:nvPr/>
        </p:nvSpPr>
        <p:spPr>
          <a:xfrm>
            <a:off x="3721608" y="2139696"/>
            <a:ext cx="402336"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007F80"/>
                </a:solidFill>
                <a:latin typeface="Aptos" pitchFamily="34" charset="0"/>
                <a:ea typeface="Aptos" pitchFamily="34" charset="-122"/>
                <a:cs typeface="Aptos" pitchFamily="34" charset="-120"/>
              </a:rPr>
              <a:t>02</a:t>
            </a:r>
            <a:endParaRPr lang="en-US" sz="920" dirty="0"/>
          </a:p>
        </p:txBody>
      </p:sp>
      <p:sp>
        <p:nvSpPr>
          <p:cNvPr id="15" name="Text 13"/>
          <p:cNvSpPr txBox="1"/>
          <p:nvPr/>
        </p:nvSpPr>
        <p:spPr>
          <a:xfrm>
            <a:off x="3657600" y="2761488"/>
            <a:ext cx="2103120" cy="384048"/>
          </a:xfrm>
          <a:prstGeom prst="rect">
            <a:avLst/>
          </a:prstGeom>
          <a:noFill/>
          <a:ln/>
        </p:spPr>
        <p:txBody>
          <a:bodyPr wrap="square" lIns="0" tIns="0" rIns="0" bIns="0" rtlCol="0" anchor="ctr">
            <a:normAutofit/>
          </a:bodyPr>
          <a:lstStyle/>
          <a:p>
            <a:pPr algn="l" indent="0" marL="0">
              <a:buNone/>
            </a:pPr>
            <a:r>
              <a:rPr lang="en-US" sz="1950" b="1" dirty="0">
                <a:solidFill>
                  <a:srgbClr val="172033"/>
                </a:solidFill>
                <a:latin typeface="Aptos" pitchFamily="34" charset="0"/>
                <a:ea typeface="Aptos" pitchFamily="34" charset="-122"/>
                <a:cs typeface="Aptos" pitchFamily="34" charset="-120"/>
              </a:rPr>
              <a:t>Structure</a:t>
            </a:r>
            <a:endParaRPr lang="en-US" sz="1950" dirty="0"/>
          </a:p>
        </p:txBody>
      </p:sp>
      <p:sp>
        <p:nvSpPr>
          <p:cNvPr id="16" name="Text 14"/>
          <p:cNvSpPr txBox="1"/>
          <p:nvPr/>
        </p:nvSpPr>
        <p:spPr>
          <a:xfrm>
            <a:off x="3657600" y="3310128"/>
            <a:ext cx="2103120" cy="1005840"/>
          </a:xfrm>
          <a:prstGeom prst="rect">
            <a:avLst/>
          </a:prstGeom>
          <a:noFill/>
          <a:ln/>
        </p:spPr>
        <p:txBody>
          <a:bodyPr wrap="square" lIns="0" tIns="0" rIns="0" bIns="0" rtlCol="0" anchor="t">
            <a:normAutofit/>
          </a:bodyPr>
          <a:lstStyle/>
          <a:p>
            <a:pPr algn="l" indent="0" marL="0">
              <a:buNone/>
            </a:pPr>
            <a:r>
              <a:rPr lang="en-US" sz="1270" dirty="0">
                <a:solidFill>
                  <a:srgbClr val="667085"/>
                </a:solidFill>
                <a:latin typeface="Aptos" pitchFamily="34" charset="0"/>
                <a:ea typeface="Aptos" pitchFamily="34" charset="-122"/>
                <a:cs typeface="Aptos" pitchFamily="34" charset="-120"/>
              </a:rPr>
              <a:t>Capture the task, assignment and criticality consistently.</a:t>
            </a:r>
            <a:endParaRPr lang="en-US" sz="1270" dirty="0"/>
          </a:p>
        </p:txBody>
      </p:sp>
      <p:sp>
        <p:nvSpPr>
          <p:cNvPr id="17" name="Shape 15"/>
          <p:cNvSpPr/>
          <p:nvPr/>
        </p:nvSpPr>
        <p:spPr>
          <a:xfrm>
            <a:off x="6245352" y="1874520"/>
            <a:ext cx="2560320" cy="3108960"/>
          </a:xfrm>
          <a:prstGeom prst="roundRect">
            <a:avLst>
              <a:gd name="adj" fmla="val 2857"/>
            </a:avLst>
          </a:prstGeom>
          <a:solidFill>
            <a:srgbClr val="FFF3DE"/>
          </a:solidFill>
          <a:ln w="10160">
            <a:solidFill>
              <a:srgbClr val="F0D39D"/>
            </a:solidFill>
            <a:prstDash val="solid"/>
          </a:ln>
        </p:spPr>
      </p:sp>
      <p:sp>
        <p:nvSpPr>
          <p:cNvPr id="18" name="Shape 16"/>
          <p:cNvSpPr/>
          <p:nvPr/>
        </p:nvSpPr>
        <p:spPr>
          <a:xfrm>
            <a:off x="6473952" y="2121408"/>
            <a:ext cx="530352" cy="292608"/>
          </a:xfrm>
          <a:prstGeom prst="roundRect">
            <a:avLst>
              <a:gd name="adj" fmla="val 50000"/>
            </a:avLst>
          </a:prstGeom>
          <a:solidFill>
            <a:srgbClr val="FBE3B8"/>
          </a:solidFill>
          <a:ln w="12700">
            <a:solidFill>
              <a:srgbClr val="FBE3B8"/>
            </a:solidFill>
            <a:prstDash val="solid"/>
          </a:ln>
        </p:spPr>
      </p:sp>
      <p:sp>
        <p:nvSpPr>
          <p:cNvPr id="19" name="Text 17"/>
          <p:cNvSpPr txBox="1"/>
          <p:nvPr/>
        </p:nvSpPr>
        <p:spPr>
          <a:xfrm>
            <a:off x="6537960" y="2139696"/>
            <a:ext cx="402336"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82530D"/>
                </a:solidFill>
                <a:latin typeface="Aptos" pitchFamily="34" charset="0"/>
                <a:ea typeface="Aptos" pitchFamily="34" charset="-122"/>
                <a:cs typeface="Aptos" pitchFamily="34" charset="-120"/>
              </a:rPr>
              <a:t>03</a:t>
            </a:r>
            <a:endParaRPr lang="en-US" sz="920" dirty="0"/>
          </a:p>
        </p:txBody>
      </p:sp>
      <p:sp>
        <p:nvSpPr>
          <p:cNvPr id="20" name="Text 18"/>
          <p:cNvSpPr txBox="1"/>
          <p:nvPr/>
        </p:nvSpPr>
        <p:spPr>
          <a:xfrm>
            <a:off x="6473952" y="2761488"/>
            <a:ext cx="2103120" cy="384048"/>
          </a:xfrm>
          <a:prstGeom prst="rect">
            <a:avLst/>
          </a:prstGeom>
          <a:noFill/>
          <a:ln/>
        </p:spPr>
        <p:txBody>
          <a:bodyPr wrap="square" lIns="0" tIns="0" rIns="0" bIns="0" rtlCol="0" anchor="ctr">
            <a:normAutofit/>
          </a:bodyPr>
          <a:lstStyle/>
          <a:p>
            <a:pPr algn="l" indent="0" marL="0">
              <a:buNone/>
            </a:pPr>
            <a:r>
              <a:rPr lang="en-US" sz="1950" b="1" dirty="0">
                <a:solidFill>
                  <a:srgbClr val="172033"/>
                </a:solidFill>
                <a:latin typeface="Aptos" pitchFamily="34" charset="0"/>
                <a:ea typeface="Aptos" pitchFamily="34" charset="-122"/>
                <a:cs typeface="Aptos" pitchFamily="34" charset="-120"/>
              </a:rPr>
              <a:t>Resolve</a:t>
            </a:r>
            <a:endParaRPr lang="en-US" sz="1950" dirty="0"/>
          </a:p>
        </p:txBody>
      </p:sp>
      <p:sp>
        <p:nvSpPr>
          <p:cNvPr id="21" name="Text 19"/>
          <p:cNvSpPr txBox="1"/>
          <p:nvPr/>
        </p:nvSpPr>
        <p:spPr>
          <a:xfrm>
            <a:off x="6473952" y="3310128"/>
            <a:ext cx="2103120" cy="1005840"/>
          </a:xfrm>
          <a:prstGeom prst="rect">
            <a:avLst/>
          </a:prstGeom>
          <a:noFill/>
          <a:ln/>
        </p:spPr>
        <p:txBody>
          <a:bodyPr wrap="square" lIns="0" tIns="0" rIns="0" bIns="0" rtlCol="0" anchor="t">
            <a:normAutofit/>
          </a:bodyPr>
          <a:lstStyle/>
          <a:p>
            <a:pPr algn="l" indent="0" marL="0">
              <a:buNone/>
            </a:pPr>
            <a:r>
              <a:rPr lang="en-US" sz="1270" dirty="0">
                <a:solidFill>
                  <a:srgbClr val="667085"/>
                </a:solidFill>
                <a:latin typeface="Aptos" pitchFamily="34" charset="0"/>
                <a:ea typeface="Aptos" pitchFamily="34" charset="-122"/>
                <a:cs typeface="Aptos" pitchFamily="34" charset="-120"/>
              </a:rPr>
              <a:t>Expose sources, assumptions and material gaps instead of guessing.</a:t>
            </a:r>
            <a:endParaRPr lang="en-US" sz="1270" dirty="0"/>
          </a:p>
        </p:txBody>
      </p:sp>
      <p:sp>
        <p:nvSpPr>
          <p:cNvPr id="22" name="Shape 20"/>
          <p:cNvSpPr/>
          <p:nvPr/>
        </p:nvSpPr>
        <p:spPr>
          <a:xfrm>
            <a:off x="9061704" y="1874520"/>
            <a:ext cx="2560320" cy="3108960"/>
          </a:xfrm>
          <a:prstGeom prst="roundRect">
            <a:avLst>
              <a:gd name="adj" fmla="val 2857"/>
            </a:avLst>
          </a:prstGeom>
          <a:solidFill>
            <a:srgbClr val="FFFFFF"/>
          </a:solidFill>
          <a:ln w="10160">
            <a:solidFill>
              <a:srgbClr val="D8DEE7"/>
            </a:solidFill>
            <a:prstDash val="solid"/>
          </a:ln>
        </p:spPr>
      </p:sp>
      <p:sp>
        <p:nvSpPr>
          <p:cNvPr id="23" name="Shape 21"/>
          <p:cNvSpPr/>
          <p:nvPr/>
        </p:nvSpPr>
        <p:spPr>
          <a:xfrm>
            <a:off x="9290304" y="2121408"/>
            <a:ext cx="530352" cy="292608"/>
          </a:xfrm>
          <a:prstGeom prst="roundRect">
            <a:avLst>
              <a:gd name="adj" fmla="val 50000"/>
            </a:avLst>
          </a:prstGeom>
          <a:solidFill>
            <a:srgbClr val="E8F6F5"/>
          </a:solidFill>
          <a:ln w="12700">
            <a:solidFill>
              <a:srgbClr val="E8F6F5"/>
            </a:solidFill>
            <a:prstDash val="solid"/>
          </a:ln>
        </p:spPr>
      </p:sp>
      <p:sp>
        <p:nvSpPr>
          <p:cNvPr id="24" name="Text 22"/>
          <p:cNvSpPr txBox="1"/>
          <p:nvPr/>
        </p:nvSpPr>
        <p:spPr>
          <a:xfrm>
            <a:off x="9354312" y="2139696"/>
            <a:ext cx="402336"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007F80"/>
                </a:solidFill>
                <a:latin typeface="Aptos" pitchFamily="34" charset="0"/>
                <a:ea typeface="Aptos" pitchFamily="34" charset="-122"/>
                <a:cs typeface="Aptos" pitchFamily="34" charset="-120"/>
              </a:rPr>
              <a:t>04</a:t>
            </a:r>
            <a:endParaRPr lang="en-US" sz="920" dirty="0"/>
          </a:p>
        </p:txBody>
      </p:sp>
      <p:sp>
        <p:nvSpPr>
          <p:cNvPr id="25" name="Text 23"/>
          <p:cNvSpPr txBox="1"/>
          <p:nvPr/>
        </p:nvSpPr>
        <p:spPr>
          <a:xfrm>
            <a:off x="9290304" y="2761488"/>
            <a:ext cx="2103120" cy="384048"/>
          </a:xfrm>
          <a:prstGeom prst="rect">
            <a:avLst/>
          </a:prstGeom>
          <a:noFill/>
          <a:ln/>
        </p:spPr>
        <p:txBody>
          <a:bodyPr wrap="square" lIns="0" tIns="0" rIns="0" bIns="0" rtlCol="0" anchor="ctr">
            <a:normAutofit/>
          </a:bodyPr>
          <a:lstStyle/>
          <a:p>
            <a:pPr algn="l" indent="0" marL="0">
              <a:buNone/>
            </a:pPr>
            <a:r>
              <a:rPr lang="en-US" sz="1950" b="1" dirty="0">
                <a:solidFill>
                  <a:srgbClr val="172033"/>
                </a:solidFill>
                <a:latin typeface="Aptos" pitchFamily="34" charset="0"/>
                <a:ea typeface="Aptos" pitchFamily="34" charset="-122"/>
                <a:cs typeface="Aptos" pitchFamily="34" charset="-120"/>
              </a:rPr>
              <a:t>Review</a:t>
            </a:r>
            <a:endParaRPr lang="en-US" sz="1950" dirty="0"/>
          </a:p>
        </p:txBody>
      </p:sp>
      <p:sp>
        <p:nvSpPr>
          <p:cNvPr id="26" name="Text 24"/>
          <p:cNvSpPr txBox="1"/>
          <p:nvPr/>
        </p:nvSpPr>
        <p:spPr>
          <a:xfrm>
            <a:off x="9290304" y="3310128"/>
            <a:ext cx="2103120" cy="1005840"/>
          </a:xfrm>
          <a:prstGeom prst="rect">
            <a:avLst/>
          </a:prstGeom>
          <a:noFill/>
          <a:ln/>
        </p:spPr>
        <p:txBody>
          <a:bodyPr wrap="square" lIns="0" tIns="0" rIns="0" bIns="0" rtlCol="0" anchor="t">
            <a:normAutofit/>
          </a:bodyPr>
          <a:lstStyle/>
          <a:p>
            <a:pPr algn="l" indent="0" marL="0">
              <a:buNone/>
            </a:pPr>
            <a:r>
              <a:rPr lang="en-US" sz="1270" dirty="0">
                <a:solidFill>
                  <a:srgbClr val="667085"/>
                </a:solidFill>
                <a:latin typeface="Aptos" pitchFamily="34" charset="0"/>
                <a:ea typeface="Aptos" pitchFamily="34" charset="-122"/>
                <a:cs typeface="Aptos" pitchFamily="34" charset="-120"/>
              </a:rPr>
              <a:t>Present a clear local result for developer approval and reuse.</a:t>
            </a:r>
            <a:endParaRPr lang="en-US" sz="1270" dirty="0"/>
          </a:p>
        </p:txBody>
      </p:sp>
      <p:sp>
        <p:nvSpPr>
          <p:cNvPr id="27" name="Shape 25"/>
          <p:cNvSpPr/>
          <p:nvPr/>
        </p:nvSpPr>
        <p:spPr>
          <a:xfrm>
            <a:off x="804672" y="5321808"/>
            <a:ext cx="10588752" cy="658368"/>
          </a:xfrm>
          <a:prstGeom prst="roundRect">
            <a:avLst>
              <a:gd name="adj" fmla="val 11111"/>
            </a:avLst>
          </a:prstGeom>
          <a:solidFill>
            <a:srgbClr val="EDF3F8"/>
          </a:solidFill>
          <a:ln w="10160">
            <a:solidFill>
              <a:srgbClr val="CBD9E6"/>
            </a:solidFill>
            <a:prstDash val="solid"/>
          </a:ln>
        </p:spPr>
      </p:sp>
      <p:sp>
        <p:nvSpPr>
          <p:cNvPr id="28" name="Text 26"/>
          <p:cNvSpPr txBox="1"/>
          <p:nvPr/>
        </p:nvSpPr>
        <p:spPr>
          <a:xfrm>
            <a:off x="1078992" y="5468112"/>
            <a:ext cx="1143000" cy="256032"/>
          </a:xfrm>
          <a:prstGeom prst="rect">
            <a:avLst/>
          </a:prstGeom>
          <a:noFill/>
          <a:ln/>
        </p:spPr>
        <p:txBody>
          <a:bodyPr wrap="square" lIns="0" tIns="0" rIns="0" bIns="0" rtlCol="0" anchor="ctr">
            <a:normAutofit/>
          </a:bodyPr>
          <a:lstStyle/>
          <a:p>
            <a:pPr algn="l" indent="0" marL="0">
              <a:buNone/>
            </a:pPr>
            <a:r>
              <a:rPr lang="en-US" sz="1250" b="1" dirty="0">
                <a:solidFill>
                  <a:srgbClr val="163454"/>
                </a:solidFill>
                <a:latin typeface="Aptos" pitchFamily="34" charset="0"/>
                <a:ea typeface="Aptos" pitchFamily="34" charset="-122"/>
                <a:cs typeface="Aptos" pitchFamily="34" charset="-120"/>
              </a:rPr>
              <a:t>Current POC</a:t>
            </a:r>
            <a:endParaRPr lang="en-US" sz="1250" dirty="0"/>
          </a:p>
        </p:txBody>
      </p:sp>
      <p:sp>
        <p:nvSpPr>
          <p:cNvPr id="29" name="Text 27"/>
          <p:cNvSpPr txBox="1"/>
          <p:nvPr/>
        </p:nvSpPr>
        <p:spPr>
          <a:xfrm>
            <a:off x="2286000" y="5468112"/>
            <a:ext cx="2834640" cy="256032"/>
          </a:xfrm>
          <a:prstGeom prst="rect">
            <a:avLst/>
          </a:prstGeom>
          <a:noFill/>
          <a:ln/>
        </p:spPr>
        <p:txBody>
          <a:bodyPr wrap="square" lIns="0" tIns="0" rIns="0" bIns="0" rtlCol="0" anchor="ctr">
            <a:normAutofit/>
          </a:bodyPr>
          <a:lstStyle/>
          <a:p>
            <a:pPr algn="l" indent="0" marL="0">
              <a:buNone/>
            </a:pPr>
            <a:r>
              <a:rPr lang="en-US" sz="1250" dirty="0">
                <a:solidFill>
                  <a:srgbClr val="163454"/>
                </a:solidFill>
                <a:latin typeface="Aptos" pitchFamily="34" charset="0"/>
                <a:ea typeface="Aptos" pitchFamily="34" charset="-122"/>
                <a:cs typeface="Aptos" pitchFamily="34" charset="-120"/>
              </a:rPr>
              <a:t>Structured context-to-review flow.</a:t>
            </a:r>
            <a:endParaRPr lang="en-US" sz="1250" dirty="0"/>
          </a:p>
        </p:txBody>
      </p:sp>
      <p:sp>
        <p:nvSpPr>
          <p:cNvPr id="30" name="Text 28"/>
          <p:cNvSpPr txBox="1"/>
          <p:nvPr/>
        </p:nvSpPr>
        <p:spPr>
          <a:xfrm>
            <a:off x="5532120" y="5468112"/>
            <a:ext cx="1298448" cy="256032"/>
          </a:xfrm>
          <a:prstGeom prst="rect">
            <a:avLst/>
          </a:prstGeom>
          <a:noFill/>
          <a:ln/>
        </p:spPr>
        <p:txBody>
          <a:bodyPr wrap="square" lIns="0" tIns="0" rIns="0" bIns="0" rtlCol="0" anchor="ctr">
            <a:normAutofit/>
          </a:bodyPr>
          <a:lstStyle/>
          <a:p>
            <a:pPr algn="l" indent="0" marL="0">
              <a:buNone/>
            </a:pPr>
            <a:r>
              <a:rPr lang="en-US" sz="1250" b="1" dirty="0">
                <a:solidFill>
                  <a:srgbClr val="D9952A"/>
                </a:solidFill>
                <a:latin typeface="Aptos" pitchFamily="34" charset="0"/>
                <a:ea typeface="Aptos" pitchFamily="34" charset="-122"/>
                <a:cs typeface="Aptos" pitchFamily="34" charset="-120"/>
              </a:rPr>
              <a:t>Target extension</a:t>
            </a:r>
            <a:endParaRPr lang="en-US" sz="1250" dirty="0"/>
          </a:p>
        </p:txBody>
      </p:sp>
      <p:sp>
        <p:nvSpPr>
          <p:cNvPr id="31" name="Text 29"/>
          <p:cNvSpPr txBox="1"/>
          <p:nvPr/>
        </p:nvSpPr>
        <p:spPr>
          <a:xfrm>
            <a:off x="6903720" y="5468112"/>
            <a:ext cx="4096512" cy="256032"/>
          </a:xfrm>
          <a:prstGeom prst="rect">
            <a:avLst/>
          </a:prstGeom>
          <a:noFill/>
          <a:ln/>
        </p:spPr>
        <p:txBody>
          <a:bodyPr wrap="square" lIns="0" tIns="0" rIns="0" bIns="0" rtlCol="0" anchor="ctr">
            <a:normAutofit/>
          </a:bodyPr>
          <a:lstStyle/>
          <a:p>
            <a:pPr algn="l" indent="0" marL="0">
              <a:buNone/>
            </a:pPr>
            <a:r>
              <a:rPr lang="en-US" sz="1250" dirty="0">
                <a:solidFill>
                  <a:srgbClr val="163454"/>
                </a:solidFill>
                <a:latin typeface="Aptos" pitchFamily="34" charset="0"/>
                <a:ea typeface="Aptos" pitchFamily="34" charset="-122"/>
                <a:cs typeface="Aptos" pitchFamily="34" charset="-120"/>
              </a:rPr>
              <a:t>Answer and apply one focused clarification safely.</a:t>
            </a:r>
            <a:endParaRPr lang="en-US" sz="1250" dirty="0"/>
          </a:p>
        </p:txBody>
      </p:sp>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03504" y="310896"/>
            <a:ext cx="5120640" cy="219456"/>
          </a:xfrm>
          <a:prstGeom prst="rect">
            <a:avLst/>
          </a:prstGeom>
          <a:noFill/>
          <a:ln/>
        </p:spPr>
        <p:txBody>
          <a:bodyPr wrap="square" lIns="0" tIns="0" rIns="0" bIns="0" rtlCol="0" anchor="ctr">
            <a:normAutofit/>
          </a:bodyPr>
          <a:lstStyle/>
          <a:p>
            <a:pPr algn="l" indent="0" marL="0">
              <a:buNone/>
            </a:pPr>
            <a:r>
              <a:rPr lang="en-US" sz="950" b="1" spc="120" kern="0" dirty="0">
                <a:solidFill>
                  <a:srgbClr val="007F80"/>
                </a:solidFill>
                <a:latin typeface="Aptos" pitchFamily="34" charset="0"/>
                <a:ea typeface="Aptos" pitchFamily="34" charset="-122"/>
                <a:cs typeface="Aptos" pitchFamily="34" charset="-120"/>
              </a:rPr>
              <a:t>A CONCRETE EXAMPLE</a:t>
            </a:r>
            <a:endParaRPr lang="en-US" sz="950" dirty="0"/>
          </a:p>
        </p:txBody>
      </p:sp>
      <p:sp>
        <p:nvSpPr>
          <p:cNvPr id="3" name="Text 1"/>
          <p:cNvSpPr txBox="1"/>
          <p:nvPr/>
        </p:nvSpPr>
        <p:spPr>
          <a:xfrm>
            <a:off x="603504" y="603504"/>
            <a:ext cx="10972800" cy="548640"/>
          </a:xfrm>
          <a:prstGeom prst="rect">
            <a:avLst/>
          </a:prstGeom>
          <a:noFill/>
          <a:ln/>
        </p:spPr>
        <p:txBody>
          <a:bodyPr wrap="square" lIns="0" tIns="0" rIns="0" bIns="0" rtlCol="0" anchor="ctr">
            <a:normAutofit/>
          </a:bodyPr>
          <a:lstStyle/>
          <a:p>
            <a:pPr algn="l" indent="0" marL="0">
              <a:buNone/>
            </a:pPr>
            <a:r>
              <a:rPr lang="en-US" sz="2750" b="1" dirty="0">
                <a:solidFill>
                  <a:srgbClr val="172033"/>
                </a:solidFill>
                <a:latin typeface="Aptos" pitchFamily="34" charset="0"/>
                <a:ea typeface="Aptos" pitchFamily="34" charset="-122"/>
                <a:cs typeface="Aptos" pitchFamily="34" charset="-120"/>
              </a:rPr>
              <a:t>The same task becomes more useful when project context is present</a:t>
            </a:r>
            <a:endParaRPr lang="en-US" sz="2750" dirty="0"/>
          </a:p>
        </p:txBody>
      </p:sp>
      <p:sp>
        <p:nvSpPr>
          <p:cNvPr id="4" name="Text 2"/>
          <p:cNvSpPr txBox="1"/>
          <p:nvPr/>
        </p:nvSpPr>
        <p:spPr>
          <a:xfrm>
            <a:off x="603504" y="1170432"/>
            <a:ext cx="10927080" cy="365760"/>
          </a:xfrm>
          <a:prstGeom prst="rect">
            <a:avLst/>
          </a:prstGeom>
          <a:noFill/>
          <a:ln/>
        </p:spPr>
        <p:txBody>
          <a:bodyPr wrap="square" lIns="0" tIns="0" rIns="0" bIns="0" rtlCol="0" anchor="ctr">
            <a:normAutofit/>
          </a:bodyPr>
          <a:lstStyle/>
          <a:p>
            <a:pPr algn="l" indent="0" marL="0">
              <a:buNone/>
            </a:pPr>
            <a:r>
              <a:rPr lang="en-US" sz="1350" dirty="0">
                <a:solidFill>
                  <a:srgbClr val="667085"/>
                </a:solidFill>
                <a:latin typeface="Aptos" pitchFamily="34" charset="0"/>
                <a:ea typeface="Aptos" pitchFamily="34" charset="-122"/>
                <a:cs typeface="Aptos" pitchFamily="34" charset="-120"/>
              </a:rPr>
              <a:t>Example: “Prepare a safe migration plan for the customer data service.”</a:t>
            </a:r>
            <a:endParaRPr lang="en-US" sz="1350" dirty="0"/>
          </a:p>
        </p:txBody>
      </p:sp>
      <p:sp>
        <p:nvSpPr>
          <p:cNvPr id="5" name="Shape 3"/>
          <p:cNvSpPr/>
          <p:nvPr/>
        </p:nvSpPr>
        <p:spPr>
          <a:xfrm>
            <a:off x="640080" y="1764792"/>
            <a:ext cx="4736592" cy="4096512"/>
          </a:xfrm>
          <a:prstGeom prst="roundRect">
            <a:avLst>
              <a:gd name="adj" fmla="val 1786"/>
            </a:avLst>
          </a:prstGeom>
          <a:solidFill>
            <a:srgbClr val="FCEDED"/>
          </a:solidFill>
          <a:ln w="10160">
            <a:solidFill>
              <a:srgbClr val="EECBCB"/>
            </a:solidFill>
            <a:prstDash val="solid"/>
          </a:ln>
        </p:spPr>
      </p:sp>
      <p:sp>
        <p:nvSpPr>
          <p:cNvPr id="6" name="Shape 4"/>
          <p:cNvSpPr/>
          <p:nvPr/>
        </p:nvSpPr>
        <p:spPr>
          <a:xfrm>
            <a:off x="923544" y="2029968"/>
            <a:ext cx="1947672" cy="292608"/>
          </a:xfrm>
          <a:prstGeom prst="roundRect">
            <a:avLst>
              <a:gd name="adj" fmla="val 50000"/>
            </a:avLst>
          </a:prstGeom>
          <a:solidFill>
            <a:srgbClr val="F8DCDC"/>
          </a:solidFill>
          <a:ln w="12700">
            <a:solidFill>
              <a:srgbClr val="F8DCDC"/>
            </a:solidFill>
            <a:prstDash val="solid"/>
          </a:ln>
        </p:spPr>
      </p:sp>
      <p:sp>
        <p:nvSpPr>
          <p:cNvPr id="7" name="Text 5"/>
          <p:cNvSpPr txBox="1"/>
          <p:nvPr/>
        </p:nvSpPr>
        <p:spPr>
          <a:xfrm>
            <a:off x="987552" y="2048256"/>
            <a:ext cx="1819656"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B94A48"/>
                </a:solidFill>
                <a:latin typeface="Aptos" pitchFamily="34" charset="0"/>
                <a:ea typeface="Aptos" pitchFamily="34" charset="-122"/>
                <a:cs typeface="Aptos" pitchFamily="34" charset="-120"/>
              </a:rPr>
              <a:t>WITHOUT SHARED CONTEXT</a:t>
            </a:r>
            <a:endParaRPr lang="en-US" sz="920" dirty="0"/>
          </a:p>
        </p:txBody>
      </p:sp>
      <p:sp>
        <p:nvSpPr>
          <p:cNvPr id="8" name="Text 6"/>
          <p:cNvSpPr txBox="1"/>
          <p:nvPr/>
        </p:nvSpPr>
        <p:spPr>
          <a:xfrm>
            <a:off x="923544" y="2596896"/>
            <a:ext cx="3749040" cy="749808"/>
          </a:xfrm>
          <a:prstGeom prst="rect">
            <a:avLst/>
          </a:prstGeom>
          <a:noFill/>
          <a:ln/>
        </p:spPr>
        <p:txBody>
          <a:bodyPr wrap="square" lIns="0" tIns="0" rIns="0" bIns="0" rtlCol="0" anchor="t">
            <a:normAutofit/>
          </a:bodyPr>
          <a:lstStyle/>
          <a:p>
            <a:pPr algn="l" indent="0" marL="0">
              <a:buNone/>
            </a:pPr>
            <a:r>
              <a:rPr lang="en-US" sz="2450" b="1" dirty="0">
                <a:solidFill>
                  <a:srgbClr val="762C2B"/>
                </a:solidFill>
                <a:latin typeface="Aptos" pitchFamily="34" charset="0"/>
                <a:ea typeface="Aptos" pitchFamily="34" charset="-122"/>
                <a:cs typeface="Aptos" pitchFamily="34" charset="-120"/>
              </a:rPr>
              <a:t>A plausible plan—</a:t>
            </a:r>
            <a:endParaRPr lang="en-US" sz="2450" dirty="0"/>
          </a:p>
          <a:p>
            <a:pPr algn="l" indent="0" marL="0">
              <a:buNone/>
            </a:pPr>
            <a:r>
              <a:rPr lang="en-US" sz="2450" b="1" dirty="0">
                <a:solidFill>
                  <a:srgbClr val="762C2B"/>
                </a:solidFill>
                <a:latin typeface="Aptos" pitchFamily="34" charset="0"/>
                <a:ea typeface="Aptos" pitchFamily="34" charset="-122"/>
                <a:cs typeface="Aptos" pitchFamily="34" charset="-120"/>
              </a:rPr>
              <a:t>but generic</a:t>
            </a:r>
            <a:endParaRPr lang="en-US" sz="2450" dirty="0"/>
          </a:p>
        </p:txBody>
      </p:sp>
      <p:sp>
        <p:nvSpPr>
          <p:cNvPr id="9" name="Shape 7"/>
          <p:cNvSpPr/>
          <p:nvPr/>
        </p:nvSpPr>
        <p:spPr>
          <a:xfrm>
            <a:off x="960120" y="3776472"/>
            <a:ext cx="100584" cy="100584"/>
          </a:xfrm>
          <a:prstGeom prst="ellipse">
            <a:avLst/>
          </a:prstGeom>
          <a:solidFill>
            <a:srgbClr val="B94A48"/>
          </a:solidFill>
          <a:ln w="12700">
            <a:solidFill>
              <a:srgbClr val="B94A48"/>
            </a:solidFill>
            <a:prstDash val="solid"/>
          </a:ln>
        </p:spPr>
      </p:sp>
      <p:sp>
        <p:nvSpPr>
          <p:cNvPr id="10" name="Text 8"/>
          <p:cNvSpPr txBox="1"/>
          <p:nvPr/>
        </p:nvSpPr>
        <p:spPr>
          <a:xfrm>
            <a:off x="1161288" y="3657600"/>
            <a:ext cx="3639312" cy="347472"/>
          </a:xfrm>
          <a:prstGeom prst="rect">
            <a:avLst/>
          </a:prstGeom>
          <a:noFill/>
          <a:ln/>
        </p:spPr>
        <p:txBody>
          <a:bodyPr wrap="square" lIns="0" tIns="0" rIns="0" bIns="0" rtlCol="0" anchor="t">
            <a:normAutofit/>
          </a:bodyPr>
          <a:lstStyle/>
          <a:p>
            <a:pPr algn="l" indent="0" marL="0">
              <a:buNone/>
            </a:pPr>
            <a:r>
              <a:rPr lang="en-US" sz="1330" dirty="0">
                <a:solidFill>
                  <a:srgbClr val="172033"/>
                </a:solidFill>
                <a:latin typeface="Aptos" pitchFamily="34" charset="0"/>
                <a:ea typeface="Aptos" pitchFamily="34" charset="-122"/>
                <a:cs typeface="Aptos" pitchFamily="34" charset="-120"/>
              </a:rPr>
              <a:t>May miss deployment and rollback rules</a:t>
            </a:r>
            <a:endParaRPr lang="en-US" sz="1330" dirty="0"/>
          </a:p>
        </p:txBody>
      </p:sp>
      <p:sp>
        <p:nvSpPr>
          <p:cNvPr id="11" name="Shape 9"/>
          <p:cNvSpPr/>
          <p:nvPr/>
        </p:nvSpPr>
        <p:spPr>
          <a:xfrm>
            <a:off x="960120" y="4288536"/>
            <a:ext cx="100584" cy="100584"/>
          </a:xfrm>
          <a:prstGeom prst="ellipse">
            <a:avLst/>
          </a:prstGeom>
          <a:solidFill>
            <a:srgbClr val="B94A48"/>
          </a:solidFill>
          <a:ln w="12700">
            <a:solidFill>
              <a:srgbClr val="B94A48"/>
            </a:solidFill>
            <a:prstDash val="solid"/>
          </a:ln>
        </p:spPr>
      </p:sp>
      <p:sp>
        <p:nvSpPr>
          <p:cNvPr id="12" name="Text 10"/>
          <p:cNvSpPr txBox="1"/>
          <p:nvPr/>
        </p:nvSpPr>
        <p:spPr>
          <a:xfrm>
            <a:off x="1161288" y="4169664"/>
            <a:ext cx="3639312" cy="347472"/>
          </a:xfrm>
          <a:prstGeom prst="rect">
            <a:avLst/>
          </a:prstGeom>
          <a:noFill/>
          <a:ln/>
        </p:spPr>
        <p:txBody>
          <a:bodyPr wrap="square" lIns="0" tIns="0" rIns="0" bIns="0" rtlCol="0" anchor="t">
            <a:normAutofit/>
          </a:bodyPr>
          <a:lstStyle/>
          <a:p>
            <a:pPr algn="l" indent="0" marL="0">
              <a:buNone/>
            </a:pPr>
            <a:r>
              <a:rPr lang="en-US" sz="1330" dirty="0">
                <a:solidFill>
                  <a:srgbClr val="172033"/>
                </a:solidFill>
                <a:latin typeface="Aptos" pitchFamily="34" charset="0"/>
                <a:ea typeface="Aptos" pitchFamily="34" charset="-122"/>
                <a:cs typeface="Aptos" pitchFamily="34" charset="-120"/>
              </a:rPr>
              <a:t>May assume the wrong risk tolerance</a:t>
            </a:r>
            <a:endParaRPr lang="en-US" sz="1330" dirty="0"/>
          </a:p>
        </p:txBody>
      </p:sp>
      <p:sp>
        <p:nvSpPr>
          <p:cNvPr id="13" name="Shape 11"/>
          <p:cNvSpPr/>
          <p:nvPr/>
        </p:nvSpPr>
        <p:spPr>
          <a:xfrm>
            <a:off x="960120" y="4800600"/>
            <a:ext cx="100584" cy="100584"/>
          </a:xfrm>
          <a:prstGeom prst="ellipse">
            <a:avLst/>
          </a:prstGeom>
          <a:solidFill>
            <a:srgbClr val="B94A48"/>
          </a:solidFill>
          <a:ln w="12700">
            <a:solidFill>
              <a:srgbClr val="B94A48"/>
            </a:solidFill>
            <a:prstDash val="solid"/>
          </a:ln>
        </p:spPr>
      </p:sp>
      <p:sp>
        <p:nvSpPr>
          <p:cNvPr id="14" name="Text 12"/>
          <p:cNvSpPr txBox="1"/>
          <p:nvPr/>
        </p:nvSpPr>
        <p:spPr>
          <a:xfrm>
            <a:off x="1161288" y="4681728"/>
            <a:ext cx="3639312" cy="347472"/>
          </a:xfrm>
          <a:prstGeom prst="rect">
            <a:avLst/>
          </a:prstGeom>
          <a:noFill/>
          <a:ln/>
        </p:spPr>
        <p:txBody>
          <a:bodyPr wrap="square" lIns="0" tIns="0" rIns="0" bIns="0" rtlCol="0" anchor="t">
            <a:normAutofit/>
          </a:bodyPr>
          <a:lstStyle/>
          <a:p>
            <a:pPr algn="l" indent="0" marL="0">
              <a:buNone/>
            </a:pPr>
            <a:r>
              <a:rPr lang="en-US" sz="1330" dirty="0">
                <a:solidFill>
                  <a:srgbClr val="172033"/>
                </a:solidFill>
                <a:latin typeface="Aptos" pitchFamily="34" charset="0"/>
                <a:ea typeface="Aptos" pitchFamily="34" charset="-122"/>
                <a:cs typeface="Aptos" pitchFamily="34" charset="-120"/>
              </a:rPr>
              <a:t>Moves discovery and repair into review</a:t>
            </a:r>
            <a:endParaRPr lang="en-US" sz="1330" dirty="0"/>
          </a:p>
        </p:txBody>
      </p:sp>
      <p:sp>
        <p:nvSpPr>
          <p:cNvPr id="15" name="Shape 13"/>
          <p:cNvSpPr/>
          <p:nvPr/>
        </p:nvSpPr>
        <p:spPr>
          <a:xfrm>
            <a:off x="5577840" y="3255264"/>
            <a:ext cx="786384" cy="612648"/>
          </a:xfrm>
          <a:prstGeom prst="chevron">
            <a:avLst/>
          </a:prstGeom>
          <a:solidFill>
            <a:srgbClr val="007F80"/>
          </a:solidFill>
          <a:ln w="12700">
            <a:solidFill>
              <a:srgbClr val="007F80"/>
            </a:solidFill>
            <a:prstDash val="solid"/>
          </a:ln>
        </p:spPr>
      </p:sp>
      <p:sp>
        <p:nvSpPr>
          <p:cNvPr id="16" name="Shape 14"/>
          <p:cNvSpPr/>
          <p:nvPr/>
        </p:nvSpPr>
        <p:spPr>
          <a:xfrm>
            <a:off x="6565392" y="1764792"/>
            <a:ext cx="5010912" cy="4096512"/>
          </a:xfrm>
          <a:prstGeom prst="roundRect">
            <a:avLst>
              <a:gd name="adj" fmla="val 1786"/>
            </a:avLst>
          </a:prstGeom>
          <a:solidFill>
            <a:srgbClr val="E9F5EF"/>
          </a:solidFill>
          <a:ln w="10160">
            <a:solidFill>
              <a:srgbClr val="BCDACB"/>
            </a:solidFill>
            <a:prstDash val="solid"/>
          </a:ln>
        </p:spPr>
      </p:sp>
      <p:sp>
        <p:nvSpPr>
          <p:cNvPr id="17" name="Shape 15"/>
          <p:cNvSpPr/>
          <p:nvPr/>
        </p:nvSpPr>
        <p:spPr>
          <a:xfrm>
            <a:off x="6858000" y="2029968"/>
            <a:ext cx="1892808" cy="292608"/>
          </a:xfrm>
          <a:prstGeom prst="roundRect">
            <a:avLst>
              <a:gd name="adj" fmla="val 50000"/>
            </a:avLst>
          </a:prstGeom>
          <a:solidFill>
            <a:srgbClr val="D7ECDF"/>
          </a:solidFill>
          <a:ln w="12700">
            <a:solidFill>
              <a:srgbClr val="D7ECDF"/>
            </a:solidFill>
            <a:prstDash val="solid"/>
          </a:ln>
        </p:spPr>
      </p:sp>
      <p:sp>
        <p:nvSpPr>
          <p:cNvPr id="18" name="Text 16"/>
          <p:cNvSpPr txBox="1"/>
          <p:nvPr/>
        </p:nvSpPr>
        <p:spPr>
          <a:xfrm>
            <a:off x="6922008" y="2048256"/>
            <a:ext cx="1764792"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2D8A65"/>
                </a:solidFill>
                <a:latin typeface="Aptos" pitchFamily="34" charset="0"/>
                <a:ea typeface="Aptos" pitchFamily="34" charset="-122"/>
                <a:cs typeface="Aptos" pitchFamily="34" charset="-120"/>
              </a:rPr>
              <a:t>WITH THE CURRENT POC</a:t>
            </a:r>
            <a:endParaRPr lang="en-US" sz="920" dirty="0"/>
          </a:p>
        </p:txBody>
      </p:sp>
      <p:sp>
        <p:nvSpPr>
          <p:cNvPr id="19" name="Text 17"/>
          <p:cNvSpPr txBox="1"/>
          <p:nvPr/>
        </p:nvSpPr>
        <p:spPr>
          <a:xfrm>
            <a:off x="6858000" y="2596896"/>
            <a:ext cx="4069080" cy="749808"/>
          </a:xfrm>
          <a:prstGeom prst="rect">
            <a:avLst/>
          </a:prstGeom>
          <a:noFill/>
          <a:ln/>
        </p:spPr>
        <p:txBody>
          <a:bodyPr wrap="square" lIns="0" tIns="0" rIns="0" bIns="0" rtlCol="0" anchor="t">
            <a:normAutofit/>
          </a:bodyPr>
          <a:lstStyle/>
          <a:p>
            <a:pPr algn="l" indent="0" marL="0">
              <a:buNone/>
            </a:pPr>
            <a:r>
              <a:rPr lang="en-US" sz="2450" b="1" dirty="0">
                <a:solidFill>
                  <a:srgbClr val="245E46"/>
                </a:solidFill>
                <a:latin typeface="Aptos" pitchFamily="34" charset="0"/>
                <a:ea typeface="Aptos" pitchFamily="34" charset="-122"/>
                <a:cs typeface="Aptos" pitchFamily="34" charset="-120"/>
              </a:rPr>
              <a:t>A plan grounded in</a:t>
            </a:r>
            <a:endParaRPr lang="en-US" sz="2450" dirty="0"/>
          </a:p>
          <a:p>
            <a:pPr algn="l" indent="0" marL="0">
              <a:buNone/>
            </a:pPr>
            <a:r>
              <a:rPr lang="en-US" sz="2450" b="1" dirty="0">
                <a:solidFill>
                  <a:srgbClr val="245E46"/>
                </a:solidFill>
                <a:latin typeface="Aptos" pitchFamily="34" charset="0"/>
                <a:ea typeface="Aptos" pitchFamily="34" charset="-122"/>
                <a:cs typeface="Aptos" pitchFamily="34" charset="-120"/>
              </a:rPr>
              <a:t>approved project facts</a:t>
            </a:r>
            <a:endParaRPr lang="en-US" sz="2450" dirty="0"/>
          </a:p>
        </p:txBody>
      </p:sp>
      <p:sp>
        <p:nvSpPr>
          <p:cNvPr id="20" name="Shape 18"/>
          <p:cNvSpPr/>
          <p:nvPr/>
        </p:nvSpPr>
        <p:spPr>
          <a:xfrm>
            <a:off x="6894576" y="3776472"/>
            <a:ext cx="100584" cy="100584"/>
          </a:xfrm>
          <a:prstGeom prst="ellipse">
            <a:avLst/>
          </a:prstGeom>
          <a:solidFill>
            <a:srgbClr val="2D8A65"/>
          </a:solidFill>
          <a:ln w="12700">
            <a:solidFill>
              <a:srgbClr val="2D8A65"/>
            </a:solidFill>
            <a:prstDash val="solid"/>
          </a:ln>
        </p:spPr>
      </p:sp>
      <p:sp>
        <p:nvSpPr>
          <p:cNvPr id="21" name="Text 19"/>
          <p:cNvSpPr txBox="1"/>
          <p:nvPr/>
        </p:nvSpPr>
        <p:spPr>
          <a:xfrm>
            <a:off x="7095744" y="3657600"/>
            <a:ext cx="3730752" cy="347472"/>
          </a:xfrm>
          <a:prstGeom prst="rect">
            <a:avLst/>
          </a:prstGeom>
          <a:noFill/>
          <a:ln/>
        </p:spPr>
        <p:txBody>
          <a:bodyPr wrap="square" lIns="0" tIns="0" rIns="0" bIns="0" rtlCol="0" anchor="t">
            <a:normAutofit/>
          </a:bodyPr>
          <a:lstStyle/>
          <a:p>
            <a:pPr algn="l" indent="0" marL="0">
              <a:buNone/>
            </a:pPr>
            <a:r>
              <a:rPr lang="en-US" sz="1330" dirty="0">
                <a:solidFill>
                  <a:srgbClr val="172033"/>
                </a:solidFill>
                <a:latin typeface="Aptos" pitchFamily="34" charset="0"/>
                <a:ea typeface="Aptos" pitchFamily="34" charset="-122"/>
                <a:cs typeface="Aptos" pitchFamily="34" charset="-120"/>
              </a:rPr>
              <a:t>Confirmed constraints are visible</a:t>
            </a:r>
            <a:endParaRPr lang="en-US" sz="1330" dirty="0"/>
          </a:p>
        </p:txBody>
      </p:sp>
      <p:sp>
        <p:nvSpPr>
          <p:cNvPr id="22" name="Shape 20"/>
          <p:cNvSpPr/>
          <p:nvPr/>
        </p:nvSpPr>
        <p:spPr>
          <a:xfrm>
            <a:off x="6894576" y="4288536"/>
            <a:ext cx="100584" cy="100584"/>
          </a:xfrm>
          <a:prstGeom prst="ellipse">
            <a:avLst/>
          </a:prstGeom>
          <a:solidFill>
            <a:srgbClr val="2D8A65"/>
          </a:solidFill>
          <a:ln w="12700">
            <a:solidFill>
              <a:srgbClr val="2D8A65"/>
            </a:solidFill>
            <a:prstDash val="solid"/>
          </a:ln>
        </p:spPr>
      </p:sp>
      <p:sp>
        <p:nvSpPr>
          <p:cNvPr id="23" name="Text 21"/>
          <p:cNvSpPr txBox="1"/>
          <p:nvPr/>
        </p:nvSpPr>
        <p:spPr>
          <a:xfrm>
            <a:off x="7095744" y="4169664"/>
            <a:ext cx="3730752" cy="347472"/>
          </a:xfrm>
          <a:prstGeom prst="rect">
            <a:avLst/>
          </a:prstGeom>
          <a:noFill/>
          <a:ln/>
        </p:spPr>
        <p:txBody>
          <a:bodyPr wrap="square" lIns="0" tIns="0" rIns="0" bIns="0" rtlCol="0" anchor="t">
            <a:normAutofit/>
          </a:bodyPr>
          <a:lstStyle/>
          <a:p>
            <a:pPr algn="l" indent="0" marL="0">
              <a:buNone/>
            </a:pPr>
            <a:r>
              <a:rPr lang="en-US" sz="1330" dirty="0">
                <a:solidFill>
                  <a:srgbClr val="172033"/>
                </a:solidFill>
                <a:latin typeface="Aptos" pitchFamily="34" charset="0"/>
                <a:ea typeface="Aptos" pitchFamily="34" charset="-122"/>
                <a:cs typeface="Aptos" pitchFamily="34" charset="-120"/>
              </a:rPr>
              <a:t>A material gap is exposed before review</a:t>
            </a:r>
            <a:endParaRPr lang="en-US" sz="1330" dirty="0"/>
          </a:p>
        </p:txBody>
      </p:sp>
      <p:sp>
        <p:nvSpPr>
          <p:cNvPr id="24" name="Shape 22"/>
          <p:cNvSpPr/>
          <p:nvPr/>
        </p:nvSpPr>
        <p:spPr>
          <a:xfrm>
            <a:off x="6894576" y="4818888"/>
            <a:ext cx="1426464" cy="292608"/>
          </a:xfrm>
          <a:prstGeom prst="roundRect">
            <a:avLst>
              <a:gd name="adj" fmla="val 50000"/>
            </a:avLst>
          </a:prstGeom>
          <a:solidFill>
            <a:srgbClr val="FFF3DE"/>
          </a:solidFill>
          <a:ln w="12700">
            <a:solidFill>
              <a:srgbClr val="FFF3DE"/>
            </a:solidFill>
            <a:prstDash val="solid"/>
          </a:ln>
        </p:spPr>
      </p:sp>
      <p:sp>
        <p:nvSpPr>
          <p:cNvPr id="25" name="Text 23"/>
          <p:cNvSpPr txBox="1"/>
          <p:nvPr/>
        </p:nvSpPr>
        <p:spPr>
          <a:xfrm>
            <a:off x="6958584" y="4837176"/>
            <a:ext cx="1298448"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82530D"/>
                </a:solidFill>
                <a:latin typeface="Aptos" pitchFamily="34" charset="0"/>
                <a:ea typeface="Aptos" pitchFamily="34" charset="-122"/>
                <a:cs typeface="Aptos" pitchFamily="34" charset="-120"/>
              </a:rPr>
              <a:t>TARGET EXTENSION</a:t>
            </a:r>
            <a:endParaRPr lang="en-US" sz="920" dirty="0"/>
          </a:p>
        </p:txBody>
      </p:sp>
      <p:sp>
        <p:nvSpPr>
          <p:cNvPr id="26" name="Text 24"/>
          <p:cNvSpPr txBox="1"/>
          <p:nvPr/>
        </p:nvSpPr>
        <p:spPr>
          <a:xfrm>
            <a:off x="8485632" y="4800600"/>
            <a:ext cx="2615184" cy="384048"/>
          </a:xfrm>
          <a:prstGeom prst="rect">
            <a:avLst/>
          </a:prstGeom>
          <a:noFill/>
          <a:ln/>
        </p:spPr>
        <p:txBody>
          <a:bodyPr wrap="square" lIns="0" tIns="0" rIns="0" bIns="0" rtlCol="0" anchor="ctr">
            <a:normAutofit/>
          </a:bodyPr>
          <a:lstStyle/>
          <a:p>
            <a:pPr algn="l" indent="0" marL="0">
              <a:buNone/>
            </a:pPr>
            <a:r>
              <a:rPr lang="en-US" sz="1220" b="1" dirty="0">
                <a:solidFill>
                  <a:srgbClr val="163454"/>
                </a:solidFill>
                <a:latin typeface="Aptos" pitchFamily="34" charset="0"/>
                <a:ea typeface="Aptos" pitchFamily="34" charset="-122"/>
                <a:cs typeface="Aptos" pitchFamily="34" charset="-120"/>
              </a:rPr>
              <a:t>Capture one short answer and apply it safely.</a:t>
            </a:r>
            <a:endParaRPr lang="en-US" sz="1220" dirty="0"/>
          </a:p>
        </p:txBody>
      </p:sp>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03504" y="310896"/>
            <a:ext cx="5120640" cy="219456"/>
          </a:xfrm>
          <a:prstGeom prst="rect">
            <a:avLst/>
          </a:prstGeom>
          <a:noFill/>
          <a:ln/>
        </p:spPr>
        <p:txBody>
          <a:bodyPr wrap="square" lIns="0" tIns="0" rIns="0" bIns="0" rtlCol="0" anchor="ctr">
            <a:normAutofit/>
          </a:bodyPr>
          <a:lstStyle/>
          <a:p>
            <a:pPr algn="l" indent="0" marL="0">
              <a:buNone/>
            </a:pPr>
            <a:r>
              <a:rPr lang="en-US" sz="950" b="1" spc="120" kern="0" dirty="0">
                <a:solidFill>
                  <a:srgbClr val="007F80"/>
                </a:solidFill>
                <a:latin typeface="Aptos" pitchFamily="34" charset="0"/>
                <a:ea typeface="Aptos" pitchFamily="34" charset="-122"/>
                <a:cs typeface="Aptos" pitchFamily="34" charset="-120"/>
              </a:rPr>
              <a:t>CURRENT VALUE</a:t>
            </a:r>
            <a:endParaRPr lang="en-US" sz="950" dirty="0"/>
          </a:p>
        </p:txBody>
      </p:sp>
      <p:sp>
        <p:nvSpPr>
          <p:cNvPr id="3" name="Text 1"/>
          <p:cNvSpPr txBox="1"/>
          <p:nvPr/>
        </p:nvSpPr>
        <p:spPr>
          <a:xfrm>
            <a:off x="603504" y="603504"/>
            <a:ext cx="10972800" cy="548640"/>
          </a:xfrm>
          <a:prstGeom prst="rect">
            <a:avLst/>
          </a:prstGeom>
          <a:noFill/>
          <a:ln/>
        </p:spPr>
        <p:txBody>
          <a:bodyPr wrap="square" lIns="0" tIns="0" rIns="0" bIns="0" rtlCol="0" anchor="ctr">
            <a:normAutofit/>
          </a:bodyPr>
          <a:lstStyle/>
          <a:p>
            <a:pPr algn="l" indent="0" marL="0">
              <a:buNone/>
            </a:pPr>
            <a:r>
              <a:rPr lang="en-US" sz="2750" b="1" dirty="0">
                <a:solidFill>
                  <a:srgbClr val="172033"/>
                </a:solidFill>
                <a:latin typeface="Aptos" pitchFamily="34" charset="0"/>
                <a:ea typeface="Aptos" pitchFamily="34" charset="-122"/>
                <a:cs typeface="Aptos" pitchFamily="34" charset="-120"/>
              </a:rPr>
              <a:t>Benefits visible in the local proof of concept</a:t>
            </a:r>
            <a:endParaRPr lang="en-US" sz="2750" dirty="0"/>
          </a:p>
        </p:txBody>
      </p:sp>
      <p:sp>
        <p:nvSpPr>
          <p:cNvPr id="4" name="Text 2"/>
          <p:cNvSpPr txBox="1"/>
          <p:nvPr/>
        </p:nvSpPr>
        <p:spPr>
          <a:xfrm>
            <a:off x="603504" y="1170432"/>
            <a:ext cx="10927080" cy="365760"/>
          </a:xfrm>
          <a:prstGeom prst="rect">
            <a:avLst/>
          </a:prstGeom>
          <a:noFill/>
          <a:ln/>
        </p:spPr>
        <p:txBody>
          <a:bodyPr wrap="square" lIns="0" tIns="0" rIns="0" bIns="0" rtlCol="0" anchor="ctr">
            <a:normAutofit/>
          </a:bodyPr>
          <a:lstStyle/>
          <a:p>
            <a:pPr algn="l" indent="0" marL="0">
              <a:buNone/>
            </a:pPr>
            <a:r>
              <a:rPr lang="en-US" sz="1350" dirty="0">
                <a:solidFill>
                  <a:srgbClr val="667085"/>
                </a:solidFill>
                <a:latin typeface="Aptos" pitchFamily="34" charset="0"/>
                <a:ea typeface="Aptos" pitchFamily="34" charset="-122"/>
                <a:cs typeface="Aptos" pitchFamily="34" charset="-120"/>
              </a:rPr>
              <a:t>The product reduces friction while preserving developer judgment and explicit control.</a:t>
            </a:r>
            <a:endParaRPr lang="en-US" sz="1350" dirty="0"/>
          </a:p>
        </p:txBody>
      </p:sp>
      <p:sp>
        <p:nvSpPr>
          <p:cNvPr id="5" name="Shape 3"/>
          <p:cNvSpPr/>
          <p:nvPr/>
        </p:nvSpPr>
        <p:spPr>
          <a:xfrm>
            <a:off x="640080" y="1737360"/>
            <a:ext cx="3429000" cy="1682496"/>
          </a:xfrm>
          <a:prstGeom prst="roundRect">
            <a:avLst>
              <a:gd name="adj" fmla="val 4348"/>
            </a:avLst>
          </a:prstGeom>
          <a:solidFill>
            <a:srgbClr val="FFFFFF"/>
          </a:solidFill>
          <a:ln w="10160">
            <a:solidFill>
              <a:srgbClr val="D8DEE7"/>
            </a:solidFill>
            <a:prstDash val="solid"/>
          </a:ln>
        </p:spPr>
      </p:sp>
      <p:sp>
        <p:nvSpPr>
          <p:cNvPr id="6" name="Shape 4"/>
          <p:cNvSpPr/>
          <p:nvPr/>
        </p:nvSpPr>
        <p:spPr>
          <a:xfrm>
            <a:off x="640080" y="1737360"/>
            <a:ext cx="73152" cy="1682496"/>
          </a:xfrm>
          <a:prstGeom prst="rect">
            <a:avLst/>
          </a:prstGeom>
          <a:solidFill>
            <a:srgbClr val="2D8A65"/>
          </a:solidFill>
          <a:ln w="12700">
            <a:solidFill>
              <a:srgbClr val="2D8A65"/>
            </a:solidFill>
            <a:prstDash val="solid"/>
          </a:ln>
        </p:spPr>
      </p:sp>
      <p:sp>
        <p:nvSpPr>
          <p:cNvPr id="7" name="Text 5"/>
          <p:cNvSpPr txBox="1"/>
          <p:nvPr/>
        </p:nvSpPr>
        <p:spPr>
          <a:xfrm>
            <a:off x="886968" y="1920240"/>
            <a:ext cx="2971800" cy="201168"/>
          </a:xfrm>
          <a:prstGeom prst="rect">
            <a:avLst/>
          </a:prstGeom>
          <a:noFill/>
          <a:ln/>
        </p:spPr>
        <p:txBody>
          <a:bodyPr wrap="square" lIns="0" tIns="0" rIns="0" bIns="0" rtlCol="0" anchor="ctr">
            <a:normAutofit/>
          </a:bodyPr>
          <a:lstStyle/>
          <a:p>
            <a:pPr algn="l" indent="0" marL="0">
              <a:buNone/>
            </a:pPr>
            <a:r>
              <a:rPr lang="en-US" sz="880" b="1" spc="70" kern="0" dirty="0">
                <a:solidFill>
                  <a:srgbClr val="2D8A65"/>
                </a:solidFill>
                <a:latin typeface="Aptos" pitchFamily="34" charset="0"/>
                <a:ea typeface="Aptos" pitchFamily="34" charset="-122"/>
                <a:cs typeface="Aptos" pitchFamily="34" charset="-120"/>
              </a:rPr>
              <a:t>01</a:t>
            </a:r>
            <a:endParaRPr lang="en-US" sz="880" dirty="0"/>
          </a:p>
        </p:txBody>
      </p:sp>
      <p:sp>
        <p:nvSpPr>
          <p:cNvPr id="8" name="Text 6"/>
          <p:cNvSpPr txBox="1"/>
          <p:nvPr/>
        </p:nvSpPr>
        <p:spPr>
          <a:xfrm>
            <a:off x="886968" y="2203704"/>
            <a:ext cx="2953512"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Time saved</a:t>
            </a:r>
            <a:endParaRPr lang="en-US" sz="1650" dirty="0"/>
          </a:p>
        </p:txBody>
      </p:sp>
      <p:sp>
        <p:nvSpPr>
          <p:cNvPr id="9" name="Text 7"/>
          <p:cNvSpPr txBox="1"/>
          <p:nvPr/>
        </p:nvSpPr>
        <p:spPr>
          <a:xfrm>
            <a:off x="886968" y="2615184"/>
            <a:ext cx="2953512" cy="640080"/>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Reuse approved project knowledge instead of rebuilding the briefing.</a:t>
            </a:r>
            <a:endParaRPr lang="en-US" sz="1180" dirty="0"/>
          </a:p>
        </p:txBody>
      </p:sp>
      <p:sp>
        <p:nvSpPr>
          <p:cNvPr id="10" name="Shape 8"/>
          <p:cNvSpPr/>
          <p:nvPr/>
        </p:nvSpPr>
        <p:spPr>
          <a:xfrm>
            <a:off x="4389120" y="1737360"/>
            <a:ext cx="3429000" cy="1682496"/>
          </a:xfrm>
          <a:prstGeom prst="roundRect">
            <a:avLst>
              <a:gd name="adj" fmla="val 4348"/>
            </a:avLst>
          </a:prstGeom>
          <a:solidFill>
            <a:srgbClr val="FFFFFF"/>
          </a:solidFill>
          <a:ln w="10160">
            <a:solidFill>
              <a:srgbClr val="D8DEE7"/>
            </a:solidFill>
            <a:prstDash val="solid"/>
          </a:ln>
        </p:spPr>
      </p:sp>
      <p:sp>
        <p:nvSpPr>
          <p:cNvPr id="11" name="Shape 9"/>
          <p:cNvSpPr/>
          <p:nvPr/>
        </p:nvSpPr>
        <p:spPr>
          <a:xfrm>
            <a:off x="4389120" y="1737360"/>
            <a:ext cx="73152" cy="1682496"/>
          </a:xfrm>
          <a:prstGeom prst="rect">
            <a:avLst/>
          </a:prstGeom>
          <a:solidFill>
            <a:srgbClr val="007F80"/>
          </a:solidFill>
          <a:ln w="12700">
            <a:solidFill>
              <a:srgbClr val="007F80"/>
            </a:solidFill>
            <a:prstDash val="solid"/>
          </a:ln>
        </p:spPr>
      </p:sp>
      <p:sp>
        <p:nvSpPr>
          <p:cNvPr id="12" name="Text 10"/>
          <p:cNvSpPr txBox="1"/>
          <p:nvPr/>
        </p:nvSpPr>
        <p:spPr>
          <a:xfrm>
            <a:off x="4636008" y="1920240"/>
            <a:ext cx="2971800" cy="201168"/>
          </a:xfrm>
          <a:prstGeom prst="rect">
            <a:avLst/>
          </a:prstGeom>
          <a:noFill/>
          <a:ln/>
        </p:spPr>
        <p:txBody>
          <a:bodyPr wrap="square" lIns="0" tIns="0" rIns="0" bIns="0" rtlCol="0" anchor="ctr">
            <a:normAutofit/>
          </a:bodyPr>
          <a:lstStyle/>
          <a:p>
            <a:pPr algn="l" indent="0" marL="0">
              <a:buNone/>
            </a:pPr>
            <a:r>
              <a:rPr lang="en-US" sz="880" b="1" spc="70" kern="0" dirty="0">
                <a:solidFill>
                  <a:srgbClr val="007F80"/>
                </a:solidFill>
                <a:latin typeface="Aptos" pitchFamily="34" charset="0"/>
                <a:ea typeface="Aptos" pitchFamily="34" charset="-122"/>
                <a:cs typeface="Aptos" pitchFamily="34" charset="-120"/>
              </a:rPr>
              <a:t>02</a:t>
            </a:r>
            <a:endParaRPr lang="en-US" sz="880" dirty="0"/>
          </a:p>
        </p:txBody>
      </p:sp>
      <p:sp>
        <p:nvSpPr>
          <p:cNvPr id="13" name="Text 11"/>
          <p:cNvSpPr txBox="1"/>
          <p:nvPr/>
        </p:nvSpPr>
        <p:spPr>
          <a:xfrm>
            <a:off x="4636008" y="2203704"/>
            <a:ext cx="2953512"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Fewer omissions</a:t>
            </a:r>
            <a:endParaRPr lang="en-US" sz="1650" dirty="0"/>
          </a:p>
        </p:txBody>
      </p:sp>
      <p:sp>
        <p:nvSpPr>
          <p:cNvPr id="14" name="Text 12"/>
          <p:cNvSpPr txBox="1"/>
          <p:nvPr/>
        </p:nvSpPr>
        <p:spPr>
          <a:xfrm>
            <a:off x="4636008" y="2615184"/>
            <a:ext cx="2953512" cy="640080"/>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Keep confirmed constraints present while the work is composed.</a:t>
            </a:r>
            <a:endParaRPr lang="en-US" sz="1180" dirty="0"/>
          </a:p>
        </p:txBody>
      </p:sp>
      <p:sp>
        <p:nvSpPr>
          <p:cNvPr id="15" name="Shape 13"/>
          <p:cNvSpPr/>
          <p:nvPr/>
        </p:nvSpPr>
        <p:spPr>
          <a:xfrm>
            <a:off x="8138160" y="1737360"/>
            <a:ext cx="3429000" cy="1682496"/>
          </a:xfrm>
          <a:prstGeom prst="roundRect">
            <a:avLst>
              <a:gd name="adj" fmla="val 4348"/>
            </a:avLst>
          </a:prstGeom>
          <a:solidFill>
            <a:srgbClr val="FFFFFF"/>
          </a:solidFill>
          <a:ln w="10160">
            <a:solidFill>
              <a:srgbClr val="D8DEE7"/>
            </a:solidFill>
            <a:prstDash val="solid"/>
          </a:ln>
        </p:spPr>
      </p:sp>
      <p:sp>
        <p:nvSpPr>
          <p:cNvPr id="16" name="Shape 14"/>
          <p:cNvSpPr/>
          <p:nvPr/>
        </p:nvSpPr>
        <p:spPr>
          <a:xfrm>
            <a:off x="8138160" y="1737360"/>
            <a:ext cx="73152" cy="1682496"/>
          </a:xfrm>
          <a:prstGeom prst="rect">
            <a:avLst/>
          </a:prstGeom>
          <a:solidFill>
            <a:srgbClr val="D9952A"/>
          </a:solidFill>
          <a:ln w="12700">
            <a:solidFill>
              <a:srgbClr val="D9952A"/>
            </a:solidFill>
            <a:prstDash val="solid"/>
          </a:ln>
        </p:spPr>
      </p:sp>
      <p:sp>
        <p:nvSpPr>
          <p:cNvPr id="17" name="Text 15"/>
          <p:cNvSpPr txBox="1"/>
          <p:nvPr/>
        </p:nvSpPr>
        <p:spPr>
          <a:xfrm>
            <a:off x="8385048" y="1920240"/>
            <a:ext cx="2971800" cy="201168"/>
          </a:xfrm>
          <a:prstGeom prst="rect">
            <a:avLst/>
          </a:prstGeom>
          <a:noFill/>
          <a:ln/>
        </p:spPr>
        <p:txBody>
          <a:bodyPr wrap="square" lIns="0" tIns="0" rIns="0" bIns="0" rtlCol="0" anchor="ctr">
            <a:normAutofit/>
          </a:bodyPr>
          <a:lstStyle/>
          <a:p>
            <a:pPr algn="l" indent="0" marL="0">
              <a:buNone/>
            </a:pPr>
            <a:r>
              <a:rPr lang="en-US" sz="880" b="1" spc="70" kern="0" dirty="0">
                <a:solidFill>
                  <a:srgbClr val="D9952A"/>
                </a:solidFill>
                <a:latin typeface="Aptos" pitchFamily="34" charset="0"/>
                <a:ea typeface="Aptos" pitchFamily="34" charset="-122"/>
                <a:cs typeface="Aptos" pitchFamily="34" charset="-120"/>
              </a:rPr>
              <a:t>03</a:t>
            </a:r>
            <a:endParaRPr lang="en-US" sz="880" dirty="0"/>
          </a:p>
        </p:txBody>
      </p:sp>
      <p:sp>
        <p:nvSpPr>
          <p:cNvPr id="18" name="Text 16"/>
          <p:cNvSpPr txBox="1"/>
          <p:nvPr/>
        </p:nvSpPr>
        <p:spPr>
          <a:xfrm>
            <a:off x="8385048" y="2203704"/>
            <a:ext cx="2953512"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Lower fatigue</a:t>
            </a:r>
            <a:endParaRPr lang="en-US" sz="1650" dirty="0"/>
          </a:p>
        </p:txBody>
      </p:sp>
      <p:sp>
        <p:nvSpPr>
          <p:cNvPr id="19" name="Text 17"/>
          <p:cNvSpPr txBox="1"/>
          <p:nvPr/>
        </p:nvSpPr>
        <p:spPr>
          <a:xfrm>
            <a:off x="8385048" y="2615184"/>
            <a:ext cx="2953512" cy="640080"/>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Reduce searching, repetition and mental tracking of scattered context.</a:t>
            </a:r>
            <a:endParaRPr lang="en-US" sz="1180" dirty="0"/>
          </a:p>
        </p:txBody>
      </p:sp>
      <p:sp>
        <p:nvSpPr>
          <p:cNvPr id="20" name="Shape 18"/>
          <p:cNvSpPr/>
          <p:nvPr/>
        </p:nvSpPr>
        <p:spPr>
          <a:xfrm>
            <a:off x="640080" y="3767328"/>
            <a:ext cx="3429000" cy="1682496"/>
          </a:xfrm>
          <a:prstGeom prst="roundRect">
            <a:avLst>
              <a:gd name="adj" fmla="val 4348"/>
            </a:avLst>
          </a:prstGeom>
          <a:solidFill>
            <a:srgbClr val="FFFFFF"/>
          </a:solidFill>
          <a:ln w="10160">
            <a:solidFill>
              <a:srgbClr val="D8DEE7"/>
            </a:solidFill>
            <a:prstDash val="solid"/>
          </a:ln>
        </p:spPr>
      </p:sp>
      <p:sp>
        <p:nvSpPr>
          <p:cNvPr id="21" name="Shape 19"/>
          <p:cNvSpPr/>
          <p:nvPr/>
        </p:nvSpPr>
        <p:spPr>
          <a:xfrm>
            <a:off x="640080" y="3767328"/>
            <a:ext cx="73152" cy="1682496"/>
          </a:xfrm>
          <a:prstGeom prst="rect">
            <a:avLst/>
          </a:prstGeom>
          <a:solidFill>
            <a:srgbClr val="21A7B7"/>
          </a:solidFill>
          <a:ln w="12700">
            <a:solidFill>
              <a:srgbClr val="21A7B7"/>
            </a:solidFill>
            <a:prstDash val="solid"/>
          </a:ln>
        </p:spPr>
      </p:sp>
      <p:sp>
        <p:nvSpPr>
          <p:cNvPr id="22" name="Text 20"/>
          <p:cNvSpPr txBox="1"/>
          <p:nvPr/>
        </p:nvSpPr>
        <p:spPr>
          <a:xfrm>
            <a:off x="886968" y="3950208"/>
            <a:ext cx="2971800" cy="201168"/>
          </a:xfrm>
          <a:prstGeom prst="rect">
            <a:avLst/>
          </a:prstGeom>
          <a:noFill/>
          <a:ln/>
        </p:spPr>
        <p:txBody>
          <a:bodyPr wrap="square" lIns="0" tIns="0" rIns="0" bIns="0" rtlCol="0" anchor="ctr">
            <a:normAutofit/>
          </a:bodyPr>
          <a:lstStyle/>
          <a:p>
            <a:pPr algn="l" indent="0" marL="0">
              <a:buNone/>
            </a:pPr>
            <a:r>
              <a:rPr lang="en-US" sz="880" b="1" spc="70" kern="0" dirty="0">
                <a:solidFill>
                  <a:srgbClr val="21A7B7"/>
                </a:solidFill>
                <a:latin typeface="Aptos" pitchFamily="34" charset="0"/>
                <a:ea typeface="Aptos" pitchFamily="34" charset="-122"/>
                <a:cs typeface="Aptos" pitchFamily="34" charset="-120"/>
              </a:rPr>
              <a:t>04</a:t>
            </a:r>
            <a:endParaRPr lang="en-US" sz="880" dirty="0"/>
          </a:p>
        </p:txBody>
      </p:sp>
      <p:sp>
        <p:nvSpPr>
          <p:cNvPr id="23" name="Text 21"/>
          <p:cNvSpPr txBox="1"/>
          <p:nvPr/>
        </p:nvSpPr>
        <p:spPr>
          <a:xfrm>
            <a:off x="886968" y="4233672"/>
            <a:ext cx="2953512"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Clearer outputs</a:t>
            </a:r>
            <a:endParaRPr lang="en-US" sz="1650" dirty="0"/>
          </a:p>
        </p:txBody>
      </p:sp>
      <p:sp>
        <p:nvSpPr>
          <p:cNvPr id="24" name="Text 22"/>
          <p:cNvSpPr txBox="1"/>
          <p:nvPr/>
        </p:nvSpPr>
        <p:spPr>
          <a:xfrm>
            <a:off x="886968" y="4645152"/>
            <a:ext cx="2953512" cy="640080"/>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Make assumptions, sources and decisions easier to review.</a:t>
            </a:r>
            <a:endParaRPr lang="en-US" sz="1180" dirty="0"/>
          </a:p>
        </p:txBody>
      </p:sp>
      <p:sp>
        <p:nvSpPr>
          <p:cNvPr id="25" name="Shape 23"/>
          <p:cNvSpPr/>
          <p:nvPr/>
        </p:nvSpPr>
        <p:spPr>
          <a:xfrm>
            <a:off x="4389120" y="3767328"/>
            <a:ext cx="3429000" cy="1682496"/>
          </a:xfrm>
          <a:prstGeom prst="roundRect">
            <a:avLst>
              <a:gd name="adj" fmla="val 4348"/>
            </a:avLst>
          </a:prstGeom>
          <a:solidFill>
            <a:srgbClr val="FFFFFF"/>
          </a:solidFill>
          <a:ln w="10160">
            <a:solidFill>
              <a:srgbClr val="D8DEE7"/>
            </a:solidFill>
            <a:prstDash val="solid"/>
          </a:ln>
        </p:spPr>
      </p:sp>
      <p:sp>
        <p:nvSpPr>
          <p:cNvPr id="26" name="Shape 24"/>
          <p:cNvSpPr/>
          <p:nvPr/>
        </p:nvSpPr>
        <p:spPr>
          <a:xfrm>
            <a:off x="4389120" y="3767328"/>
            <a:ext cx="73152" cy="1682496"/>
          </a:xfrm>
          <a:prstGeom prst="rect">
            <a:avLst/>
          </a:prstGeom>
          <a:solidFill>
            <a:srgbClr val="163454"/>
          </a:solidFill>
          <a:ln w="12700">
            <a:solidFill>
              <a:srgbClr val="163454"/>
            </a:solidFill>
            <a:prstDash val="solid"/>
          </a:ln>
        </p:spPr>
      </p:sp>
      <p:sp>
        <p:nvSpPr>
          <p:cNvPr id="27" name="Text 25"/>
          <p:cNvSpPr txBox="1"/>
          <p:nvPr/>
        </p:nvSpPr>
        <p:spPr>
          <a:xfrm>
            <a:off x="4636008" y="3950208"/>
            <a:ext cx="2971800" cy="201168"/>
          </a:xfrm>
          <a:prstGeom prst="rect">
            <a:avLst/>
          </a:prstGeom>
          <a:noFill/>
          <a:ln/>
        </p:spPr>
        <p:txBody>
          <a:bodyPr wrap="square" lIns="0" tIns="0" rIns="0" bIns="0" rtlCol="0" anchor="ctr">
            <a:normAutofit/>
          </a:bodyPr>
          <a:lstStyle/>
          <a:p>
            <a:pPr algn="l" indent="0" marL="0">
              <a:buNone/>
            </a:pPr>
            <a:r>
              <a:rPr lang="en-US" sz="880" b="1" spc="70" kern="0" dirty="0">
                <a:solidFill>
                  <a:srgbClr val="163454"/>
                </a:solidFill>
                <a:latin typeface="Aptos" pitchFamily="34" charset="0"/>
                <a:ea typeface="Aptos" pitchFamily="34" charset="-122"/>
                <a:cs typeface="Aptos" pitchFamily="34" charset="-120"/>
              </a:rPr>
              <a:t>05</a:t>
            </a:r>
            <a:endParaRPr lang="en-US" sz="880" dirty="0"/>
          </a:p>
        </p:txBody>
      </p:sp>
      <p:sp>
        <p:nvSpPr>
          <p:cNvPr id="28" name="Text 26"/>
          <p:cNvSpPr txBox="1"/>
          <p:nvPr/>
        </p:nvSpPr>
        <p:spPr>
          <a:xfrm>
            <a:off x="4636008" y="4233672"/>
            <a:ext cx="2953512"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Consistent knowledge</a:t>
            </a:r>
            <a:endParaRPr lang="en-US" sz="1650" dirty="0"/>
          </a:p>
        </p:txBody>
      </p:sp>
      <p:sp>
        <p:nvSpPr>
          <p:cNvPr id="29" name="Text 27"/>
          <p:cNvSpPr txBox="1"/>
          <p:nvPr/>
        </p:nvSpPr>
        <p:spPr>
          <a:xfrm>
            <a:off x="4636008" y="4645152"/>
            <a:ext cx="2953512" cy="640080"/>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Use the same reviewed project facts across new tasks.</a:t>
            </a:r>
            <a:endParaRPr lang="en-US" sz="1180" dirty="0"/>
          </a:p>
        </p:txBody>
      </p:sp>
      <p:sp>
        <p:nvSpPr>
          <p:cNvPr id="30" name="Shape 28"/>
          <p:cNvSpPr/>
          <p:nvPr/>
        </p:nvSpPr>
        <p:spPr>
          <a:xfrm>
            <a:off x="8138160" y="3767328"/>
            <a:ext cx="3429000" cy="1682496"/>
          </a:xfrm>
          <a:prstGeom prst="roundRect">
            <a:avLst>
              <a:gd name="adj" fmla="val 4348"/>
            </a:avLst>
          </a:prstGeom>
          <a:solidFill>
            <a:srgbClr val="FFFFFF"/>
          </a:solidFill>
          <a:ln w="10160">
            <a:solidFill>
              <a:srgbClr val="D8DEE7"/>
            </a:solidFill>
            <a:prstDash val="solid"/>
          </a:ln>
        </p:spPr>
      </p:sp>
      <p:sp>
        <p:nvSpPr>
          <p:cNvPr id="31" name="Shape 29"/>
          <p:cNvSpPr/>
          <p:nvPr/>
        </p:nvSpPr>
        <p:spPr>
          <a:xfrm>
            <a:off x="8138160" y="3767328"/>
            <a:ext cx="73152" cy="1682496"/>
          </a:xfrm>
          <a:prstGeom prst="rect">
            <a:avLst/>
          </a:prstGeom>
          <a:solidFill>
            <a:srgbClr val="2D8A65"/>
          </a:solidFill>
          <a:ln w="12700">
            <a:solidFill>
              <a:srgbClr val="2D8A65"/>
            </a:solidFill>
            <a:prstDash val="solid"/>
          </a:ln>
        </p:spPr>
      </p:sp>
      <p:sp>
        <p:nvSpPr>
          <p:cNvPr id="32" name="Text 30"/>
          <p:cNvSpPr txBox="1"/>
          <p:nvPr/>
        </p:nvSpPr>
        <p:spPr>
          <a:xfrm>
            <a:off x="8385048" y="3950208"/>
            <a:ext cx="2971800" cy="201168"/>
          </a:xfrm>
          <a:prstGeom prst="rect">
            <a:avLst/>
          </a:prstGeom>
          <a:noFill/>
          <a:ln/>
        </p:spPr>
        <p:txBody>
          <a:bodyPr wrap="square" lIns="0" tIns="0" rIns="0" bIns="0" rtlCol="0" anchor="ctr">
            <a:normAutofit/>
          </a:bodyPr>
          <a:lstStyle/>
          <a:p>
            <a:pPr algn="l" indent="0" marL="0">
              <a:buNone/>
            </a:pPr>
            <a:r>
              <a:rPr lang="en-US" sz="880" b="1" spc="70" kern="0" dirty="0">
                <a:solidFill>
                  <a:srgbClr val="2D8A65"/>
                </a:solidFill>
                <a:latin typeface="Aptos" pitchFamily="34" charset="0"/>
                <a:ea typeface="Aptos" pitchFamily="34" charset="-122"/>
                <a:cs typeface="Aptos" pitchFamily="34" charset="-120"/>
              </a:rPr>
              <a:t>06</a:t>
            </a:r>
            <a:endParaRPr lang="en-US" sz="880" dirty="0"/>
          </a:p>
        </p:txBody>
      </p:sp>
      <p:sp>
        <p:nvSpPr>
          <p:cNvPr id="33" name="Text 31"/>
          <p:cNvSpPr txBox="1"/>
          <p:nvPr/>
        </p:nvSpPr>
        <p:spPr>
          <a:xfrm>
            <a:off x="8385048" y="4233672"/>
            <a:ext cx="2953512"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Human control</a:t>
            </a:r>
            <a:endParaRPr lang="en-US" sz="1650" dirty="0"/>
          </a:p>
        </p:txBody>
      </p:sp>
      <p:sp>
        <p:nvSpPr>
          <p:cNvPr id="34" name="Text 32"/>
          <p:cNvSpPr txBox="1"/>
          <p:nvPr/>
        </p:nvSpPr>
        <p:spPr>
          <a:xfrm>
            <a:off x="8385048" y="4645152"/>
            <a:ext cx="2953512" cy="640080"/>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Let developers review context, outcomes and reset boundaries.</a:t>
            </a:r>
            <a:endParaRPr lang="en-US" sz="1180" dirty="0"/>
          </a:p>
        </p:txBody>
      </p:sp>
      <p:sp>
        <p:nvSpPr>
          <p:cNvPr id="35" name="Text 33"/>
          <p:cNvSpPr txBox="1"/>
          <p:nvPr/>
        </p:nvSpPr>
        <p:spPr>
          <a:xfrm>
            <a:off x="658368" y="5907024"/>
            <a:ext cx="10954512" cy="274320"/>
          </a:xfrm>
          <a:prstGeom prst="rect">
            <a:avLst/>
          </a:prstGeom>
          <a:noFill/>
          <a:ln/>
        </p:spPr>
        <p:txBody>
          <a:bodyPr wrap="square" lIns="0" tIns="0" rIns="0" bIns="0" rtlCol="0" anchor="ctr">
            <a:normAutofit/>
          </a:bodyPr>
          <a:lstStyle/>
          <a:p>
            <a:pPr algn="ctr" indent="0" marL="0">
              <a:buNone/>
            </a:pPr>
            <a:r>
              <a:rPr lang="en-US" sz="1350" b="1" dirty="0">
                <a:solidFill>
                  <a:srgbClr val="163454"/>
                </a:solidFill>
                <a:latin typeface="Aptos" pitchFamily="34" charset="0"/>
                <a:ea typeface="Aptos" pitchFamily="34" charset="-122"/>
                <a:cs typeface="Aptos" pitchFamily="34" charset="-120"/>
              </a:rPr>
              <a:t>Current evidence supports local POC value and control—not production scale or real-provider quality.</a:t>
            </a:r>
            <a:endParaRPr lang="en-US" sz="1350" dirty="0"/>
          </a:p>
        </p:txBody>
      </p:sp>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03504" y="310896"/>
            <a:ext cx="5120640" cy="219456"/>
          </a:xfrm>
          <a:prstGeom prst="rect">
            <a:avLst/>
          </a:prstGeom>
          <a:noFill/>
          <a:ln/>
        </p:spPr>
        <p:txBody>
          <a:bodyPr wrap="square" lIns="0" tIns="0" rIns="0" bIns="0" rtlCol="0" anchor="ctr">
            <a:normAutofit/>
          </a:bodyPr>
          <a:lstStyle/>
          <a:p>
            <a:pPr algn="l" indent="0" marL="0">
              <a:buNone/>
            </a:pPr>
            <a:r>
              <a:rPr lang="en-US" sz="950" b="1" spc="120" kern="0" dirty="0">
                <a:solidFill>
                  <a:srgbClr val="007F80"/>
                </a:solidFill>
                <a:latin typeface="Aptos" pitchFamily="34" charset="0"/>
                <a:ea typeface="Aptos" pitchFamily="34" charset="-122"/>
                <a:cs typeface="Aptos" pitchFamily="34" charset="-120"/>
              </a:rPr>
              <a:t>WHAT MANAGEMENT CAN SEE NOW</a:t>
            </a:r>
            <a:endParaRPr lang="en-US" sz="950" dirty="0"/>
          </a:p>
        </p:txBody>
      </p:sp>
      <p:sp>
        <p:nvSpPr>
          <p:cNvPr id="3" name="Text 1"/>
          <p:cNvSpPr txBox="1"/>
          <p:nvPr/>
        </p:nvSpPr>
        <p:spPr>
          <a:xfrm>
            <a:off x="603504" y="603504"/>
            <a:ext cx="10972800" cy="548640"/>
          </a:xfrm>
          <a:prstGeom prst="rect">
            <a:avLst/>
          </a:prstGeom>
          <a:noFill/>
          <a:ln/>
        </p:spPr>
        <p:txBody>
          <a:bodyPr wrap="square" lIns="0" tIns="0" rIns="0" bIns="0" rtlCol="0" anchor="ctr">
            <a:normAutofit/>
          </a:bodyPr>
          <a:lstStyle/>
          <a:p>
            <a:pPr algn="l" indent="0" marL="0">
              <a:buNone/>
            </a:pPr>
            <a:r>
              <a:rPr lang="en-US" sz="2750" b="1" dirty="0">
                <a:solidFill>
                  <a:srgbClr val="172033"/>
                </a:solidFill>
                <a:latin typeface="Aptos" pitchFamily="34" charset="0"/>
                <a:ea typeface="Aptos" pitchFamily="34" charset="-122"/>
                <a:cs typeface="Aptos" pitchFamily="34" charset="-120"/>
              </a:rPr>
              <a:t>A concise, honest local demonstration</a:t>
            </a:r>
            <a:endParaRPr lang="en-US" sz="2750" dirty="0"/>
          </a:p>
        </p:txBody>
      </p:sp>
      <p:sp>
        <p:nvSpPr>
          <p:cNvPr id="4" name="Text 2"/>
          <p:cNvSpPr txBox="1"/>
          <p:nvPr/>
        </p:nvSpPr>
        <p:spPr>
          <a:xfrm>
            <a:off x="603504" y="1170432"/>
            <a:ext cx="10927080" cy="365760"/>
          </a:xfrm>
          <a:prstGeom prst="rect">
            <a:avLst/>
          </a:prstGeom>
          <a:noFill/>
          <a:ln/>
        </p:spPr>
        <p:txBody>
          <a:bodyPr wrap="square" lIns="0" tIns="0" rIns="0" bIns="0" rtlCol="0" anchor="ctr">
            <a:normAutofit/>
          </a:bodyPr>
          <a:lstStyle/>
          <a:p>
            <a:pPr algn="l" indent="0" marL="0">
              <a:buNone/>
            </a:pPr>
            <a:r>
              <a:rPr lang="en-US" sz="1350" dirty="0">
                <a:solidFill>
                  <a:srgbClr val="667085"/>
                </a:solidFill>
                <a:latin typeface="Aptos" pitchFamily="34" charset="0"/>
                <a:ea typeface="Aptos" pitchFamily="34" charset="-122"/>
                <a:cs typeface="Aptos" pitchFamily="34" charset="-120"/>
              </a:rPr>
              <a:t>The walkthrough shows demonstrated controls and outcomes without implying unfinished behavior.</a:t>
            </a:r>
            <a:endParaRPr lang="en-US" sz="1350" dirty="0"/>
          </a:p>
        </p:txBody>
      </p:sp>
      <p:sp>
        <p:nvSpPr>
          <p:cNvPr id="5" name="Shape 3"/>
          <p:cNvSpPr/>
          <p:nvPr/>
        </p:nvSpPr>
        <p:spPr>
          <a:xfrm>
            <a:off x="9848088" y="320040"/>
            <a:ext cx="1508760" cy="292608"/>
          </a:xfrm>
          <a:prstGeom prst="roundRect">
            <a:avLst>
              <a:gd name="adj" fmla="val 50000"/>
            </a:avLst>
          </a:prstGeom>
          <a:solidFill>
            <a:srgbClr val="E9F5EF"/>
          </a:solidFill>
          <a:ln w="12700">
            <a:solidFill>
              <a:srgbClr val="E9F5EF"/>
            </a:solidFill>
            <a:prstDash val="solid"/>
          </a:ln>
        </p:spPr>
      </p:sp>
      <p:sp>
        <p:nvSpPr>
          <p:cNvPr id="6" name="Text 4"/>
          <p:cNvSpPr txBox="1"/>
          <p:nvPr/>
        </p:nvSpPr>
        <p:spPr>
          <a:xfrm>
            <a:off x="9912096" y="338328"/>
            <a:ext cx="1380744"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2D8A65"/>
                </a:solidFill>
                <a:latin typeface="Aptos" pitchFamily="34" charset="0"/>
                <a:ea typeface="Aptos" pitchFamily="34" charset="-122"/>
                <a:cs typeface="Aptos" pitchFamily="34" charset="-120"/>
              </a:rPr>
              <a:t>DEMONSTRATED</a:t>
            </a:r>
            <a:endParaRPr lang="en-US" sz="920" dirty="0"/>
          </a:p>
        </p:txBody>
      </p:sp>
      <p:sp>
        <p:nvSpPr>
          <p:cNvPr id="7" name="Shape 5"/>
          <p:cNvSpPr/>
          <p:nvPr/>
        </p:nvSpPr>
        <p:spPr>
          <a:xfrm>
            <a:off x="731520" y="1737360"/>
            <a:ext cx="521208" cy="292608"/>
          </a:xfrm>
          <a:prstGeom prst="roundRect">
            <a:avLst>
              <a:gd name="adj" fmla="val 50000"/>
            </a:avLst>
          </a:prstGeom>
          <a:solidFill>
            <a:srgbClr val="007F80"/>
          </a:solidFill>
          <a:ln w="12700">
            <a:solidFill>
              <a:srgbClr val="007F80"/>
            </a:solidFill>
            <a:prstDash val="solid"/>
          </a:ln>
        </p:spPr>
      </p:sp>
      <p:sp>
        <p:nvSpPr>
          <p:cNvPr id="8" name="Text 6"/>
          <p:cNvSpPr txBox="1"/>
          <p:nvPr/>
        </p:nvSpPr>
        <p:spPr>
          <a:xfrm>
            <a:off x="795528" y="1755648"/>
            <a:ext cx="393192"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FFFFFF"/>
                </a:solidFill>
                <a:latin typeface="Aptos" pitchFamily="34" charset="0"/>
                <a:ea typeface="Aptos" pitchFamily="34" charset="-122"/>
                <a:cs typeface="Aptos" pitchFamily="34" charset="-120"/>
              </a:rPr>
              <a:t>01</a:t>
            </a:r>
            <a:endParaRPr lang="en-US" sz="920" dirty="0"/>
          </a:p>
        </p:txBody>
      </p:sp>
      <p:sp>
        <p:nvSpPr>
          <p:cNvPr id="9" name="Text 7"/>
          <p:cNvSpPr txBox="1"/>
          <p:nvPr/>
        </p:nvSpPr>
        <p:spPr>
          <a:xfrm>
            <a:off x="1508760" y="1700784"/>
            <a:ext cx="3822192" cy="356616"/>
          </a:xfrm>
          <a:prstGeom prst="rect">
            <a:avLst/>
          </a:prstGeom>
          <a:noFill/>
          <a:ln/>
        </p:spPr>
        <p:txBody>
          <a:bodyPr wrap="square" lIns="0" tIns="0" rIns="0" bIns="0" rtlCol="0" anchor="ctr">
            <a:normAutofit/>
          </a:bodyPr>
          <a:lstStyle/>
          <a:p>
            <a:pPr algn="l" indent="0" marL="0">
              <a:buNone/>
            </a:pPr>
            <a:r>
              <a:rPr lang="en-US" sz="1610" b="1" dirty="0">
                <a:solidFill>
                  <a:srgbClr val="172033"/>
                </a:solidFill>
                <a:latin typeface="Aptos" pitchFamily="34" charset="0"/>
                <a:ea typeface="Aptos" pitchFamily="34" charset="-122"/>
                <a:cs typeface="Aptos" pitchFamily="34" charset="-120"/>
              </a:rPr>
              <a:t>Review approved Project Meta Context</a:t>
            </a:r>
            <a:endParaRPr lang="en-US" sz="1610" dirty="0"/>
          </a:p>
        </p:txBody>
      </p:sp>
      <p:sp>
        <p:nvSpPr>
          <p:cNvPr id="10" name="Shape 8"/>
          <p:cNvSpPr/>
          <p:nvPr/>
        </p:nvSpPr>
        <p:spPr>
          <a:xfrm>
            <a:off x="5449824" y="1673352"/>
            <a:ext cx="5779008" cy="539496"/>
          </a:xfrm>
          <a:prstGeom prst="roundRect">
            <a:avLst>
              <a:gd name="adj" fmla="val 13559"/>
            </a:avLst>
          </a:prstGeom>
          <a:solidFill>
            <a:srgbClr val="E8F6F5"/>
          </a:solidFill>
          <a:ln w="10160">
            <a:solidFill>
              <a:srgbClr val="B9DDDA"/>
            </a:solidFill>
            <a:prstDash val="solid"/>
          </a:ln>
        </p:spPr>
      </p:sp>
      <p:sp>
        <p:nvSpPr>
          <p:cNvPr id="11" name="Text 9"/>
          <p:cNvSpPr txBox="1"/>
          <p:nvPr/>
        </p:nvSpPr>
        <p:spPr>
          <a:xfrm>
            <a:off x="5715000" y="1755648"/>
            <a:ext cx="5230368" cy="320040"/>
          </a:xfrm>
          <a:prstGeom prst="rect">
            <a:avLst/>
          </a:prstGeom>
          <a:noFill/>
          <a:ln/>
        </p:spPr>
        <p:txBody>
          <a:bodyPr wrap="square" lIns="0" tIns="0" rIns="0" bIns="0" rtlCol="0" anchor="ctr">
            <a:normAutofit/>
          </a:bodyPr>
          <a:lstStyle/>
          <a:p>
            <a:pPr algn="l" indent="0" marL="0">
              <a:buNone/>
            </a:pPr>
            <a:r>
              <a:rPr lang="en-US" sz="1270" dirty="0">
                <a:solidFill>
                  <a:srgbClr val="163454"/>
                </a:solidFill>
                <a:latin typeface="Aptos" pitchFamily="34" charset="0"/>
                <a:ea typeface="Aptos" pitchFamily="34" charset="-122"/>
                <a:cs typeface="Aptos" pitchFamily="34" charset="-120"/>
              </a:rPr>
              <a:t>Approved facts are visible and reusable.</a:t>
            </a:r>
            <a:endParaRPr lang="en-US" sz="1270" dirty="0"/>
          </a:p>
        </p:txBody>
      </p:sp>
      <p:sp>
        <p:nvSpPr>
          <p:cNvPr id="12" name="Shape 10"/>
          <p:cNvSpPr/>
          <p:nvPr/>
        </p:nvSpPr>
        <p:spPr>
          <a:xfrm>
            <a:off x="731520" y="2551176"/>
            <a:ext cx="521208" cy="292608"/>
          </a:xfrm>
          <a:prstGeom prst="roundRect">
            <a:avLst>
              <a:gd name="adj" fmla="val 50000"/>
            </a:avLst>
          </a:prstGeom>
          <a:solidFill>
            <a:srgbClr val="007F80"/>
          </a:solidFill>
          <a:ln w="12700">
            <a:solidFill>
              <a:srgbClr val="007F80"/>
            </a:solidFill>
            <a:prstDash val="solid"/>
          </a:ln>
        </p:spPr>
      </p:sp>
      <p:sp>
        <p:nvSpPr>
          <p:cNvPr id="13" name="Text 11"/>
          <p:cNvSpPr txBox="1"/>
          <p:nvPr/>
        </p:nvSpPr>
        <p:spPr>
          <a:xfrm>
            <a:off x="795528" y="2569464"/>
            <a:ext cx="393192"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FFFFFF"/>
                </a:solidFill>
                <a:latin typeface="Aptos" pitchFamily="34" charset="0"/>
                <a:ea typeface="Aptos" pitchFamily="34" charset="-122"/>
                <a:cs typeface="Aptos" pitchFamily="34" charset="-120"/>
              </a:rPr>
              <a:t>02</a:t>
            </a:r>
            <a:endParaRPr lang="en-US" sz="920" dirty="0"/>
          </a:p>
        </p:txBody>
      </p:sp>
      <p:sp>
        <p:nvSpPr>
          <p:cNvPr id="14" name="Text 12"/>
          <p:cNvSpPr txBox="1"/>
          <p:nvPr/>
        </p:nvSpPr>
        <p:spPr>
          <a:xfrm>
            <a:off x="1508760" y="2514600"/>
            <a:ext cx="3822192" cy="356616"/>
          </a:xfrm>
          <a:prstGeom prst="rect">
            <a:avLst/>
          </a:prstGeom>
          <a:noFill/>
          <a:ln/>
        </p:spPr>
        <p:txBody>
          <a:bodyPr wrap="square" lIns="0" tIns="0" rIns="0" bIns="0" rtlCol="0" anchor="ctr">
            <a:normAutofit/>
          </a:bodyPr>
          <a:lstStyle/>
          <a:p>
            <a:pPr algn="l" indent="0" marL="0">
              <a:buNone/>
            </a:pPr>
            <a:r>
              <a:rPr lang="en-US" sz="1610" b="1" dirty="0">
                <a:solidFill>
                  <a:srgbClr val="172033"/>
                </a:solidFill>
                <a:latin typeface="Aptos" pitchFamily="34" charset="0"/>
                <a:ea typeface="Aptos" pitchFamily="34" charset="-122"/>
                <a:cs typeface="Aptos" pitchFamily="34" charset="-120"/>
              </a:rPr>
              <a:t>Enter structured task details</a:t>
            </a:r>
            <a:endParaRPr lang="en-US" sz="1610" dirty="0"/>
          </a:p>
        </p:txBody>
      </p:sp>
      <p:sp>
        <p:nvSpPr>
          <p:cNvPr id="15" name="Shape 13"/>
          <p:cNvSpPr/>
          <p:nvPr/>
        </p:nvSpPr>
        <p:spPr>
          <a:xfrm>
            <a:off x="5449824" y="2487168"/>
            <a:ext cx="5779008" cy="539496"/>
          </a:xfrm>
          <a:prstGeom prst="roundRect">
            <a:avLst>
              <a:gd name="adj" fmla="val 13559"/>
            </a:avLst>
          </a:prstGeom>
          <a:solidFill>
            <a:srgbClr val="E8F6F5"/>
          </a:solidFill>
          <a:ln w="10160">
            <a:solidFill>
              <a:srgbClr val="B9DDDA"/>
            </a:solidFill>
            <a:prstDash val="solid"/>
          </a:ln>
        </p:spPr>
      </p:sp>
      <p:sp>
        <p:nvSpPr>
          <p:cNvPr id="16" name="Text 14"/>
          <p:cNvSpPr txBox="1"/>
          <p:nvPr/>
        </p:nvSpPr>
        <p:spPr>
          <a:xfrm>
            <a:off x="5715000" y="2569464"/>
            <a:ext cx="5230368" cy="320040"/>
          </a:xfrm>
          <a:prstGeom prst="rect">
            <a:avLst/>
          </a:prstGeom>
          <a:noFill/>
          <a:ln/>
        </p:spPr>
        <p:txBody>
          <a:bodyPr wrap="square" lIns="0" tIns="0" rIns="0" bIns="0" rtlCol="0" anchor="ctr">
            <a:normAutofit/>
          </a:bodyPr>
          <a:lstStyle/>
          <a:p>
            <a:pPr algn="l" indent="0" marL="0">
              <a:buNone/>
            </a:pPr>
            <a:r>
              <a:rPr lang="en-US" sz="1270" dirty="0">
                <a:solidFill>
                  <a:srgbClr val="163454"/>
                </a:solidFill>
                <a:latin typeface="Aptos" pitchFamily="34" charset="0"/>
                <a:ea typeface="Aptos" pitchFamily="34" charset="-122"/>
                <a:cs typeface="Aptos" pitchFamily="34" charset="-120"/>
              </a:rPr>
              <a:t>Assignment, criticality and task intent are explicit.</a:t>
            </a:r>
            <a:endParaRPr lang="en-US" sz="1270" dirty="0"/>
          </a:p>
        </p:txBody>
      </p:sp>
      <p:sp>
        <p:nvSpPr>
          <p:cNvPr id="17" name="Shape 15"/>
          <p:cNvSpPr/>
          <p:nvPr/>
        </p:nvSpPr>
        <p:spPr>
          <a:xfrm>
            <a:off x="731520" y="3364992"/>
            <a:ext cx="521208" cy="292608"/>
          </a:xfrm>
          <a:prstGeom prst="roundRect">
            <a:avLst>
              <a:gd name="adj" fmla="val 50000"/>
            </a:avLst>
          </a:prstGeom>
          <a:solidFill>
            <a:srgbClr val="D9952A"/>
          </a:solidFill>
          <a:ln w="12700">
            <a:solidFill>
              <a:srgbClr val="D9952A"/>
            </a:solidFill>
            <a:prstDash val="solid"/>
          </a:ln>
        </p:spPr>
      </p:sp>
      <p:sp>
        <p:nvSpPr>
          <p:cNvPr id="18" name="Text 16"/>
          <p:cNvSpPr txBox="1"/>
          <p:nvPr/>
        </p:nvSpPr>
        <p:spPr>
          <a:xfrm>
            <a:off x="795528" y="3383280"/>
            <a:ext cx="393192"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FFFFFF"/>
                </a:solidFill>
                <a:latin typeface="Aptos" pitchFamily="34" charset="0"/>
                <a:ea typeface="Aptos" pitchFamily="34" charset="-122"/>
                <a:cs typeface="Aptos" pitchFamily="34" charset="-120"/>
              </a:rPr>
              <a:t>03</a:t>
            </a:r>
            <a:endParaRPr lang="en-US" sz="920" dirty="0"/>
          </a:p>
        </p:txBody>
      </p:sp>
      <p:sp>
        <p:nvSpPr>
          <p:cNvPr id="19" name="Text 17"/>
          <p:cNvSpPr txBox="1"/>
          <p:nvPr/>
        </p:nvSpPr>
        <p:spPr>
          <a:xfrm>
            <a:off x="1508760" y="3328416"/>
            <a:ext cx="3822192" cy="356616"/>
          </a:xfrm>
          <a:prstGeom prst="rect">
            <a:avLst/>
          </a:prstGeom>
          <a:noFill/>
          <a:ln/>
        </p:spPr>
        <p:txBody>
          <a:bodyPr wrap="square" lIns="0" tIns="0" rIns="0" bIns="0" rtlCol="0" anchor="ctr">
            <a:normAutofit/>
          </a:bodyPr>
          <a:lstStyle/>
          <a:p>
            <a:pPr algn="l" indent="0" marL="0">
              <a:buNone/>
            </a:pPr>
            <a:r>
              <a:rPr lang="en-US" sz="1610" b="1" dirty="0">
                <a:solidFill>
                  <a:srgbClr val="172033"/>
                </a:solidFill>
                <a:latin typeface="Aptos" pitchFamily="34" charset="0"/>
                <a:ea typeface="Aptos" pitchFamily="34" charset="-122"/>
                <a:cs typeface="Aptos" pitchFamily="34" charset="-120"/>
              </a:rPr>
              <a:t>Inspect sources, assumptions and material gaps</a:t>
            </a:r>
            <a:endParaRPr lang="en-US" sz="1610" dirty="0"/>
          </a:p>
        </p:txBody>
      </p:sp>
      <p:sp>
        <p:nvSpPr>
          <p:cNvPr id="20" name="Shape 18"/>
          <p:cNvSpPr/>
          <p:nvPr/>
        </p:nvSpPr>
        <p:spPr>
          <a:xfrm>
            <a:off x="5449824" y="3300984"/>
            <a:ext cx="5779008" cy="539496"/>
          </a:xfrm>
          <a:prstGeom prst="roundRect">
            <a:avLst>
              <a:gd name="adj" fmla="val 13559"/>
            </a:avLst>
          </a:prstGeom>
          <a:solidFill>
            <a:srgbClr val="FFF3DE"/>
          </a:solidFill>
          <a:ln w="10160">
            <a:solidFill>
              <a:srgbClr val="F0D39D"/>
            </a:solidFill>
            <a:prstDash val="solid"/>
          </a:ln>
        </p:spPr>
      </p:sp>
      <p:sp>
        <p:nvSpPr>
          <p:cNvPr id="21" name="Text 19"/>
          <p:cNvSpPr txBox="1"/>
          <p:nvPr/>
        </p:nvSpPr>
        <p:spPr>
          <a:xfrm>
            <a:off x="5715000" y="3383280"/>
            <a:ext cx="5230368" cy="320040"/>
          </a:xfrm>
          <a:prstGeom prst="rect">
            <a:avLst/>
          </a:prstGeom>
          <a:noFill/>
          <a:ln/>
        </p:spPr>
        <p:txBody>
          <a:bodyPr wrap="square" lIns="0" tIns="0" rIns="0" bIns="0" rtlCol="0" anchor="ctr">
            <a:normAutofit/>
          </a:bodyPr>
          <a:lstStyle/>
          <a:p>
            <a:pPr algn="l" indent="0" marL="0">
              <a:buNone/>
            </a:pPr>
            <a:r>
              <a:rPr lang="en-US" sz="1270" b="1" dirty="0">
                <a:solidFill>
                  <a:srgbClr val="70440B"/>
                </a:solidFill>
                <a:latin typeface="Aptos" pitchFamily="34" charset="0"/>
                <a:ea typeface="Aptos" pitchFamily="34" charset="-122"/>
                <a:cs typeface="Aptos" pitchFamily="34" charset="-120"/>
              </a:rPr>
              <a:t>The product shows what it knows and where uncertainty remains.</a:t>
            </a:r>
            <a:endParaRPr lang="en-US" sz="1270" dirty="0"/>
          </a:p>
        </p:txBody>
      </p:sp>
      <p:sp>
        <p:nvSpPr>
          <p:cNvPr id="22" name="Shape 20"/>
          <p:cNvSpPr/>
          <p:nvPr/>
        </p:nvSpPr>
        <p:spPr>
          <a:xfrm>
            <a:off x="731520" y="4178808"/>
            <a:ext cx="521208" cy="292608"/>
          </a:xfrm>
          <a:prstGeom prst="roundRect">
            <a:avLst>
              <a:gd name="adj" fmla="val 50000"/>
            </a:avLst>
          </a:prstGeom>
          <a:solidFill>
            <a:srgbClr val="007F80"/>
          </a:solidFill>
          <a:ln w="12700">
            <a:solidFill>
              <a:srgbClr val="007F80"/>
            </a:solidFill>
            <a:prstDash val="solid"/>
          </a:ln>
        </p:spPr>
      </p:sp>
      <p:sp>
        <p:nvSpPr>
          <p:cNvPr id="23" name="Text 21"/>
          <p:cNvSpPr txBox="1"/>
          <p:nvPr/>
        </p:nvSpPr>
        <p:spPr>
          <a:xfrm>
            <a:off x="795528" y="4197096"/>
            <a:ext cx="393192"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FFFFFF"/>
                </a:solidFill>
                <a:latin typeface="Aptos" pitchFamily="34" charset="0"/>
                <a:ea typeface="Aptos" pitchFamily="34" charset="-122"/>
                <a:cs typeface="Aptos" pitchFamily="34" charset="-120"/>
              </a:rPr>
              <a:t>04</a:t>
            </a:r>
            <a:endParaRPr lang="en-US" sz="920" dirty="0"/>
          </a:p>
        </p:txBody>
      </p:sp>
      <p:sp>
        <p:nvSpPr>
          <p:cNvPr id="24" name="Text 22"/>
          <p:cNvSpPr txBox="1"/>
          <p:nvPr/>
        </p:nvSpPr>
        <p:spPr>
          <a:xfrm>
            <a:off x="1508760" y="4142232"/>
            <a:ext cx="3822192" cy="356616"/>
          </a:xfrm>
          <a:prstGeom prst="rect">
            <a:avLst/>
          </a:prstGeom>
          <a:noFill/>
          <a:ln/>
        </p:spPr>
        <p:txBody>
          <a:bodyPr wrap="square" lIns="0" tIns="0" rIns="0" bIns="0" rtlCol="0" anchor="ctr">
            <a:normAutofit/>
          </a:bodyPr>
          <a:lstStyle/>
          <a:p>
            <a:pPr algn="l" indent="0" marL="0">
              <a:buNone/>
            </a:pPr>
            <a:r>
              <a:rPr lang="en-US" sz="1610" b="1" dirty="0">
                <a:solidFill>
                  <a:srgbClr val="172033"/>
                </a:solidFill>
                <a:latin typeface="Aptos" pitchFamily="34" charset="0"/>
                <a:ea typeface="Aptos" pitchFamily="34" charset="-122"/>
                <a:cs typeface="Aptos" pitchFamily="34" charset="-120"/>
              </a:rPr>
              <a:t>Review and save the local result</a:t>
            </a:r>
            <a:endParaRPr lang="en-US" sz="1610" dirty="0"/>
          </a:p>
        </p:txBody>
      </p:sp>
      <p:sp>
        <p:nvSpPr>
          <p:cNvPr id="25" name="Shape 23"/>
          <p:cNvSpPr/>
          <p:nvPr/>
        </p:nvSpPr>
        <p:spPr>
          <a:xfrm>
            <a:off x="5449824" y="4114800"/>
            <a:ext cx="5779008" cy="539496"/>
          </a:xfrm>
          <a:prstGeom prst="roundRect">
            <a:avLst>
              <a:gd name="adj" fmla="val 13559"/>
            </a:avLst>
          </a:prstGeom>
          <a:solidFill>
            <a:srgbClr val="E8F6F5"/>
          </a:solidFill>
          <a:ln w="10160">
            <a:solidFill>
              <a:srgbClr val="B9DDDA"/>
            </a:solidFill>
            <a:prstDash val="solid"/>
          </a:ln>
        </p:spPr>
      </p:sp>
      <p:sp>
        <p:nvSpPr>
          <p:cNvPr id="26" name="Text 24"/>
          <p:cNvSpPr txBox="1"/>
          <p:nvPr/>
        </p:nvSpPr>
        <p:spPr>
          <a:xfrm>
            <a:off x="5715000" y="4197096"/>
            <a:ext cx="5230368" cy="320040"/>
          </a:xfrm>
          <a:prstGeom prst="rect">
            <a:avLst/>
          </a:prstGeom>
          <a:noFill/>
          <a:ln/>
        </p:spPr>
        <p:txBody>
          <a:bodyPr wrap="square" lIns="0" tIns="0" rIns="0" bIns="0" rtlCol="0" anchor="ctr">
            <a:normAutofit/>
          </a:bodyPr>
          <a:lstStyle/>
          <a:p>
            <a:pPr algn="l" indent="0" marL="0">
              <a:buNone/>
            </a:pPr>
            <a:r>
              <a:rPr lang="en-US" sz="1270" dirty="0">
                <a:solidFill>
                  <a:srgbClr val="163454"/>
                </a:solidFill>
                <a:latin typeface="Aptos" pitchFamily="34" charset="0"/>
                <a:ea typeface="Aptos" pitchFamily="34" charset="-122"/>
                <a:cs typeface="Aptos" pitchFamily="34" charset="-120"/>
              </a:rPr>
              <a:t>The outcome is inspectable and remains under developer approval.</a:t>
            </a:r>
            <a:endParaRPr lang="en-US" sz="1270" dirty="0"/>
          </a:p>
        </p:txBody>
      </p:sp>
      <p:sp>
        <p:nvSpPr>
          <p:cNvPr id="27" name="Shape 25"/>
          <p:cNvSpPr/>
          <p:nvPr/>
        </p:nvSpPr>
        <p:spPr>
          <a:xfrm>
            <a:off x="731520" y="4992624"/>
            <a:ext cx="521208" cy="292608"/>
          </a:xfrm>
          <a:prstGeom prst="roundRect">
            <a:avLst>
              <a:gd name="adj" fmla="val 50000"/>
            </a:avLst>
          </a:prstGeom>
          <a:solidFill>
            <a:srgbClr val="007F80"/>
          </a:solidFill>
          <a:ln w="12700">
            <a:solidFill>
              <a:srgbClr val="007F80"/>
            </a:solidFill>
            <a:prstDash val="solid"/>
          </a:ln>
        </p:spPr>
      </p:sp>
      <p:sp>
        <p:nvSpPr>
          <p:cNvPr id="28" name="Text 26"/>
          <p:cNvSpPr txBox="1"/>
          <p:nvPr/>
        </p:nvSpPr>
        <p:spPr>
          <a:xfrm>
            <a:off x="795528" y="5010912"/>
            <a:ext cx="393192"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FFFFFF"/>
                </a:solidFill>
                <a:latin typeface="Aptos" pitchFamily="34" charset="0"/>
                <a:ea typeface="Aptos" pitchFamily="34" charset="-122"/>
                <a:cs typeface="Aptos" pitchFamily="34" charset="-120"/>
              </a:rPr>
              <a:t>05</a:t>
            </a:r>
            <a:endParaRPr lang="en-US" sz="920" dirty="0"/>
          </a:p>
        </p:txBody>
      </p:sp>
      <p:sp>
        <p:nvSpPr>
          <p:cNvPr id="29" name="Text 27"/>
          <p:cNvSpPr txBox="1"/>
          <p:nvPr/>
        </p:nvSpPr>
        <p:spPr>
          <a:xfrm>
            <a:off x="1508760" y="4956048"/>
            <a:ext cx="3822192" cy="356616"/>
          </a:xfrm>
          <a:prstGeom prst="rect">
            <a:avLst/>
          </a:prstGeom>
          <a:noFill/>
          <a:ln/>
        </p:spPr>
        <p:txBody>
          <a:bodyPr wrap="square" lIns="0" tIns="0" rIns="0" bIns="0" rtlCol="0" anchor="ctr">
            <a:normAutofit/>
          </a:bodyPr>
          <a:lstStyle/>
          <a:p>
            <a:pPr algn="l" indent="0" marL="0">
              <a:buNone/>
            </a:pPr>
            <a:r>
              <a:rPr lang="en-US" sz="1610" b="1" dirty="0">
                <a:solidFill>
                  <a:srgbClr val="172033"/>
                </a:solidFill>
                <a:latin typeface="Aptos" pitchFamily="34" charset="0"/>
                <a:ea typeface="Aptos" pitchFamily="34" charset="-122"/>
                <a:cs typeface="Aptos" pitchFamily="34" charset="-120"/>
              </a:rPr>
              <a:t>Reset optimizer work safely</a:t>
            </a:r>
            <a:endParaRPr lang="en-US" sz="1610" dirty="0"/>
          </a:p>
        </p:txBody>
      </p:sp>
      <p:sp>
        <p:nvSpPr>
          <p:cNvPr id="30" name="Shape 28"/>
          <p:cNvSpPr/>
          <p:nvPr/>
        </p:nvSpPr>
        <p:spPr>
          <a:xfrm>
            <a:off x="5449824" y="4928616"/>
            <a:ext cx="5779008" cy="539496"/>
          </a:xfrm>
          <a:prstGeom prst="roundRect">
            <a:avLst>
              <a:gd name="adj" fmla="val 13559"/>
            </a:avLst>
          </a:prstGeom>
          <a:solidFill>
            <a:srgbClr val="E8F6F5"/>
          </a:solidFill>
          <a:ln w="10160">
            <a:solidFill>
              <a:srgbClr val="B9DDDA"/>
            </a:solidFill>
            <a:prstDash val="solid"/>
          </a:ln>
        </p:spPr>
      </p:sp>
      <p:sp>
        <p:nvSpPr>
          <p:cNvPr id="31" name="Text 29"/>
          <p:cNvSpPr txBox="1"/>
          <p:nvPr/>
        </p:nvSpPr>
        <p:spPr>
          <a:xfrm>
            <a:off x="5715000" y="5010912"/>
            <a:ext cx="5230368" cy="320040"/>
          </a:xfrm>
          <a:prstGeom prst="rect">
            <a:avLst/>
          </a:prstGeom>
          <a:noFill/>
          <a:ln/>
        </p:spPr>
        <p:txBody>
          <a:bodyPr wrap="square" lIns="0" tIns="0" rIns="0" bIns="0" rtlCol="0" anchor="ctr">
            <a:normAutofit/>
          </a:bodyPr>
          <a:lstStyle/>
          <a:p>
            <a:pPr algn="l" indent="0" marL="0">
              <a:buNone/>
            </a:pPr>
            <a:r>
              <a:rPr lang="en-US" sz="1270" dirty="0">
                <a:solidFill>
                  <a:srgbClr val="163454"/>
                </a:solidFill>
                <a:latin typeface="Aptos" pitchFamily="34" charset="0"/>
                <a:ea typeface="Aptos" pitchFamily="34" charset="-122"/>
                <a:cs typeface="Aptos" pitchFamily="34" charset="-120"/>
              </a:rPr>
              <a:t>Approved project knowledge is deliberately retained.</a:t>
            </a:r>
            <a:endParaRPr lang="en-US" sz="1270" dirty="0"/>
          </a:p>
        </p:txBody>
      </p:sp>
      <p:sp>
        <p:nvSpPr>
          <p:cNvPr id="32" name="Shape 30"/>
          <p:cNvSpPr/>
          <p:nvPr/>
        </p:nvSpPr>
        <p:spPr>
          <a:xfrm>
            <a:off x="640080" y="5843016"/>
            <a:ext cx="10991088" cy="384048"/>
          </a:xfrm>
          <a:prstGeom prst="roundRect">
            <a:avLst>
              <a:gd name="adj" fmla="val 19048"/>
            </a:avLst>
          </a:prstGeom>
          <a:solidFill>
            <a:srgbClr val="163454"/>
          </a:solidFill>
          <a:ln w="10160">
            <a:solidFill>
              <a:srgbClr val="163454"/>
            </a:solidFill>
            <a:prstDash val="solid"/>
          </a:ln>
        </p:spPr>
      </p:sp>
      <p:sp>
        <p:nvSpPr>
          <p:cNvPr id="33" name="Text 31"/>
          <p:cNvSpPr txBox="1"/>
          <p:nvPr/>
        </p:nvSpPr>
        <p:spPr>
          <a:xfrm>
            <a:off x="896112" y="5916168"/>
            <a:ext cx="10469880" cy="228600"/>
          </a:xfrm>
          <a:prstGeom prst="rect">
            <a:avLst/>
          </a:prstGeom>
          <a:noFill/>
          <a:ln/>
        </p:spPr>
        <p:txBody>
          <a:bodyPr wrap="square" lIns="0" tIns="0" rIns="0" bIns="0" rtlCol="0" anchor="ctr">
            <a:normAutofit/>
          </a:bodyPr>
          <a:lstStyle/>
          <a:p>
            <a:pPr algn="ctr" indent="0" marL="0">
              <a:buNone/>
            </a:pPr>
            <a:r>
              <a:rPr lang="en-US" sz="1280" b="1" dirty="0">
                <a:solidFill>
                  <a:srgbClr val="FFFFFF"/>
                </a:solidFill>
                <a:latin typeface="Aptos" pitchFamily="34" charset="0"/>
                <a:ea typeface="Aptos" pitchFamily="34" charset="-122"/>
                <a:cs typeface="Aptos" pitchFamily="34" charset="-120"/>
              </a:rPr>
              <a:t>Demo boundary: material gaps are visible; the one-at-a-time answer and application flow is not yet complete.</a:t>
            </a:r>
            <a:endParaRPr lang="en-US" sz="1280" dirty="0"/>
          </a:p>
        </p:txBody>
      </p:sp>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03504" y="310896"/>
            <a:ext cx="5120640" cy="219456"/>
          </a:xfrm>
          <a:prstGeom prst="rect">
            <a:avLst/>
          </a:prstGeom>
          <a:noFill/>
          <a:ln/>
        </p:spPr>
        <p:txBody>
          <a:bodyPr wrap="square" lIns="0" tIns="0" rIns="0" bIns="0" rtlCol="0" anchor="ctr">
            <a:normAutofit/>
          </a:bodyPr>
          <a:lstStyle/>
          <a:p>
            <a:pPr algn="l" indent="0" marL="0">
              <a:buNone/>
            </a:pPr>
            <a:r>
              <a:rPr lang="en-US" sz="950" b="1" spc="120" kern="0" dirty="0">
                <a:solidFill>
                  <a:srgbClr val="007F80"/>
                </a:solidFill>
                <a:latin typeface="Aptos" pitchFamily="34" charset="0"/>
                <a:ea typeface="Aptos" pitchFamily="34" charset="-122"/>
                <a:cs typeface="Aptos" pitchFamily="34" charset="-120"/>
              </a:rPr>
              <a:t>FUTURE OPERATING DIRECTION</a:t>
            </a:r>
            <a:endParaRPr lang="en-US" sz="950" dirty="0"/>
          </a:p>
        </p:txBody>
      </p:sp>
      <p:sp>
        <p:nvSpPr>
          <p:cNvPr id="3" name="Text 1"/>
          <p:cNvSpPr txBox="1"/>
          <p:nvPr/>
        </p:nvSpPr>
        <p:spPr>
          <a:xfrm>
            <a:off x="603504" y="603504"/>
            <a:ext cx="10972800" cy="548640"/>
          </a:xfrm>
          <a:prstGeom prst="rect">
            <a:avLst/>
          </a:prstGeom>
          <a:noFill/>
          <a:ln/>
        </p:spPr>
        <p:txBody>
          <a:bodyPr wrap="square" lIns="0" tIns="0" rIns="0" bIns="0" rtlCol="0" anchor="ctr">
            <a:normAutofit/>
          </a:bodyPr>
          <a:lstStyle/>
          <a:p>
            <a:pPr algn="l" indent="0" marL="0">
              <a:buNone/>
            </a:pPr>
            <a:r>
              <a:rPr lang="en-US" sz="2750" b="1" dirty="0">
                <a:solidFill>
                  <a:srgbClr val="172033"/>
                </a:solidFill>
                <a:latin typeface="Aptos" pitchFamily="34" charset="0"/>
                <a:ea typeface="Aptos" pitchFamily="34" charset="-122"/>
                <a:cs typeface="Aptos" pitchFamily="34" charset="-120"/>
              </a:rPr>
              <a:t>Connect work priority, bounded resources and outcome learning</a:t>
            </a:r>
            <a:endParaRPr lang="en-US" sz="2750" dirty="0"/>
          </a:p>
        </p:txBody>
      </p:sp>
      <p:sp>
        <p:nvSpPr>
          <p:cNvPr id="4" name="Text 2"/>
          <p:cNvSpPr txBox="1"/>
          <p:nvPr/>
        </p:nvSpPr>
        <p:spPr>
          <a:xfrm>
            <a:off x="603504" y="1170432"/>
            <a:ext cx="10927080" cy="365760"/>
          </a:xfrm>
          <a:prstGeom prst="rect">
            <a:avLst/>
          </a:prstGeom>
          <a:noFill/>
          <a:ln/>
        </p:spPr>
        <p:txBody>
          <a:bodyPr wrap="square" lIns="0" tIns="0" rIns="0" bIns="0" rtlCol="0" anchor="ctr">
            <a:normAutofit/>
          </a:bodyPr>
          <a:lstStyle/>
          <a:p>
            <a:pPr algn="l" indent="0" marL="0">
              <a:buNone/>
            </a:pPr>
            <a:r>
              <a:rPr lang="en-US" sz="1350" dirty="0">
                <a:solidFill>
                  <a:srgbClr val="667085"/>
                </a:solidFill>
                <a:latin typeface="Aptos" pitchFamily="34" charset="0"/>
                <a:ea typeface="Aptos" pitchFamily="34" charset="-122"/>
                <a:cs typeface="Aptos" pitchFamily="34" charset="-120"/>
              </a:rPr>
              <a:t>After the baseline is stable, optional adapters could extend the current interaction contract into a governed operating loop.</a:t>
            </a:r>
            <a:endParaRPr lang="en-US" sz="1350" dirty="0"/>
          </a:p>
        </p:txBody>
      </p:sp>
      <p:sp>
        <p:nvSpPr>
          <p:cNvPr id="5" name="Shape 3"/>
          <p:cNvSpPr/>
          <p:nvPr/>
        </p:nvSpPr>
        <p:spPr>
          <a:xfrm>
            <a:off x="8970264" y="320040"/>
            <a:ext cx="2395728" cy="292608"/>
          </a:xfrm>
          <a:prstGeom prst="roundRect">
            <a:avLst>
              <a:gd name="adj" fmla="val 50000"/>
            </a:avLst>
          </a:prstGeom>
          <a:solidFill>
            <a:srgbClr val="FFF3DE"/>
          </a:solidFill>
          <a:ln w="12700">
            <a:solidFill>
              <a:srgbClr val="FFF3DE"/>
            </a:solidFill>
            <a:prstDash val="solid"/>
          </a:ln>
        </p:spPr>
      </p:sp>
      <p:sp>
        <p:nvSpPr>
          <p:cNvPr id="6" name="Text 4"/>
          <p:cNvSpPr txBox="1"/>
          <p:nvPr/>
        </p:nvSpPr>
        <p:spPr>
          <a:xfrm>
            <a:off x="9034272" y="338328"/>
            <a:ext cx="2267712"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82530D"/>
                </a:solidFill>
                <a:latin typeface="Aptos" pitchFamily="34" charset="0"/>
                <a:ea typeface="Aptos" pitchFamily="34" charset="-122"/>
                <a:cs typeface="Aptos" pitchFamily="34" charset="-120"/>
              </a:rPr>
              <a:t>PROPOSED — NOT IMPLEMENTED</a:t>
            </a:r>
            <a:endParaRPr lang="en-US" sz="920" dirty="0"/>
          </a:p>
        </p:txBody>
      </p:sp>
      <p:sp>
        <p:nvSpPr>
          <p:cNvPr id="7" name="Shape 5"/>
          <p:cNvSpPr/>
          <p:nvPr/>
        </p:nvSpPr>
        <p:spPr>
          <a:xfrm>
            <a:off x="448056" y="2011680"/>
            <a:ext cx="1810512" cy="2496312"/>
          </a:xfrm>
          <a:prstGeom prst="roundRect">
            <a:avLst>
              <a:gd name="adj" fmla="val 4040"/>
            </a:avLst>
          </a:prstGeom>
          <a:solidFill>
            <a:srgbClr val="FFFFFF"/>
          </a:solidFill>
          <a:ln w="10160">
            <a:solidFill>
              <a:srgbClr val="D8DEE7"/>
            </a:solidFill>
            <a:prstDash val="solid"/>
          </a:ln>
        </p:spPr>
      </p:sp>
      <p:sp>
        <p:nvSpPr>
          <p:cNvPr id="8" name="Text 6"/>
          <p:cNvSpPr txBox="1"/>
          <p:nvPr/>
        </p:nvSpPr>
        <p:spPr>
          <a:xfrm>
            <a:off x="603504" y="2240280"/>
            <a:ext cx="1499616" cy="182880"/>
          </a:xfrm>
          <a:prstGeom prst="rect">
            <a:avLst/>
          </a:prstGeom>
          <a:noFill/>
          <a:ln/>
        </p:spPr>
        <p:txBody>
          <a:bodyPr wrap="square" lIns="0" tIns="0" rIns="0" bIns="0" rtlCol="0" anchor="ctr">
            <a:normAutofit/>
          </a:bodyPr>
          <a:lstStyle/>
          <a:p>
            <a:pPr algn="ctr" indent="0" marL="0">
              <a:buNone/>
            </a:pPr>
            <a:r>
              <a:rPr lang="en-US" sz="820" b="1" spc="70" kern="0" dirty="0">
                <a:solidFill>
                  <a:srgbClr val="007F80"/>
                </a:solidFill>
                <a:latin typeface="Aptos" pitchFamily="34" charset="0"/>
                <a:ea typeface="Aptos" pitchFamily="34" charset="-122"/>
                <a:cs typeface="Aptos" pitchFamily="34" charset="-120"/>
              </a:rPr>
              <a:t>PMS SIGNAL</a:t>
            </a:r>
            <a:endParaRPr lang="en-US" sz="820" dirty="0"/>
          </a:p>
        </p:txBody>
      </p:sp>
      <p:sp>
        <p:nvSpPr>
          <p:cNvPr id="9" name="Text 7"/>
          <p:cNvSpPr txBox="1"/>
          <p:nvPr/>
        </p:nvSpPr>
        <p:spPr>
          <a:xfrm>
            <a:off x="603504" y="2670048"/>
            <a:ext cx="1499616" cy="411480"/>
          </a:xfrm>
          <a:prstGeom prst="rect">
            <a:avLst/>
          </a:prstGeom>
          <a:noFill/>
          <a:ln/>
        </p:spPr>
        <p:txBody>
          <a:bodyPr wrap="square" lIns="0" tIns="0" rIns="0" bIns="0" rtlCol="0" anchor="ctr">
            <a:normAutofit/>
          </a:bodyPr>
          <a:lstStyle/>
          <a:p>
            <a:pPr algn="ctr" indent="0" marL="0">
              <a:buNone/>
            </a:pPr>
            <a:r>
              <a:rPr lang="en-US" sz="1630" b="1" dirty="0">
                <a:solidFill>
                  <a:srgbClr val="172033"/>
                </a:solidFill>
                <a:latin typeface="Aptos" pitchFamily="34" charset="0"/>
                <a:ea typeface="Aptos" pitchFamily="34" charset="-122"/>
                <a:cs typeface="Aptos" pitchFamily="34" charset="-120"/>
              </a:rPr>
              <a:t>Sprint / task</a:t>
            </a:r>
            <a:endParaRPr lang="en-US" sz="1630" dirty="0"/>
          </a:p>
        </p:txBody>
      </p:sp>
      <p:sp>
        <p:nvSpPr>
          <p:cNvPr id="10" name="Text 8"/>
          <p:cNvSpPr txBox="1"/>
          <p:nvPr/>
        </p:nvSpPr>
        <p:spPr>
          <a:xfrm>
            <a:off x="603504" y="3291840"/>
            <a:ext cx="1499616" cy="713232"/>
          </a:xfrm>
          <a:prstGeom prst="rect">
            <a:avLst/>
          </a:prstGeom>
          <a:noFill/>
          <a:ln/>
        </p:spPr>
        <p:txBody>
          <a:bodyPr wrap="square" lIns="0" tIns="0" rIns="0" bIns="0" rtlCol="0" anchor="t">
            <a:normAutofit/>
          </a:bodyPr>
          <a:lstStyle/>
          <a:p>
            <a:pPr algn="ctr" indent="0" marL="0">
              <a:buNone/>
            </a:pPr>
            <a:r>
              <a:rPr lang="en-US" sz="1080" dirty="0">
                <a:solidFill>
                  <a:srgbClr val="667085"/>
                </a:solidFill>
                <a:latin typeface="Aptos" pitchFamily="34" charset="0"/>
                <a:ea typeface="Aptos" pitchFamily="34" charset="-122"/>
                <a:cs typeface="Aptos" pitchFamily="34" charset="-120"/>
              </a:rPr>
              <a:t>Priority, type, risk and delivery window</a:t>
            </a:r>
            <a:endParaRPr lang="en-US" sz="1080" dirty="0"/>
          </a:p>
        </p:txBody>
      </p:sp>
      <p:sp>
        <p:nvSpPr>
          <p:cNvPr id="11" name="Shape 9"/>
          <p:cNvSpPr/>
          <p:nvPr/>
        </p:nvSpPr>
        <p:spPr>
          <a:xfrm>
            <a:off x="2295144" y="2999232"/>
            <a:ext cx="228600" cy="301752"/>
          </a:xfrm>
          <a:prstGeom prst="chevron">
            <a:avLst/>
          </a:prstGeom>
          <a:solidFill>
            <a:srgbClr val="BAC6D2"/>
          </a:solidFill>
          <a:ln w="12700">
            <a:solidFill>
              <a:srgbClr val="BAC6D2"/>
            </a:solidFill>
            <a:prstDash val="solid"/>
          </a:ln>
        </p:spPr>
      </p:sp>
      <p:sp>
        <p:nvSpPr>
          <p:cNvPr id="12" name="Shape 10"/>
          <p:cNvSpPr/>
          <p:nvPr/>
        </p:nvSpPr>
        <p:spPr>
          <a:xfrm>
            <a:off x="2560320" y="2011680"/>
            <a:ext cx="1810512" cy="2496312"/>
          </a:xfrm>
          <a:prstGeom prst="roundRect">
            <a:avLst>
              <a:gd name="adj" fmla="val 4040"/>
            </a:avLst>
          </a:prstGeom>
          <a:solidFill>
            <a:srgbClr val="FFF3DE"/>
          </a:solidFill>
          <a:ln w="10160">
            <a:solidFill>
              <a:srgbClr val="F0D39D"/>
            </a:solidFill>
            <a:prstDash val="solid"/>
          </a:ln>
        </p:spPr>
      </p:sp>
      <p:sp>
        <p:nvSpPr>
          <p:cNvPr id="13" name="Text 11"/>
          <p:cNvSpPr txBox="1"/>
          <p:nvPr/>
        </p:nvSpPr>
        <p:spPr>
          <a:xfrm>
            <a:off x="2715768" y="2240280"/>
            <a:ext cx="1499616" cy="182880"/>
          </a:xfrm>
          <a:prstGeom prst="rect">
            <a:avLst/>
          </a:prstGeom>
          <a:noFill/>
          <a:ln/>
        </p:spPr>
        <p:txBody>
          <a:bodyPr wrap="square" lIns="0" tIns="0" rIns="0" bIns="0" rtlCol="0" anchor="ctr">
            <a:normAutofit/>
          </a:bodyPr>
          <a:lstStyle/>
          <a:p>
            <a:pPr algn="ctr" indent="0" marL="0">
              <a:buNone/>
            </a:pPr>
            <a:r>
              <a:rPr lang="en-US" sz="820" b="1" spc="70" kern="0" dirty="0">
                <a:solidFill>
                  <a:srgbClr val="82530D"/>
                </a:solidFill>
                <a:latin typeface="Aptos" pitchFamily="34" charset="0"/>
                <a:ea typeface="Aptos" pitchFamily="34" charset="-122"/>
                <a:cs typeface="Aptos" pitchFamily="34" charset="-120"/>
              </a:rPr>
              <a:t>POLICY</a:t>
            </a:r>
            <a:endParaRPr lang="en-US" sz="820" dirty="0"/>
          </a:p>
        </p:txBody>
      </p:sp>
      <p:sp>
        <p:nvSpPr>
          <p:cNvPr id="14" name="Text 12"/>
          <p:cNvSpPr txBox="1"/>
          <p:nvPr/>
        </p:nvSpPr>
        <p:spPr>
          <a:xfrm>
            <a:off x="2715768" y="2670048"/>
            <a:ext cx="1499616" cy="411480"/>
          </a:xfrm>
          <a:prstGeom prst="rect">
            <a:avLst/>
          </a:prstGeom>
          <a:noFill/>
          <a:ln/>
        </p:spPr>
        <p:txBody>
          <a:bodyPr wrap="square" lIns="0" tIns="0" rIns="0" bIns="0" rtlCol="0" anchor="ctr">
            <a:normAutofit/>
          </a:bodyPr>
          <a:lstStyle/>
          <a:p>
            <a:pPr algn="ctr" indent="0" marL="0">
              <a:buNone/>
            </a:pPr>
            <a:r>
              <a:rPr lang="en-US" sz="1630" b="1" dirty="0">
                <a:solidFill>
                  <a:srgbClr val="172033"/>
                </a:solidFill>
                <a:latin typeface="Aptos" pitchFamily="34" charset="0"/>
                <a:ea typeface="Aptos" pitchFamily="34" charset="-122"/>
                <a:cs typeface="Aptos" pitchFamily="34" charset="-120"/>
              </a:rPr>
              <a:t>Budget envelope</a:t>
            </a:r>
            <a:endParaRPr lang="en-US" sz="1630" dirty="0"/>
          </a:p>
        </p:txBody>
      </p:sp>
      <p:sp>
        <p:nvSpPr>
          <p:cNvPr id="15" name="Text 13"/>
          <p:cNvSpPr txBox="1"/>
          <p:nvPr/>
        </p:nvSpPr>
        <p:spPr>
          <a:xfrm>
            <a:off x="2715768" y="3291840"/>
            <a:ext cx="1499616" cy="713232"/>
          </a:xfrm>
          <a:prstGeom prst="rect">
            <a:avLst/>
          </a:prstGeom>
          <a:noFill/>
          <a:ln/>
        </p:spPr>
        <p:txBody>
          <a:bodyPr wrap="square" lIns="0" tIns="0" rIns="0" bIns="0" rtlCol="0" anchor="t">
            <a:normAutofit/>
          </a:bodyPr>
          <a:lstStyle/>
          <a:p>
            <a:pPr algn="ctr" indent="0" marL="0">
              <a:buNone/>
            </a:pPr>
            <a:r>
              <a:rPr lang="en-US" sz="1080" dirty="0">
                <a:solidFill>
                  <a:srgbClr val="667085"/>
                </a:solidFill>
                <a:latin typeface="Aptos" pitchFamily="34" charset="0"/>
                <a:ea typeface="Aptos" pitchFamily="34" charset="-122"/>
                <a:cs typeface="Aptos" pitchFamily="34" charset="-120"/>
              </a:rPr>
              <a:t>A capped parameter with hard precedence</a:t>
            </a:r>
            <a:endParaRPr lang="en-US" sz="1080" dirty="0"/>
          </a:p>
        </p:txBody>
      </p:sp>
      <p:sp>
        <p:nvSpPr>
          <p:cNvPr id="16" name="Shape 14"/>
          <p:cNvSpPr/>
          <p:nvPr/>
        </p:nvSpPr>
        <p:spPr>
          <a:xfrm>
            <a:off x="4407408" y="2999232"/>
            <a:ext cx="228600" cy="301752"/>
          </a:xfrm>
          <a:prstGeom prst="chevron">
            <a:avLst/>
          </a:prstGeom>
          <a:solidFill>
            <a:srgbClr val="BAC6D2"/>
          </a:solidFill>
          <a:ln w="12700">
            <a:solidFill>
              <a:srgbClr val="BAC6D2"/>
            </a:solidFill>
            <a:prstDash val="solid"/>
          </a:ln>
        </p:spPr>
      </p:sp>
      <p:sp>
        <p:nvSpPr>
          <p:cNvPr id="17" name="Shape 15"/>
          <p:cNvSpPr/>
          <p:nvPr/>
        </p:nvSpPr>
        <p:spPr>
          <a:xfrm>
            <a:off x="4672584" y="2011680"/>
            <a:ext cx="1810512" cy="2496312"/>
          </a:xfrm>
          <a:prstGeom prst="roundRect">
            <a:avLst>
              <a:gd name="adj" fmla="val 4040"/>
            </a:avLst>
          </a:prstGeom>
          <a:solidFill>
            <a:srgbClr val="FFFFFF"/>
          </a:solidFill>
          <a:ln w="10160">
            <a:solidFill>
              <a:srgbClr val="D8DEE7"/>
            </a:solidFill>
            <a:prstDash val="solid"/>
          </a:ln>
        </p:spPr>
      </p:sp>
      <p:sp>
        <p:nvSpPr>
          <p:cNvPr id="18" name="Text 16"/>
          <p:cNvSpPr txBox="1"/>
          <p:nvPr/>
        </p:nvSpPr>
        <p:spPr>
          <a:xfrm>
            <a:off x="4828032" y="2240280"/>
            <a:ext cx="1499616" cy="182880"/>
          </a:xfrm>
          <a:prstGeom prst="rect">
            <a:avLst/>
          </a:prstGeom>
          <a:noFill/>
          <a:ln/>
        </p:spPr>
        <p:txBody>
          <a:bodyPr wrap="square" lIns="0" tIns="0" rIns="0" bIns="0" rtlCol="0" anchor="ctr">
            <a:normAutofit/>
          </a:bodyPr>
          <a:lstStyle/>
          <a:p>
            <a:pPr algn="ctr" indent="0" marL="0">
              <a:buNone/>
            </a:pPr>
            <a:r>
              <a:rPr lang="en-US" sz="820" b="1" spc="70" kern="0" dirty="0">
                <a:solidFill>
                  <a:srgbClr val="007F80"/>
                </a:solidFill>
                <a:latin typeface="Aptos" pitchFamily="34" charset="0"/>
                <a:ea typeface="Aptos" pitchFamily="34" charset="-122"/>
                <a:cs typeface="Aptos" pitchFamily="34" charset="-120"/>
              </a:rPr>
              <a:t>DWI ENGINE</a:t>
            </a:r>
            <a:endParaRPr lang="en-US" sz="820" dirty="0"/>
          </a:p>
        </p:txBody>
      </p:sp>
      <p:sp>
        <p:nvSpPr>
          <p:cNvPr id="19" name="Text 17"/>
          <p:cNvSpPr txBox="1"/>
          <p:nvPr/>
        </p:nvSpPr>
        <p:spPr>
          <a:xfrm>
            <a:off x="4828032" y="2670048"/>
            <a:ext cx="1499616" cy="411480"/>
          </a:xfrm>
          <a:prstGeom prst="rect">
            <a:avLst/>
          </a:prstGeom>
          <a:noFill/>
          <a:ln/>
        </p:spPr>
        <p:txBody>
          <a:bodyPr wrap="square" lIns="0" tIns="0" rIns="0" bIns="0" rtlCol="0" anchor="ctr">
            <a:normAutofit/>
          </a:bodyPr>
          <a:lstStyle/>
          <a:p>
            <a:pPr algn="ctr" indent="0" marL="0">
              <a:buNone/>
            </a:pPr>
            <a:r>
              <a:rPr lang="en-US" sz="1630" b="1" dirty="0">
                <a:solidFill>
                  <a:srgbClr val="172033"/>
                </a:solidFill>
                <a:latin typeface="Aptos" pitchFamily="34" charset="0"/>
                <a:ea typeface="Aptos" pitchFamily="34" charset="-122"/>
                <a:cs typeface="Aptos" pitchFamily="34" charset="-120"/>
              </a:rPr>
              <a:t>Compose</a:t>
            </a:r>
            <a:endParaRPr lang="en-US" sz="1630" dirty="0"/>
          </a:p>
        </p:txBody>
      </p:sp>
      <p:sp>
        <p:nvSpPr>
          <p:cNvPr id="20" name="Text 18"/>
          <p:cNvSpPr txBox="1"/>
          <p:nvPr/>
        </p:nvSpPr>
        <p:spPr>
          <a:xfrm>
            <a:off x="4828032" y="3291840"/>
            <a:ext cx="1499616" cy="713232"/>
          </a:xfrm>
          <a:prstGeom prst="rect">
            <a:avLst/>
          </a:prstGeom>
          <a:noFill/>
          <a:ln/>
        </p:spPr>
        <p:txBody>
          <a:bodyPr wrap="square" lIns="0" tIns="0" rIns="0" bIns="0" rtlCol="0" anchor="t">
            <a:normAutofit/>
          </a:bodyPr>
          <a:lstStyle/>
          <a:p>
            <a:pPr algn="ctr" indent="0" marL="0">
              <a:buNone/>
            </a:pPr>
            <a:r>
              <a:rPr lang="en-US" sz="1080" dirty="0">
                <a:solidFill>
                  <a:srgbClr val="667085"/>
                </a:solidFill>
                <a:latin typeface="Aptos" pitchFamily="34" charset="0"/>
                <a:ea typeface="Aptos" pitchFamily="34" charset="-122"/>
                <a:cs typeface="Aptos" pitchFamily="34" charset="-120"/>
              </a:rPr>
              <a:t>Approved context allocated within bounds</a:t>
            </a:r>
            <a:endParaRPr lang="en-US" sz="1080" dirty="0"/>
          </a:p>
        </p:txBody>
      </p:sp>
      <p:sp>
        <p:nvSpPr>
          <p:cNvPr id="21" name="Shape 19"/>
          <p:cNvSpPr/>
          <p:nvPr/>
        </p:nvSpPr>
        <p:spPr>
          <a:xfrm>
            <a:off x="6519672" y="2999232"/>
            <a:ext cx="228600" cy="301752"/>
          </a:xfrm>
          <a:prstGeom prst="chevron">
            <a:avLst/>
          </a:prstGeom>
          <a:solidFill>
            <a:srgbClr val="BAC6D2"/>
          </a:solidFill>
          <a:ln w="12700">
            <a:solidFill>
              <a:srgbClr val="BAC6D2"/>
            </a:solidFill>
            <a:prstDash val="solid"/>
          </a:ln>
        </p:spPr>
      </p:sp>
      <p:sp>
        <p:nvSpPr>
          <p:cNvPr id="22" name="Shape 20"/>
          <p:cNvSpPr/>
          <p:nvPr/>
        </p:nvSpPr>
        <p:spPr>
          <a:xfrm>
            <a:off x="6784848" y="2011680"/>
            <a:ext cx="1810512" cy="2496312"/>
          </a:xfrm>
          <a:prstGeom prst="roundRect">
            <a:avLst>
              <a:gd name="adj" fmla="val 4040"/>
            </a:avLst>
          </a:prstGeom>
          <a:solidFill>
            <a:srgbClr val="FFFFFF"/>
          </a:solidFill>
          <a:ln w="10160">
            <a:solidFill>
              <a:srgbClr val="D8DEE7"/>
            </a:solidFill>
            <a:prstDash val="solid"/>
          </a:ln>
        </p:spPr>
      </p:sp>
      <p:sp>
        <p:nvSpPr>
          <p:cNvPr id="23" name="Text 21"/>
          <p:cNvSpPr txBox="1"/>
          <p:nvPr/>
        </p:nvSpPr>
        <p:spPr>
          <a:xfrm>
            <a:off x="6940296" y="2240280"/>
            <a:ext cx="1499616" cy="182880"/>
          </a:xfrm>
          <a:prstGeom prst="rect">
            <a:avLst/>
          </a:prstGeom>
          <a:noFill/>
          <a:ln/>
        </p:spPr>
        <p:txBody>
          <a:bodyPr wrap="square" lIns="0" tIns="0" rIns="0" bIns="0" rtlCol="0" anchor="ctr">
            <a:normAutofit/>
          </a:bodyPr>
          <a:lstStyle/>
          <a:p>
            <a:pPr algn="ctr" indent="0" marL="0">
              <a:buNone/>
            </a:pPr>
            <a:r>
              <a:rPr lang="en-US" sz="820" b="1" spc="70" kern="0" dirty="0">
                <a:solidFill>
                  <a:srgbClr val="007F80"/>
                </a:solidFill>
                <a:latin typeface="Aptos" pitchFamily="34" charset="0"/>
                <a:ea typeface="Aptos" pitchFamily="34" charset="-122"/>
                <a:cs typeface="Aptos" pitchFamily="34" charset="-120"/>
              </a:rPr>
              <a:t>WORK</a:t>
            </a:r>
            <a:endParaRPr lang="en-US" sz="820" dirty="0"/>
          </a:p>
        </p:txBody>
      </p:sp>
      <p:sp>
        <p:nvSpPr>
          <p:cNvPr id="24" name="Text 22"/>
          <p:cNvSpPr txBox="1"/>
          <p:nvPr/>
        </p:nvSpPr>
        <p:spPr>
          <a:xfrm>
            <a:off x="6940296" y="2670048"/>
            <a:ext cx="1499616" cy="411480"/>
          </a:xfrm>
          <a:prstGeom prst="rect">
            <a:avLst/>
          </a:prstGeom>
          <a:noFill/>
          <a:ln/>
        </p:spPr>
        <p:txBody>
          <a:bodyPr wrap="square" lIns="0" tIns="0" rIns="0" bIns="0" rtlCol="0" anchor="ctr">
            <a:normAutofit/>
          </a:bodyPr>
          <a:lstStyle/>
          <a:p>
            <a:pPr algn="ctr" indent="0" marL="0">
              <a:buNone/>
            </a:pPr>
            <a:r>
              <a:rPr lang="en-US" sz="1630" b="1" dirty="0">
                <a:solidFill>
                  <a:srgbClr val="172033"/>
                </a:solidFill>
                <a:latin typeface="Aptos" pitchFamily="34" charset="0"/>
                <a:ea typeface="Aptos" pitchFamily="34" charset="-122"/>
                <a:cs typeface="Aptos" pitchFamily="34" charset="-120"/>
              </a:rPr>
              <a:t>Human review</a:t>
            </a:r>
            <a:endParaRPr lang="en-US" sz="1630" dirty="0"/>
          </a:p>
        </p:txBody>
      </p:sp>
      <p:sp>
        <p:nvSpPr>
          <p:cNvPr id="25" name="Text 23"/>
          <p:cNvSpPr txBox="1"/>
          <p:nvPr/>
        </p:nvSpPr>
        <p:spPr>
          <a:xfrm>
            <a:off x="6940296" y="3291840"/>
            <a:ext cx="1499616" cy="713232"/>
          </a:xfrm>
          <a:prstGeom prst="rect">
            <a:avLst/>
          </a:prstGeom>
          <a:noFill/>
          <a:ln/>
        </p:spPr>
        <p:txBody>
          <a:bodyPr wrap="square" lIns="0" tIns="0" rIns="0" bIns="0" rtlCol="0" anchor="t">
            <a:normAutofit/>
          </a:bodyPr>
          <a:lstStyle/>
          <a:p>
            <a:pPr algn="ctr" indent="0" marL="0">
              <a:buNone/>
            </a:pPr>
            <a:r>
              <a:rPr lang="en-US" sz="1080" dirty="0">
                <a:solidFill>
                  <a:srgbClr val="667085"/>
                </a:solidFill>
                <a:latin typeface="Aptos" pitchFamily="34" charset="0"/>
                <a:ea typeface="Aptos" pitchFamily="34" charset="-122"/>
                <a:cs typeface="Aptos" pitchFamily="34" charset="-120"/>
              </a:rPr>
              <a:t>Developer accepts, corrects or resets</a:t>
            </a:r>
            <a:endParaRPr lang="en-US" sz="1080" dirty="0"/>
          </a:p>
        </p:txBody>
      </p:sp>
      <p:sp>
        <p:nvSpPr>
          <p:cNvPr id="26" name="Shape 24"/>
          <p:cNvSpPr/>
          <p:nvPr/>
        </p:nvSpPr>
        <p:spPr>
          <a:xfrm>
            <a:off x="8631936" y="2999232"/>
            <a:ext cx="228600" cy="301752"/>
          </a:xfrm>
          <a:prstGeom prst="chevron">
            <a:avLst/>
          </a:prstGeom>
          <a:solidFill>
            <a:srgbClr val="BAC6D2"/>
          </a:solidFill>
          <a:ln w="12700">
            <a:solidFill>
              <a:srgbClr val="BAC6D2"/>
            </a:solidFill>
            <a:prstDash val="solid"/>
          </a:ln>
        </p:spPr>
      </p:sp>
      <p:sp>
        <p:nvSpPr>
          <p:cNvPr id="27" name="Shape 25"/>
          <p:cNvSpPr/>
          <p:nvPr/>
        </p:nvSpPr>
        <p:spPr>
          <a:xfrm>
            <a:off x="8897112" y="2011680"/>
            <a:ext cx="1810512" cy="2496312"/>
          </a:xfrm>
          <a:prstGeom prst="roundRect">
            <a:avLst>
              <a:gd name="adj" fmla="val 4040"/>
            </a:avLst>
          </a:prstGeom>
          <a:solidFill>
            <a:srgbClr val="FFF3DE"/>
          </a:solidFill>
          <a:ln w="10160">
            <a:solidFill>
              <a:srgbClr val="F0D39D"/>
            </a:solidFill>
            <a:prstDash val="solid"/>
          </a:ln>
        </p:spPr>
      </p:sp>
      <p:sp>
        <p:nvSpPr>
          <p:cNvPr id="28" name="Text 26"/>
          <p:cNvSpPr txBox="1"/>
          <p:nvPr/>
        </p:nvSpPr>
        <p:spPr>
          <a:xfrm>
            <a:off x="9052560" y="2240280"/>
            <a:ext cx="1499616" cy="182880"/>
          </a:xfrm>
          <a:prstGeom prst="rect">
            <a:avLst/>
          </a:prstGeom>
          <a:noFill/>
          <a:ln/>
        </p:spPr>
        <p:txBody>
          <a:bodyPr wrap="square" lIns="0" tIns="0" rIns="0" bIns="0" rtlCol="0" anchor="ctr">
            <a:normAutofit/>
          </a:bodyPr>
          <a:lstStyle/>
          <a:p>
            <a:pPr algn="ctr" indent="0" marL="0">
              <a:buNone/>
            </a:pPr>
            <a:r>
              <a:rPr lang="en-US" sz="820" b="1" spc="70" kern="0" dirty="0">
                <a:solidFill>
                  <a:srgbClr val="82530D"/>
                </a:solidFill>
                <a:latin typeface="Aptos" pitchFamily="34" charset="0"/>
                <a:ea typeface="Aptos" pitchFamily="34" charset="-122"/>
                <a:cs typeface="Aptos" pitchFamily="34" charset="-120"/>
              </a:rPr>
              <a:t>FEEDBACK</a:t>
            </a:r>
            <a:endParaRPr lang="en-US" sz="820" dirty="0"/>
          </a:p>
        </p:txBody>
      </p:sp>
      <p:sp>
        <p:nvSpPr>
          <p:cNvPr id="29" name="Text 27"/>
          <p:cNvSpPr txBox="1"/>
          <p:nvPr/>
        </p:nvSpPr>
        <p:spPr>
          <a:xfrm>
            <a:off x="9052560" y="2670048"/>
            <a:ext cx="1499616" cy="411480"/>
          </a:xfrm>
          <a:prstGeom prst="rect">
            <a:avLst/>
          </a:prstGeom>
          <a:noFill/>
          <a:ln/>
        </p:spPr>
        <p:txBody>
          <a:bodyPr wrap="square" lIns="0" tIns="0" rIns="0" bIns="0" rtlCol="0" anchor="ctr">
            <a:normAutofit/>
          </a:bodyPr>
          <a:lstStyle/>
          <a:p>
            <a:pPr algn="ctr" indent="0" marL="0">
              <a:buNone/>
            </a:pPr>
            <a:r>
              <a:rPr lang="en-US" sz="1630" b="1" dirty="0">
                <a:solidFill>
                  <a:srgbClr val="172033"/>
                </a:solidFill>
                <a:latin typeface="Aptos" pitchFamily="34" charset="0"/>
                <a:ea typeface="Aptos" pitchFamily="34" charset="-122"/>
                <a:cs typeface="Aptos" pitchFamily="34" charset="-120"/>
              </a:rPr>
              <a:t>Outcome signal</a:t>
            </a:r>
            <a:endParaRPr lang="en-US" sz="1630" dirty="0"/>
          </a:p>
        </p:txBody>
      </p:sp>
      <p:sp>
        <p:nvSpPr>
          <p:cNvPr id="30" name="Text 28"/>
          <p:cNvSpPr txBox="1"/>
          <p:nvPr/>
        </p:nvSpPr>
        <p:spPr>
          <a:xfrm>
            <a:off x="9052560" y="3291840"/>
            <a:ext cx="1499616" cy="713232"/>
          </a:xfrm>
          <a:prstGeom prst="rect">
            <a:avLst/>
          </a:prstGeom>
          <a:noFill/>
          <a:ln/>
        </p:spPr>
        <p:txBody>
          <a:bodyPr wrap="square" lIns="0" tIns="0" rIns="0" bIns="0" rtlCol="0" anchor="t">
            <a:normAutofit/>
          </a:bodyPr>
          <a:lstStyle/>
          <a:p>
            <a:pPr algn="ctr" indent="0" marL="0">
              <a:buNone/>
            </a:pPr>
            <a:r>
              <a:rPr lang="en-US" sz="1080" dirty="0">
                <a:solidFill>
                  <a:srgbClr val="667085"/>
                </a:solidFill>
                <a:latin typeface="Aptos" pitchFamily="34" charset="0"/>
                <a:ea typeface="Aptos" pitchFamily="34" charset="-122"/>
                <a:cs typeface="Aptos" pitchFamily="34" charset="-120"/>
              </a:rPr>
              <a:t>Consented, content-free learning</a:t>
            </a:r>
            <a:endParaRPr lang="en-US" sz="1080" dirty="0"/>
          </a:p>
        </p:txBody>
      </p:sp>
      <p:sp>
        <p:nvSpPr>
          <p:cNvPr id="31" name="Text 29"/>
          <p:cNvSpPr txBox="1"/>
          <p:nvPr/>
        </p:nvSpPr>
        <p:spPr>
          <a:xfrm>
            <a:off x="2286000" y="4709160"/>
            <a:ext cx="7178040" cy="301752"/>
          </a:xfrm>
          <a:prstGeom prst="rect">
            <a:avLst/>
          </a:prstGeom>
          <a:noFill/>
          <a:ln/>
        </p:spPr>
        <p:txBody>
          <a:bodyPr wrap="square" lIns="0" tIns="0" rIns="0" bIns="0" rtlCol="0" anchor="ctr">
            <a:normAutofit/>
          </a:bodyPr>
          <a:lstStyle/>
          <a:p>
            <a:pPr algn="ctr" indent="0" marL="0">
              <a:buNone/>
            </a:pPr>
            <a:r>
              <a:rPr lang="en-US" sz="1300" b="1" dirty="0">
                <a:solidFill>
                  <a:srgbClr val="007F80"/>
                </a:solidFill>
                <a:latin typeface="Aptos" pitchFamily="34" charset="0"/>
                <a:ea typeface="Aptos" pitchFamily="34" charset="-122"/>
                <a:cs typeface="Aptos" pitchFamily="34" charset="-120"/>
              </a:rPr>
              <a:t>Aggregated insight can refine policy, enablement and process—not rank individuals.</a:t>
            </a:r>
            <a:endParaRPr lang="en-US" sz="1300" dirty="0"/>
          </a:p>
        </p:txBody>
      </p:sp>
      <p:sp>
        <p:nvSpPr>
          <p:cNvPr id="32" name="Shape 30"/>
          <p:cNvSpPr/>
          <p:nvPr/>
        </p:nvSpPr>
        <p:spPr>
          <a:xfrm>
            <a:off x="658368" y="5358384"/>
            <a:ext cx="10972800" cy="640080"/>
          </a:xfrm>
          <a:prstGeom prst="roundRect">
            <a:avLst>
              <a:gd name="adj" fmla="val 11429"/>
            </a:avLst>
          </a:prstGeom>
          <a:solidFill>
            <a:srgbClr val="163454"/>
          </a:solidFill>
          <a:ln w="10160">
            <a:solidFill>
              <a:srgbClr val="163454"/>
            </a:solidFill>
            <a:prstDash val="solid"/>
          </a:ln>
        </p:spPr>
      </p:sp>
      <p:sp>
        <p:nvSpPr>
          <p:cNvPr id="33" name="Text 31"/>
          <p:cNvSpPr txBox="1"/>
          <p:nvPr/>
        </p:nvSpPr>
        <p:spPr>
          <a:xfrm>
            <a:off x="932688" y="5513832"/>
            <a:ext cx="960120" cy="228600"/>
          </a:xfrm>
          <a:prstGeom prst="rect">
            <a:avLst/>
          </a:prstGeom>
          <a:noFill/>
          <a:ln/>
        </p:spPr>
        <p:txBody>
          <a:bodyPr wrap="square" lIns="0" tIns="0" rIns="0" bIns="0" rtlCol="0" anchor="ctr">
            <a:normAutofit/>
          </a:bodyPr>
          <a:lstStyle/>
          <a:p>
            <a:pPr algn="l" indent="0" marL="0">
              <a:buNone/>
            </a:pPr>
            <a:r>
              <a:rPr lang="en-US" sz="1150" b="1" dirty="0">
                <a:solidFill>
                  <a:srgbClr val="B9D85C"/>
                </a:solidFill>
                <a:latin typeface="Aptos" pitchFamily="34" charset="0"/>
                <a:ea typeface="Aptos" pitchFamily="34" charset="-122"/>
                <a:cs typeface="Aptos" pitchFamily="34" charset="-120"/>
              </a:rPr>
              <a:t>Governance</a:t>
            </a:r>
            <a:endParaRPr lang="en-US" sz="1150" dirty="0"/>
          </a:p>
        </p:txBody>
      </p:sp>
      <p:sp>
        <p:nvSpPr>
          <p:cNvPr id="34" name="Text 32"/>
          <p:cNvSpPr txBox="1"/>
          <p:nvPr/>
        </p:nvSpPr>
        <p:spPr>
          <a:xfrm>
            <a:off x="1965960" y="5477256"/>
            <a:ext cx="9217152" cy="310896"/>
          </a:xfrm>
          <a:prstGeom prst="rect">
            <a:avLst/>
          </a:prstGeom>
          <a:noFill/>
          <a:ln/>
        </p:spPr>
        <p:txBody>
          <a:bodyPr wrap="square" lIns="0" tIns="0" rIns="0" bIns="0" rtlCol="0" anchor="ctr">
            <a:normAutofit/>
          </a:bodyPr>
          <a:lstStyle/>
          <a:p>
            <a:pPr algn="ctr" indent="0" marL="0">
              <a:buNone/>
            </a:pPr>
            <a:r>
              <a:rPr lang="en-US" sz="1260" b="1" dirty="0">
                <a:solidFill>
                  <a:srgbClr val="FFFFFF"/>
                </a:solidFill>
                <a:latin typeface="Aptos" pitchFamily="34" charset="0"/>
                <a:ea typeface="Aptos" pitchFamily="34" charset="-122"/>
                <a:cs typeface="Aptos" pitchFamily="34" charset="-120"/>
              </a:rPr>
              <a:t>Budget is a bounded input—not autonomous spending authority. Feedback supports improvement—not employee surveillance.</a:t>
            </a:r>
            <a:endParaRPr lang="en-US" sz="1260" dirty="0"/>
          </a:p>
        </p:txBody>
      </p:sp>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03504" y="310896"/>
            <a:ext cx="5120640" cy="219456"/>
          </a:xfrm>
          <a:prstGeom prst="rect">
            <a:avLst/>
          </a:prstGeom>
          <a:noFill/>
          <a:ln/>
        </p:spPr>
        <p:txBody>
          <a:bodyPr wrap="square" lIns="0" tIns="0" rIns="0" bIns="0" rtlCol="0" anchor="ctr">
            <a:normAutofit/>
          </a:bodyPr>
          <a:lstStyle/>
          <a:p>
            <a:pPr algn="l" indent="0" marL="0">
              <a:buNone/>
            </a:pPr>
            <a:r>
              <a:rPr lang="en-US" sz="950" b="1" spc="120" kern="0" dirty="0">
                <a:solidFill>
                  <a:srgbClr val="007F80"/>
                </a:solidFill>
                <a:latin typeface="Aptos" pitchFamily="34" charset="0"/>
                <a:ea typeface="Aptos" pitchFamily="34" charset="-122"/>
                <a:cs typeface="Aptos" pitchFamily="34" charset="-120"/>
              </a:rPr>
              <a:t>MANAGEMENT OBJECTIVE AREAS</a:t>
            </a:r>
            <a:endParaRPr lang="en-US" sz="950" dirty="0"/>
          </a:p>
        </p:txBody>
      </p:sp>
      <p:sp>
        <p:nvSpPr>
          <p:cNvPr id="3" name="Text 1"/>
          <p:cNvSpPr txBox="1"/>
          <p:nvPr/>
        </p:nvSpPr>
        <p:spPr>
          <a:xfrm>
            <a:off x="603504" y="603504"/>
            <a:ext cx="10972800" cy="548640"/>
          </a:xfrm>
          <a:prstGeom prst="rect">
            <a:avLst/>
          </a:prstGeom>
          <a:noFill/>
          <a:ln/>
        </p:spPr>
        <p:txBody>
          <a:bodyPr wrap="square" lIns="0" tIns="0" rIns="0" bIns="0" rtlCol="0" anchor="ctr">
            <a:normAutofit/>
          </a:bodyPr>
          <a:lstStyle/>
          <a:p>
            <a:pPr algn="l" indent="0" marL="0">
              <a:buNone/>
            </a:pPr>
            <a:r>
              <a:rPr lang="en-US" sz="2750" b="1" dirty="0">
                <a:solidFill>
                  <a:srgbClr val="172033"/>
                </a:solidFill>
                <a:latin typeface="Aptos" pitchFamily="34" charset="0"/>
                <a:ea typeface="Aptos" pitchFamily="34" charset="-122"/>
                <a:cs typeface="Aptos" pitchFamily="34" charset="-120"/>
              </a:rPr>
              <a:t>Value from the developer work surface to responsible scale</a:t>
            </a:r>
            <a:endParaRPr lang="en-US" sz="2750" dirty="0"/>
          </a:p>
        </p:txBody>
      </p:sp>
      <p:sp>
        <p:nvSpPr>
          <p:cNvPr id="4" name="Text 2"/>
          <p:cNvSpPr txBox="1"/>
          <p:nvPr/>
        </p:nvSpPr>
        <p:spPr>
          <a:xfrm>
            <a:off x="603504" y="1170432"/>
            <a:ext cx="10927080" cy="365760"/>
          </a:xfrm>
          <a:prstGeom prst="rect">
            <a:avLst/>
          </a:prstGeom>
          <a:noFill/>
          <a:ln/>
        </p:spPr>
        <p:txBody>
          <a:bodyPr wrap="square" lIns="0" tIns="0" rIns="0" bIns="0" rtlCol="0" anchor="ctr">
            <a:normAutofit/>
          </a:bodyPr>
          <a:lstStyle/>
          <a:p>
            <a:pPr algn="l" indent="0" marL="0">
              <a:buNone/>
            </a:pPr>
            <a:r>
              <a:rPr lang="en-US" sz="1350" dirty="0">
                <a:solidFill>
                  <a:srgbClr val="667085"/>
                </a:solidFill>
                <a:latin typeface="Aptos" pitchFamily="34" charset="0"/>
                <a:ea typeface="Aptos" pitchFamily="34" charset="-122"/>
                <a:cs typeface="Aptos" pitchFamily="34" charset="-120"/>
              </a:rPr>
              <a:t>Each level receives signals appropriate to its decisions—without turning DWI into a productivity-surveillance system.</a:t>
            </a:r>
            <a:endParaRPr lang="en-US" sz="1350" dirty="0"/>
          </a:p>
        </p:txBody>
      </p:sp>
      <p:sp>
        <p:nvSpPr>
          <p:cNvPr id="5" name="Shape 3"/>
          <p:cNvSpPr/>
          <p:nvPr/>
        </p:nvSpPr>
        <p:spPr>
          <a:xfrm>
            <a:off x="640080" y="1746504"/>
            <a:ext cx="1554480" cy="438912"/>
          </a:xfrm>
          <a:prstGeom prst="rect">
            <a:avLst/>
          </a:prstGeom>
          <a:solidFill>
            <a:srgbClr val="163454"/>
          </a:solidFill>
          <a:ln w="10160">
            <a:solidFill>
              <a:srgbClr val="163454"/>
            </a:solidFill>
            <a:prstDash val="solid"/>
          </a:ln>
        </p:spPr>
      </p:sp>
      <p:sp>
        <p:nvSpPr>
          <p:cNvPr id="6" name="Text 4"/>
          <p:cNvSpPr txBox="1"/>
          <p:nvPr/>
        </p:nvSpPr>
        <p:spPr>
          <a:xfrm>
            <a:off x="768096" y="1847088"/>
            <a:ext cx="1298448" cy="201168"/>
          </a:xfrm>
          <a:prstGeom prst="rect">
            <a:avLst/>
          </a:prstGeom>
          <a:noFill/>
          <a:ln/>
        </p:spPr>
        <p:txBody>
          <a:bodyPr wrap="square" lIns="0" tIns="0" rIns="0" bIns="0" rtlCol="0" anchor="ctr">
            <a:normAutofit/>
          </a:bodyPr>
          <a:lstStyle/>
          <a:p>
            <a:pPr algn="l" indent="0" marL="0">
              <a:buNone/>
            </a:pPr>
            <a:r>
              <a:rPr lang="en-US" sz="900" b="1" spc="50" kern="0" dirty="0">
                <a:solidFill>
                  <a:srgbClr val="FFFFFF"/>
                </a:solidFill>
                <a:latin typeface="Aptos" pitchFamily="34" charset="0"/>
                <a:ea typeface="Aptos" pitchFamily="34" charset="-122"/>
                <a:cs typeface="Aptos" pitchFamily="34" charset="-120"/>
              </a:rPr>
              <a:t>LEVEL</a:t>
            </a:r>
            <a:endParaRPr lang="en-US" sz="900" dirty="0"/>
          </a:p>
        </p:txBody>
      </p:sp>
      <p:sp>
        <p:nvSpPr>
          <p:cNvPr id="7" name="Shape 5"/>
          <p:cNvSpPr/>
          <p:nvPr/>
        </p:nvSpPr>
        <p:spPr>
          <a:xfrm>
            <a:off x="2340864" y="1746504"/>
            <a:ext cx="2304288" cy="438912"/>
          </a:xfrm>
          <a:prstGeom prst="rect">
            <a:avLst/>
          </a:prstGeom>
          <a:solidFill>
            <a:srgbClr val="163454"/>
          </a:solidFill>
          <a:ln w="10160">
            <a:solidFill>
              <a:srgbClr val="163454"/>
            </a:solidFill>
            <a:prstDash val="solid"/>
          </a:ln>
        </p:spPr>
      </p:sp>
      <p:sp>
        <p:nvSpPr>
          <p:cNvPr id="8" name="Text 6"/>
          <p:cNvSpPr txBox="1"/>
          <p:nvPr/>
        </p:nvSpPr>
        <p:spPr>
          <a:xfrm>
            <a:off x="2468880" y="1847088"/>
            <a:ext cx="2048256" cy="201168"/>
          </a:xfrm>
          <a:prstGeom prst="rect">
            <a:avLst/>
          </a:prstGeom>
          <a:noFill/>
          <a:ln/>
        </p:spPr>
        <p:txBody>
          <a:bodyPr wrap="square" lIns="0" tIns="0" rIns="0" bIns="0" rtlCol="0" anchor="ctr">
            <a:normAutofit/>
          </a:bodyPr>
          <a:lstStyle/>
          <a:p>
            <a:pPr algn="l" indent="0" marL="0">
              <a:buNone/>
            </a:pPr>
            <a:r>
              <a:rPr lang="en-US" sz="900" b="1" spc="50" kern="0" dirty="0">
                <a:solidFill>
                  <a:srgbClr val="FFFFFF"/>
                </a:solidFill>
                <a:latin typeface="Aptos" pitchFamily="34" charset="0"/>
                <a:ea typeface="Aptos" pitchFamily="34" charset="-122"/>
                <a:cs typeface="Aptos" pitchFamily="34" charset="-120"/>
              </a:rPr>
              <a:t>OBJECTIVE</a:t>
            </a:r>
            <a:endParaRPr lang="en-US" sz="900" dirty="0"/>
          </a:p>
        </p:txBody>
      </p:sp>
      <p:sp>
        <p:nvSpPr>
          <p:cNvPr id="9" name="Shape 7"/>
          <p:cNvSpPr/>
          <p:nvPr/>
        </p:nvSpPr>
        <p:spPr>
          <a:xfrm>
            <a:off x="4809744" y="1746504"/>
            <a:ext cx="3264408" cy="438912"/>
          </a:xfrm>
          <a:prstGeom prst="rect">
            <a:avLst/>
          </a:prstGeom>
          <a:solidFill>
            <a:srgbClr val="163454"/>
          </a:solidFill>
          <a:ln w="10160">
            <a:solidFill>
              <a:srgbClr val="163454"/>
            </a:solidFill>
            <a:prstDash val="solid"/>
          </a:ln>
        </p:spPr>
      </p:sp>
      <p:sp>
        <p:nvSpPr>
          <p:cNvPr id="10" name="Text 8"/>
          <p:cNvSpPr txBox="1"/>
          <p:nvPr/>
        </p:nvSpPr>
        <p:spPr>
          <a:xfrm>
            <a:off x="4937760" y="1847088"/>
            <a:ext cx="3008376" cy="201168"/>
          </a:xfrm>
          <a:prstGeom prst="rect">
            <a:avLst/>
          </a:prstGeom>
          <a:noFill/>
          <a:ln/>
        </p:spPr>
        <p:txBody>
          <a:bodyPr wrap="square" lIns="0" tIns="0" rIns="0" bIns="0" rtlCol="0" anchor="ctr">
            <a:normAutofit/>
          </a:bodyPr>
          <a:lstStyle/>
          <a:p>
            <a:pPr algn="l" indent="0" marL="0">
              <a:buNone/>
            </a:pPr>
            <a:r>
              <a:rPr lang="en-US" sz="900" b="1" spc="50" kern="0" dirty="0">
                <a:solidFill>
                  <a:srgbClr val="FFFFFF"/>
                </a:solidFill>
                <a:latin typeface="Aptos" pitchFamily="34" charset="0"/>
                <a:ea typeface="Aptos" pitchFamily="34" charset="-122"/>
                <a:cs typeface="Aptos" pitchFamily="34" charset="-120"/>
              </a:rPr>
              <a:t>PRIVACY-SAFE SIGNALS</a:t>
            </a:r>
            <a:endParaRPr lang="en-US" sz="900" dirty="0"/>
          </a:p>
        </p:txBody>
      </p:sp>
      <p:sp>
        <p:nvSpPr>
          <p:cNvPr id="11" name="Shape 9"/>
          <p:cNvSpPr/>
          <p:nvPr/>
        </p:nvSpPr>
        <p:spPr>
          <a:xfrm>
            <a:off x="8257032" y="1746504"/>
            <a:ext cx="3364992" cy="438912"/>
          </a:xfrm>
          <a:prstGeom prst="rect">
            <a:avLst/>
          </a:prstGeom>
          <a:solidFill>
            <a:srgbClr val="163454"/>
          </a:solidFill>
          <a:ln w="10160">
            <a:solidFill>
              <a:srgbClr val="163454"/>
            </a:solidFill>
            <a:prstDash val="solid"/>
          </a:ln>
        </p:spPr>
      </p:sp>
      <p:sp>
        <p:nvSpPr>
          <p:cNvPr id="12" name="Text 10"/>
          <p:cNvSpPr txBox="1"/>
          <p:nvPr/>
        </p:nvSpPr>
        <p:spPr>
          <a:xfrm>
            <a:off x="8385048" y="1847088"/>
            <a:ext cx="3108960" cy="201168"/>
          </a:xfrm>
          <a:prstGeom prst="rect">
            <a:avLst/>
          </a:prstGeom>
          <a:noFill/>
          <a:ln/>
        </p:spPr>
        <p:txBody>
          <a:bodyPr wrap="square" lIns="0" tIns="0" rIns="0" bIns="0" rtlCol="0" anchor="ctr">
            <a:normAutofit/>
          </a:bodyPr>
          <a:lstStyle/>
          <a:p>
            <a:pPr algn="l" indent="0" marL="0">
              <a:buNone/>
            </a:pPr>
            <a:r>
              <a:rPr lang="en-US" sz="900" b="1" spc="50" kern="0" dirty="0">
                <a:solidFill>
                  <a:srgbClr val="FFFFFF"/>
                </a:solidFill>
                <a:latin typeface="Aptos" pitchFamily="34" charset="0"/>
                <a:ea typeface="Aptos" pitchFamily="34" charset="-122"/>
                <a:cs typeface="Aptos" pitchFamily="34" charset="-120"/>
              </a:rPr>
              <a:t>DECISION SUPPORTED</a:t>
            </a:r>
            <a:endParaRPr lang="en-US" sz="900" dirty="0"/>
          </a:p>
        </p:txBody>
      </p:sp>
      <p:sp>
        <p:nvSpPr>
          <p:cNvPr id="13" name="Shape 11"/>
          <p:cNvSpPr/>
          <p:nvPr/>
        </p:nvSpPr>
        <p:spPr>
          <a:xfrm>
            <a:off x="640080" y="2249424"/>
            <a:ext cx="1554480" cy="768096"/>
          </a:xfrm>
          <a:prstGeom prst="rect">
            <a:avLst/>
          </a:prstGeom>
          <a:solidFill>
            <a:srgbClr val="FFFFFF"/>
          </a:solidFill>
          <a:ln w="10160">
            <a:solidFill>
              <a:srgbClr val="D8DEE7"/>
            </a:solidFill>
            <a:prstDash val="solid"/>
          </a:ln>
        </p:spPr>
      </p:sp>
      <p:sp>
        <p:nvSpPr>
          <p:cNvPr id="14" name="Shape 12"/>
          <p:cNvSpPr/>
          <p:nvPr/>
        </p:nvSpPr>
        <p:spPr>
          <a:xfrm>
            <a:off x="2340864" y="2249424"/>
            <a:ext cx="2304288" cy="768096"/>
          </a:xfrm>
          <a:prstGeom prst="rect">
            <a:avLst/>
          </a:prstGeom>
          <a:solidFill>
            <a:srgbClr val="FFFFFF"/>
          </a:solidFill>
          <a:ln w="10160">
            <a:solidFill>
              <a:srgbClr val="D8DEE7"/>
            </a:solidFill>
            <a:prstDash val="solid"/>
          </a:ln>
        </p:spPr>
      </p:sp>
      <p:sp>
        <p:nvSpPr>
          <p:cNvPr id="15" name="Shape 13"/>
          <p:cNvSpPr/>
          <p:nvPr/>
        </p:nvSpPr>
        <p:spPr>
          <a:xfrm>
            <a:off x="4809744" y="2249424"/>
            <a:ext cx="3264408" cy="768096"/>
          </a:xfrm>
          <a:prstGeom prst="rect">
            <a:avLst/>
          </a:prstGeom>
          <a:solidFill>
            <a:srgbClr val="FFFFFF"/>
          </a:solidFill>
          <a:ln w="10160">
            <a:solidFill>
              <a:srgbClr val="D8DEE7"/>
            </a:solidFill>
            <a:prstDash val="solid"/>
          </a:ln>
        </p:spPr>
      </p:sp>
      <p:sp>
        <p:nvSpPr>
          <p:cNvPr id="16" name="Shape 14"/>
          <p:cNvSpPr/>
          <p:nvPr/>
        </p:nvSpPr>
        <p:spPr>
          <a:xfrm>
            <a:off x="8257032" y="2249424"/>
            <a:ext cx="3364992" cy="768096"/>
          </a:xfrm>
          <a:prstGeom prst="rect">
            <a:avLst/>
          </a:prstGeom>
          <a:solidFill>
            <a:srgbClr val="FFFFFF"/>
          </a:solidFill>
          <a:ln w="10160">
            <a:solidFill>
              <a:srgbClr val="D8DEE7"/>
            </a:solidFill>
            <a:prstDash val="solid"/>
          </a:ln>
        </p:spPr>
      </p:sp>
      <p:sp>
        <p:nvSpPr>
          <p:cNvPr id="17" name="Text 15"/>
          <p:cNvSpPr txBox="1"/>
          <p:nvPr/>
        </p:nvSpPr>
        <p:spPr>
          <a:xfrm>
            <a:off x="777240" y="2414016"/>
            <a:ext cx="1280160" cy="365760"/>
          </a:xfrm>
          <a:prstGeom prst="rect">
            <a:avLst/>
          </a:prstGeom>
          <a:noFill/>
          <a:ln/>
        </p:spPr>
        <p:txBody>
          <a:bodyPr wrap="square" lIns="0" tIns="0" rIns="0" bIns="0" rtlCol="0" anchor="ctr">
            <a:normAutofit/>
          </a:bodyPr>
          <a:lstStyle/>
          <a:p>
            <a:pPr algn="l" indent="0" marL="0">
              <a:buNone/>
            </a:pPr>
            <a:r>
              <a:rPr lang="en-US" sz="980" b="1" dirty="0">
                <a:solidFill>
                  <a:srgbClr val="2D8A65"/>
                </a:solidFill>
                <a:latin typeface="Aptos" pitchFamily="34" charset="0"/>
                <a:ea typeface="Aptos" pitchFamily="34" charset="-122"/>
                <a:cs typeface="Aptos" pitchFamily="34" charset="-120"/>
              </a:rPr>
              <a:t>DEVELOPER</a:t>
            </a:r>
            <a:endParaRPr lang="en-US" sz="980" dirty="0"/>
          </a:p>
        </p:txBody>
      </p:sp>
      <p:sp>
        <p:nvSpPr>
          <p:cNvPr id="18" name="Text 16"/>
          <p:cNvSpPr txBox="1"/>
          <p:nvPr/>
        </p:nvSpPr>
        <p:spPr>
          <a:xfrm>
            <a:off x="2478024" y="2368296"/>
            <a:ext cx="2029968" cy="457200"/>
          </a:xfrm>
          <a:prstGeom prst="rect">
            <a:avLst/>
          </a:prstGeom>
          <a:noFill/>
          <a:ln/>
        </p:spPr>
        <p:txBody>
          <a:bodyPr wrap="square" lIns="0" tIns="0" rIns="0" bIns="0" rtlCol="0" anchor="ctr">
            <a:normAutofit/>
          </a:bodyPr>
          <a:lstStyle/>
          <a:p>
            <a:pPr algn="l" indent="0" marL="0">
              <a:buNone/>
            </a:pPr>
            <a:r>
              <a:rPr lang="en-US" sz="1260" b="1" dirty="0">
                <a:solidFill>
                  <a:srgbClr val="172033"/>
                </a:solidFill>
                <a:latin typeface="Aptos" pitchFamily="34" charset="0"/>
                <a:ea typeface="Aptos" pitchFamily="34" charset="-122"/>
                <a:cs typeface="Aptos" pitchFamily="34" charset="-120"/>
              </a:rPr>
              <a:t>Developer effectiveness</a:t>
            </a:r>
            <a:endParaRPr lang="en-US" sz="1260" dirty="0"/>
          </a:p>
        </p:txBody>
      </p:sp>
      <p:sp>
        <p:nvSpPr>
          <p:cNvPr id="19" name="Text 17"/>
          <p:cNvSpPr txBox="1"/>
          <p:nvPr/>
        </p:nvSpPr>
        <p:spPr>
          <a:xfrm>
            <a:off x="4946904" y="2340864"/>
            <a:ext cx="2990088" cy="548640"/>
          </a:xfrm>
          <a:prstGeom prst="rect">
            <a:avLst/>
          </a:prstGeom>
          <a:noFill/>
          <a:ln/>
        </p:spPr>
        <p:txBody>
          <a:bodyPr wrap="square" lIns="0" tIns="0" rIns="0" bIns="0" rtlCol="0" anchor="t">
            <a:normAutofit/>
          </a:bodyPr>
          <a:lstStyle/>
          <a:p>
            <a:pPr algn="l" indent="0" marL="0">
              <a:buNone/>
            </a:pPr>
            <a:r>
              <a:rPr lang="en-US" sz="1080" dirty="0">
                <a:solidFill>
                  <a:srgbClr val="667085"/>
                </a:solidFill>
                <a:latin typeface="Aptos" pitchFamily="34" charset="0"/>
                <a:ea typeface="Aptos" pitchFamily="34" charset="-122"/>
                <a:cs typeface="Aptos" pitchFamily="34" charset="-120"/>
              </a:rPr>
              <a:t>Less context rebuilding, clearer work, lower fatigue</a:t>
            </a:r>
            <a:endParaRPr lang="en-US" sz="1080" dirty="0"/>
          </a:p>
        </p:txBody>
      </p:sp>
      <p:sp>
        <p:nvSpPr>
          <p:cNvPr id="20" name="Text 18"/>
          <p:cNvSpPr txBox="1"/>
          <p:nvPr/>
        </p:nvSpPr>
        <p:spPr>
          <a:xfrm>
            <a:off x="8394192" y="2340864"/>
            <a:ext cx="3090672" cy="548640"/>
          </a:xfrm>
          <a:prstGeom prst="rect">
            <a:avLst/>
          </a:prstGeom>
          <a:noFill/>
          <a:ln/>
        </p:spPr>
        <p:txBody>
          <a:bodyPr wrap="square" lIns="0" tIns="0" rIns="0" bIns="0" rtlCol="0" anchor="t">
            <a:normAutofit/>
          </a:bodyPr>
          <a:lstStyle/>
          <a:p>
            <a:pPr algn="l" indent="0" marL="0">
              <a:buNone/>
            </a:pPr>
            <a:r>
              <a:rPr lang="en-US" sz="1080" dirty="0">
                <a:solidFill>
                  <a:srgbClr val="667085"/>
                </a:solidFill>
                <a:latin typeface="Aptos" pitchFamily="34" charset="0"/>
                <a:ea typeface="Aptos" pitchFamily="34" charset="-122"/>
                <a:cs typeface="Aptos" pitchFamily="34" charset="-120"/>
              </a:rPr>
              <a:t>Improve individual workflow and judgment</a:t>
            </a:r>
            <a:endParaRPr lang="en-US" sz="1080" dirty="0"/>
          </a:p>
        </p:txBody>
      </p:sp>
      <p:sp>
        <p:nvSpPr>
          <p:cNvPr id="21" name="Shape 19"/>
          <p:cNvSpPr/>
          <p:nvPr/>
        </p:nvSpPr>
        <p:spPr>
          <a:xfrm>
            <a:off x="640080" y="3090672"/>
            <a:ext cx="1554480" cy="768096"/>
          </a:xfrm>
          <a:prstGeom prst="rect">
            <a:avLst/>
          </a:prstGeom>
          <a:solidFill>
            <a:srgbClr val="EDF3F8"/>
          </a:solidFill>
          <a:ln w="10160">
            <a:solidFill>
              <a:srgbClr val="D8DEE7"/>
            </a:solidFill>
            <a:prstDash val="solid"/>
          </a:ln>
        </p:spPr>
      </p:sp>
      <p:sp>
        <p:nvSpPr>
          <p:cNvPr id="22" name="Shape 20"/>
          <p:cNvSpPr/>
          <p:nvPr/>
        </p:nvSpPr>
        <p:spPr>
          <a:xfrm>
            <a:off x="2340864" y="3090672"/>
            <a:ext cx="2304288" cy="768096"/>
          </a:xfrm>
          <a:prstGeom prst="rect">
            <a:avLst/>
          </a:prstGeom>
          <a:solidFill>
            <a:srgbClr val="EDF3F8"/>
          </a:solidFill>
          <a:ln w="10160">
            <a:solidFill>
              <a:srgbClr val="D8DEE7"/>
            </a:solidFill>
            <a:prstDash val="solid"/>
          </a:ln>
        </p:spPr>
      </p:sp>
      <p:sp>
        <p:nvSpPr>
          <p:cNvPr id="23" name="Shape 21"/>
          <p:cNvSpPr/>
          <p:nvPr/>
        </p:nvSpPr>
        <p:spPr>
          <a:xfrm>
            <a:off x="4809744" y="3090672"/>
            <a:ext cx="3264408" cy="768096"/>
          </a:xfrm>
          <a:prstGeom prst="rect">
            <a:avLst/>
          </a:prstGeom>
          <a:solidFill>
            <a:srgbClr val="EDF3F8"/>
          </a:solidFill>
          <a:ln w="10160">
            <a:solidFill>
              <a:srgbClr val="D8DEE7"/>
            </a:solidFill>
            <a:prstDash val="solid"/>
          </a:ln>
        </p:spPr>
      </p:sp>
      <p:sp>
        <p:nvSpPr>
          <p:cNvPr id="24" name="Shape 22"/>
          <p:cNvSpPr/>
          <p:nvPr/>
        </p:nvSpPr>
        <p:spPr>
          <a:xfrm>
            <a:off x="8257032" y="3090672"/>
            <a:ext cx="3364992" cy="768096"/>
          </a:xfrm>
          <a:prstGeom prst="rect">
            <a:avLst/>
          </a:prstGeom>
          <a:solidFill>
            <a:srgbClr val="EDF3F8"/>
          </a:solidFill>
          <a:ln w="10160">
            <a:solidFill>
              <a:srgbClr val="D8DEE7"/>
            </a:solidFill>
            <a:prstDash val="solid"/>
          </a:ln>
        </p:spPr>
      </p:sp>
      <p:sp>
        <p:nvSpPr>
          <p:cNvPr id="25" name="Text 23"/>
          <p:cNvSpPr txBox="1"/>
          <p:nvPr/>
        </p:nvSpPr>
        <p:spPr>
          <a:xfrm>
            <a:off x="777240" y="3255264"/>
            <a:ext cx="1280160" cy="365760"/>
          </a:xfrm>
          <a:prstGeom prst="rect">
            <a:avLst/>
          </a:prstGeom>
          <a:noFill/>
          <a:ln/>
        </p:spPr>
        <p:txBody>
          <a:bodyPr wrap="square" lIns="0" tIns="0" rIns="0" bIns="0" rtlCol="0" anchor="ctr">
            <a:normAutofit/>
          </a:bodyPr>
          <a:lstStyle/>
          <a:p>
            <a:pPr algn="l" indent="0" marL="0">
              <a:buNone/>
            </a:pPr>
            <a:r>
              <a:rPr lang="en-US" sz="980" b="1" dirty="0">
                <a:solidFill>
                  <a:srgbClr val="007F80"/>
                </a:solidFill>
                <a:latin typeface="Aptos" pitchFamily="34" charset="0"/>
                <a:ea typeface="Aptos" pitchFamily="34" charset="-122"/>
                <a:cs typeface="Aptos" pitchFamily="34" charset="-120"/>
              </a:rPr>
              <a:t>TEAM</a:t>
            </a:r>
            <a:endParaRPr lang="en-US" sz="980" dirty="0"/>
          </a:p>
        </p:txBody>
      </p:sp>
      <p:sp>
        <p:nvSpPr>
          <p:cNvPr id="26" name="Text 24"/>
          <p:cNvSpPr txBox="1"/>
          <p:nvPr/>
        </p:nvSpPr>
        <p:spPr>
          <a:xfrm>
            <a:off x="2478024" y="3209544"/>
            <a:ext cx="2029968" cy="457200"/>
          </a:xfrm>
          <a:prstGeom prst="rect">
            <a:avLst/>
          </a:prstGeom>
          <a:noFill/>
          <a:ln/>
        </p:spPr>
        <p:txBody>
          <a:bodyPr wrap="square" lIns="0" tIns="0" rIns="0" bIns="0" rtlCol="0" anchor="ctr">
            <a:normAutofit/>
          </a:bodyPr>
          <a:lstStyle/>
          <a:p>
            <a:pPr algn="l" indent="0" marL="0">
              <a:buNone/>
            </a:pPr>
            <a:r>
              <a:rPr lang="en-US" sz="1260" b="1" dirty="0">
                <a:solidFill>
                  <a:srgbClr val="172033"/>
                </a:solidFill>
                <a:latin typeface="Aptos" pitchFamily="34" charset="0"/>
                <a:ea typeface="Aptos" pitchFamily="34" charset="-122"/>
                <a:cs typeface="Aptos" pitchFamily="34" charset="-120"/>
              </a:rPr>
              <a:t>Delivery consistency</a:t>
            </a:r>
            <a:endParaRPr lang="en-US" sz="1260" dirty="0"/>
          </a:p>
        </p:txBody>
      </p:sp>
      <p:sp>
        <p:nvSpPr>
          <p:cNvPr id="27" name="Text 25"/>
          <p:cNvSpPr txBox="1"/>
          <p:nvPr/>
        </p:nvSpPr>
        <p:spPr>
          <a:xfrm>
            <a:off x="4946904" y="3182112"/>
            <a:ext cx="2990088" cy="548640"/>
          </a:xfrm>
          <a:prstGeom prst="rect">
            <a:avLst/>
          </a:prstGeom>
          <a:noFill/>
          <a:ln/>
        </p:spPr>
        <p:txBody>
          <a:bodyPr wrap="square" lIns="0" tIns="0" rIns="0" bIns="0" rtlCol="0" anchor="t">
            <a:normAutofit/>
          </a:bodyPr>
          <a:lstStyle/>
          <a:p>
            <a:pPr algn="l" indent="0" marL="0">
              <a:buNone/>
            </a:pPr>
            <a:r>
              <a:rPr lang="en-US" sz="1080" dirty="0">
                <a:solidFill>
                  <a:srgbClr val="667085"/>
                </a:solidFill>
                <a:latin typeface="Aptos" pitchFamily="34" charset="0"/>
                <a:ea typeface="Aptos" pitchFamily="34" charset="-122"/>
                <a:cs typeface="Aptos" pitchFamily="34" charset="-120"/>
              </a:rPr>
              <a:t>Recurring gaps, handoff friction, rework patterns</a:t>
            </a:r>
            <a:endParaRPr lang="en-US" sz="1080" dirty="0"/>
          </a:p>
        </p:txBody>
      </p:sp>
      <p:sp>
        <p:nvSpPr>
          <p:cNvPr id="28" name="Text 26"/>
          <p:cNvSpPr txBox="1"/>
          <p:nvPr/>
        </p:nvSpPr>
        <p:spPr>
          <a:xfrm>
            <a:off x="8394192" y="3182112"/>
            <a:ext cx="3090672" cy="548640"/>
          </a:xfrm>
          <a:prstGeom prst="rect">
            <a:avLst/>
          </a:prstGeom>
          <a:noFill/>
          <a:ln/>
        </p:spPr>
        <p:txBody>
          <a:bodyPr wrap="square" lIns="0" tIns="0" rIns="0" bIns="0" rtlCol="0" anchor="t">
            <a:normAutofit/>
          </a:bodyPr>
          <a:lstStyle/>
          <a:p>
            <a:pPr algn="l" indent="0" marL="0">
              <a:buNone/>
            </a:pPr>
            <a:r>
              <a:rPr lang="en-US" sz="1080" dirty="0">
                <a:solidFill>
                  <a:srgbClr val="667085"/>
                </a:solidFill>
                <a:latin typeface="Aptos" pitchFamily="34" charset="0"/>
                <a:ea typeface="Aptos" pitchFamily="34" charset="-122"/>
                <a:cs typeface="Aptos" pitchFamily="34" charset="-120"/>
              </a:rPr>
              <a:t>Strengthen shared knowledge and team practice</a:t>
            </a:r>
            <a:endParaRPr lang="en-US" sz="1080" dirty="0"/>
          </a:p>
        </p:txBody>
      </p:sp>
      <p:sp>
        <p:nvSpPr>
          <p:cNvPr id="29" name="Shape 27"/>
          <p:cNvSpPr/>
          <p:nvPr/>
        </p:nvSpPr>
        <p:spPr>
          <a:xfrm>
            <a:off x="640080" y="3931920"/>
            <a:ext cx="1554480" cy="768096"/>
          </a:xfrm>
          <a:prstGeom prst="rect">
            <a:avLst/>
          </a:prstGeom>
          <a:solidFill>
            <a:srgbClr val="FFFFFF"/>
          </a:solidFill>
          <a:ln w="10160">
            <a:solidFill>
              <a:srgbClr val="D8DEE7"/>
            </a:solidFill>
            <a:prstDash val="solid"/>
          </a:ln>
        </p:spPr>
      </p:sp>
      <p:sp>
        <p:nvSpPr>
          <p:cNvPr id="30" name="Shape 28"/>
          <p:cNvSpPr/>
          <p:nvPr/>
        </p:nvSpPr>
        <p:spPr>
          <a:xfrm>
            <a:off x="2340864" y="3931920"/>
            <a:ext cx="2304288" cy="768096"/>
          </a:xfrm>
          <a:prstGeom prst="rect">
            <a:avLst/>
          </a:prstGeom>
          <a:solidFill>
            <a:srgbClr val="FFFFFF"/>
          </a:solidFill>
          <a:ln w="10160">
            <a:solidFill>
              <a:srgbClr val="D8DEE7"/>
            </a:solidFill>
            <a:prstDash val="solid"/>
          </a:ln>
        </p:spPr>
      </p:sp>
      <p:sp>
        <p:nvSpPr>
          <p:cNvPr id="31" name="Shape 29"/>
          <p:cNvSpPr/>
          <p:nvPr/>
        </p:nvSpPr>
        <p:spPr>
          <a:xfrm>
            <a:off x="4809744" y="3931920"/>
            <a:ext cx="3264408" cy="768096"/>
          </a:xfrm>
          <a:prstGeom prst="rect">
            <a:avLst/>
          </a:prstGeom>
          <a:solidFill>
            <a:srgbClr val="FFFFFF"/>
          </a:solidFill>
          <a:ln w="10160">
            <a:solidFill>
              <a:srgbClr val="D8DEE7"/>
            </a:solidFill>
            <a:prstDash val="solid"/>
          </a:ln>
        </p:spPr>
      </p:sp>
      <p:sp>
        <p:nvSpPr>
          <p:cNvPr id="32" name="Shape 30"/>
          <p:cNvSpPr/>
          <p:nvPr/>
        </p:nvSpPr>
        <p:spPr>
          <a:xfrm>
            <a:off x="8257032" y="3931920"/>
            <a:ext cx="3364992" cy="768096"/>
          </a:xfrm>
          <a:prstGeom prst="rect">
            <a:avLst/>
          </a:prstGeom>
          <a:solidFill>
            <a:srgbClr val="FFFFFF"/>
          </a:solidFill>
          <a:ln w="10160">
            <a:solidFill>
              <a:srgbClr val="D8DEE7"/>
            </a:solidFill>
            <a:prstDash val="solid"/>
          </a:ln>
        </p:spPr>
      </p:sp>
      <p:sp>
        <p:nvSpPr>
          <p:cNvPr id="33" name="Text 31"/>
          <p:cNvSpPr txBox="1"/>
          <p:nvPr/>
        </p:nvSpPr>
        <p:spPr>
          <a:xfrm>
            <a:off x="777240" y="4096512"/>
            <a:ext cx="1280160" cy="365760"/>
          </a:xfrm>
          <a:prstGeom prst="rect">
            <a:avLst/>
          </a:prstGeom>
          <a:noFill/>
          <a:ln/>
        </p:spPr>
        <p:txBody>
          <a:bodyPr wrap="square" lIns="0" tIns="0" rIns="0" bIns="0" rtlCol="0" anchor="ctr">
            <a:normAutofit/>
          </a:bodyPr>
          <a:lstStyle/>
          <a:p>
            <a:pPr algn="l" indent="0" marL="0">
              <a:buNone/>
            </a:pPr>
            <a:r>
              <a:rPr lang="en-US" sz="980" b="1" dirty="0">
                <a:solidFill>
                  <a:srgbClr val="D9952A"/>
                </a:solidFill>
                <a:latin typeface="Aptos" pitchFamily="34" charset="0"/>
                <a:ea typeface="Aptos" pitchFamily="34" charset="-122"/>
                <a:cs typeface="Aptos" pitchFamily="34" charset="-120"/>
              </a:rPr>
              <a:t>SDLC OPS</a:t>
            </a:r>
            <a:endParaRPr lang="en-US" sz="980" dirty="0"/>
          </a:p>
        </p:txBody>
      </p:sp>
      <p:sp>
        <p:nvSpPr>
          <p:cNvPr id="34" name="Text 32"/>
          <p:cNvSpPr txBox="1"/>
          <p:nvPr/>
        </p:nvSpPr>
        <p:spPr>
          <a:xfrm>
            <a:off x="2478024" y="4050792"/>
            <a:ext cx="2029968" cy="457200"/>
          </a:xfrm>
          <a:prstGeom prst="rect">
            <a:avLst/>
          </a:prstGeom>
          <a:noFill/>
          <a:ln/>
        </p:spPr>
        <p:txBody>
          <a:bodyPr wrap="square" lIns="0" tIns="0" rIns="0" bIns="0" rtlCol="0" anchor="ctr">
            <a:normAutofit/>
          </a:bodyPr>
          <a:lstStyle/>
          <a:p>
            <a:pPr algn="l" indent="0" marL="0">
              <a:buNone/>
            </a:pPr>
            <a:r>
              <a:rPr lang="en-US" sz="1260" b="1" dirty="0">
                <a:solidFill>
                  <a:srgbClr val="172033"/>
                </a:solidFill>
                <a:latin typeface="Aptos" pitchFamily="34" charset="0"/>
                <a:ea typeface="Aptos" pitchFamily="34" charset="-122"/>
                <a:cs typeface="Aptos" pitchFamily="34" charset="-120"/>
              </a:rPr>
              <a:t>Operational excellence</a:t>
            </a:r>
            <a:endParaRPr lang="en-US" sz="1260" dirty="0"/>
          </a:p>
        </p:txBody>
      </p:sp>
      <p:sp>
        <p:nvSpPr>
          <p:cNvPr id="35" name="Text 33"/>
          <p:cNvSpPr txBox="1"/>
          <p:nvPr/>
        </p:nvSpPr>
        <p:spPr>
          <a:xfrm>
            <a:off x="4946904" y="4023360"/>
            <a:ext cx="2990088" cy="548640"/>
          </a:xfrm>
          <a:prstGeom prst="rect">
            <a:avLst/>
          </a:prstGeom>
          <a:noFill/>
          <a:ln/>
        </p:spPr>
        <p:txBody>
          <a:bodyPr wrap="square" lIns="0" tIns="0" rIns="0" bIns="0" rtlCol="0" anchor="t">
            <a:normAutofit/>
          </a:bodyPr>
          <a:lstStyle/>
          <a:p>
            <a:pPr algn="l" indent="0" marL="0">
              <a:buNone/>
            </a:pPr>
            <a:r>
              <a:rPr lang="en-US" sz="1080" dirty="0">
                <a:solidFill>
                  <a:srgbClr val="667085"/>
                </a:solidFill>
                <a:latin typeface="Aptos" pitchFamily="34" charset="0"/>
                <a:ea typeface="Aptos" pitchFamily="34" charset="-122"/>
                <a:cs typeface="Aptos" pitchFamily="34" charset="-120"/>
              </a:rPr>
              <a:t>Stage friction, latency, fallback and budget adherence</a:t>
            </a:r>
            <a:endParaRPr lang="en-US" sz="1080" dirty="0"/>
          </a:p>
        </p:txBody>
      </p:sp>
      <p:sp>
        <p:nvSpPr>
          <p:cNvPr id="36" name="Text 34"/>
          <p:cNvSpPr txBox="1"/>
          <p:nvPr/>
        </p:nvSpPr>
        <p:spPr>
          <a:xfrm>
            <a:off x="8394192" y="4023360"/>
            <a:ext cx="3090672" cy="548640"/>
          </a:xfrm>
          <a:prstGeom prst="rect">
            <a:avLst/>
          </a:prstGeom>
          <a:noFill/>
          <a:ln/>
        </p:spPr>
        <p:txBody>
          <a:bodyPr wrap="square" lIns="0" tIns="0" rIns="0" bIns="0" rtlCol="0" anchor="t">
            <a:normAutofit/>
          </a:bodyPr>
          <a:lstStyle/>
          <a:p>
            <a:pPr algn="l" indent="0" marL="0">
              <a:buNone/>
            </a:pPr>
            <a:r>
              <a:rPr lang="en-US" sz="1080" dirty="0">
                <a:solidFill>
                  <a:srgbClr val="667085"/>
                </a:solidFill>
                <a:latin typeface="Aptos" pitchFamily="34" charset="0"/>
                <a:ea typeface="Aptos" pitchFamily="34" charset="-122"/>
                <a:cs typeface="Aptos" pitchFamily="34" charset="-120"/>
              </a:rPr>
              <a:t>Prioritize process and platform improvements</a:t>
            </a:r>
            <a:endParaRPr lang="en-US" sz="1080" dirty="0"/>
          </a:p>
        </p:txBody>
      </p:sp>
      <p:sp>
        <p:nvSpPr>
          <p:cNvPr id="37" name="Shape 35"/>
          <p:cNvSpPr/>
          <p:nvPr/>
        </p:nvSpPr>
        <p:spPr>
          <a:xfrm>
            <a:off x="640080" y="4773168"/>
            <a:ext cx="1554480" cy="768096"/>
          </a:xfrm>
          <a:prstGeom prst="rect">
            <a:avLst/>
          </a:prstGeom>
          <a:solidFill>
            <a:srgbClr val="EDF3F8"/>
          </a:solidFill>
          <a:ln w="10160">
            <a:solidFill>
              <a:srgbClr val="D8DEE7"/>
            </a:solidFill>
            <a:prstDash val="solid"/>
          </a:ln>
        </p:spPr>
      </p:sp>
      <p:sp>
        <p:nvSpPr>
          <p:cNvPr id="38" name="Shape 36"/>
          <p:cNvSpPr/>
          <p:nvPr/>
        </p:nvSpPr>
        <p:spPr>
          <a:xfrm>
            <a:off x="2340864" y="4773168"/>
            <a:ext cx="2304288" cy="768096"/>
          </a:xfrm>
          <a:prstGeom prst="rect">
            <a:avLst/>
          </a:prstGeom>
          <a:solidFill>
            <a:srgbClr val="EDF3F8"/>
          </a:solidFill>
          <a:ln w="10160">
            <a:solidFill>
              <a:srgbClr val="D8DEE7"/>
            </a:solidFill>
            <a:prstDash val="solid"/>
          </a:ln>
        </p:spPr>
      </p:sp>
      <p:sp>
        <p:nvSpPr>
          <p:cNvPr id="39" name="Shape 37"/>
          <p:cNvSpPr/>
          <p:nvPr/>
        </p:nvSpPr>
        <p:spPr>
          <a:xfrm>
            <a:off x="4809744" y="4773168"/>
            <a:ext cx="3264408" cy="768096"/>
          </a:xfrm>
          <a:prstGeom prst="rect">
            <a:avLst/>
          </a:prstGeom>
          <a:solidFill>
            <a:srgbClr val="EDF3F8"/>
          </a:solidFill>
          <a:ln w="10160">
            <a:solidFill>
              <a:srgbClr val="D8DEE7"/>
            </a:solidFill>
            <a:prstDash val="solid"/>
          </a:ln>
        </p:spPr>
      </p:sp>
      <p:sp>
        <p:nvSpPr>
          <p:cNvPr id="40" name="Shape 38"/>
          <p:cNvSpPr/>
          <p:nvPr/>
        </p:nvSpPr>
        <p:spPr>
          <a:xfrm>
            <a:off x="8257032" y="4773168"/>
            <a:ext cx="3364992" cy="768096"/>
          </a:xfrm>
          <a:prstGeom prst="rect">
            <a:avLst/>
          </a:prstGeom>
          <a:solidFill>
            <a:srgbClr val="EDF3F8"/>
          </a:solidFill>
          <a:ln w="10160">
            <a:solidFill>
              <a:srgbClr val="D8DEE7"/>
            </a:solidFill>
            <a:prstDash val="solid"/>
          </a:ln>
        </p:spPr>
      </p:sp>
      <p:sp>
        <p:nvSpPr>
          <p:cNvPr id="41" name="Text 39"/>
          <p:cNvSpPr txBox="1"/>
          <p:nvPr/>
        </p:nvSpPr>
        <p:spPr>
          <a:xfrm>
            <a:off x="777240" y="4937760"/>
            <a:ext cx="1280160" cy="365760"/>
          </a:xfrm>
          <a:prstGeom prst="rect">
            <a:avLst/>
          </a:prstGeom>
          <a:noFill/>
          <a:ln/>
        </p:spPr>
        <p:txBody>
          <a:bodyPr wrap="square" lIns="0" tIns="0" rIns="0" bIns="0" rtlCol="0" anchor="ctr">
            <a:normAutofit/>
          </a:bodyPr>
          <a:lstStyle/>
          <a:p>
            <a:pPr algn="l" indent="0" marL="0">
              <a:buNone/>
            </a:pPr>
            <a:r>
              <a:rPr lang="en-US" sz="980" b="1" dirty="0">
                <a:solidFill>
                  <a:srgbClr val="163454"/>
                </a:solidFill>
                <a:latin typeface="Aptos" pitchFamily="34" charset="0"/>
                <a:ea typeface="Aptos" pitchFamily="34" charset="-122"/>
                <a:cs typeface="Aptos" pitchFamily="34" charset="-120"/>
              </a:rPr>
              <a:t>MANAGEMENT / AI COE</a:t>
            </a:r>
            <a:endParaRPr lang="en-US" sz="980" dirty="0"/>
          </a:p>
        </p:txBody>
      </p:sp>
      <p:sp>
        <p:nvSpPr>
          <p:cNvPr id="42" name="Text 40"/>
          <p:cNvSpPr txBox="1"/>
          <p:nvPr/>
        </p:nvSpPr>
        <p:spPr>
          <a:xfrm>
            <a:off x="2478024" y="4892040"/>
            <a:ext cx="2029968" cy="457200"/>
          </a:xfrm>
          <a:prstGeom prst="rect">
            <a:avLst/>
          </a:prstGeom>
          <a:noFill/>
          <a:ln/>
        </p:spPr>
        <p:txBody>
          <a:bodyPr wrap="square" lIns="0" tIns="0" rIns="0" bIns="0" rtlCol="0" anchor="ctr">
            <a:normAutofit/>
          </a:bodyPr>
          <a:lstStyle/>
          <a:p>
            <a:pPr algn="l" indent="0" marL="0">
              <a:buNone/>
            </a:pPr>
            <a:r>
              <a:rPr lang="en-US" sz="1260" b="1" dirty="0">
                <a:solidFill>
                  <a:srgbClr val="172033"/>
                </a:solidFill>
                <a:latin typeface="Aptos" pitchFamily="34" charset="0"/>
                <a:ea typeface="Aptos" pitchFamily="34" charset="-122"/>
                <a:cs typeface="Aptos" pitchFamily="34" charset="-120"/>
              </a:rPr>
              <a:t>Responsible adoption</a:t>
            </a:r>
            <a:endParaRPr lang="en-US" sz="1260" dirty="0"/>
          </a:p>
        </p:txBody>
      </p:sp>
      <p:sp>
        <p:nvSpPr>
          <p:cNvPr id="43" name="Text 41"/>
          <p:cNvSpPr txBox="1"/>
          <p:nvPr/>
        </p:nvSpPr>
        <p:spPr>
          <a:xfrm>
            <a:off x="4946904" y="4864608"/>
            <a:ext cx="2990088" cy="548640"/>
          </a:xfrm>
          <a:prstGeom prst="rect">
            <a:avLst/>
          </a:prstGeom>
          <a:noFill/>
          <a:ln/>
        </p:spPr>
        <p:txBody>
          <a:bodyPr wrap="square" lIns="0" tIns="0" rIns="0" bIns="0" rtlCol="0" anchor="t">
            <a:normAutofit/>
          </a:bodyPr>
          <a:lstStyle/>
          <a:p>
            <a:pPr algn="l" indent="0" marL="0">
              <a:buNone/>
            </a:pPr>
            <a:r>
              <a:rPr lang="en-US" sz="1080" dirty="0">
                <a:solidFill>
                  <a:srgbClr val="667085"/>
                </a:solidFill>
                <a:latin typeface="Aptos" pitchFamily="34" charset="0"/>
                <a:ea typeface="Aptos" pitchFamily="34" charset="-122"/>
                <a:cs typeface="Aptos" pitchFamily="34" charset="-120"/>
              </a:rPr>
              <a:t>Useful adoption, enablement needs and capacity patterns</a:t>
            </a:r>
            <a:endParaRPr lang="en-US" sz="1080" dirty="0"/>
          </a:p>
        </p:txBody>
      </p:sp>
      <p:sp>
        <p:nvSpPr>
          <p:cNvPr id="44" name="Text 42"/>
          <p:cNvSpPr txBox="1"/>
          <p:nvPr/>
        </p:nvSpPr>
        <p:spPr>
          <a:xfrm>
            <a:off x="8394192" y="4864608"/>
            <a:ext cx="3090672" cy="548640"/>
          </a:xfrm>
          <a:prstGeom prst="rect">
            <a:avLst/>
          </a:prstGeom>
          <a:noFill/>
          <a:ln/>
        </p:spPr>
        <p:txBody>
          <a:bodyPr wrap="square" lIns="0" tIns="0" rIns="0" bIns="0" rtlCol="0" anchor="t">
            <a:normAutofit/>
          </a:bodyPr>
          <a:lstStyle/>
          <a:p>
            <a:pPr algn="l" indent="0" marL="0">
              <a:buNone/>
            </a:pPr>
            <a:r>
              <a:rPr lang="en-US" sz="1080" dirty="0">
                <a:solidFill>
                  <a:srgbClr val="667085"/>
                </a:solidFill>
                <a:latin typeface="Aptos" pitchFamily="34" charset="0"/>
                <a:ea typeface="Aptos" pitchFamily="34" charset="-122"/>
                <a:cs typeface="Aptos" pitchFamily="34" charset="-120"/>
              </a:rPr>
              <a:t>Direct investment and govern scaling</a:t>
            </a:r>
            <a:endParaRPr lang="en-US" sz="1080" dirty="0"/>
          </a:p>
        </p:txBody>
      </p:sp>
      <p:sp>
        <p:nvSpPr>
          <p:cNvPr id="45" name="Shape 43"/>
          <p:cNvSpPr/>
          <p:nvPr/>
        </p:nvSpPr>
        <p:spPr>
          <a:xfrm>
            <a:off x="640080" y="5733288"/>
            <a:ext cx="10972800" cy="502920"/>
          </a:xfrm>
          <a:prstGeom prst="roundRect">
            <a:avLst>
              <a:gd name="adj" fmla="val 14545"/>
            </a:avLst>
          </a:prstGeom>
          <a:solidFill>
            <a:srgbClr val="FFF3DE"/>
          </a:solidFill>
          <a:ln w="10160">
            <a:solidFill>
              <a:srgbClr val="F0D39D"/>
            </a:solidFill>
            <a:prstDash val="solid"/>
          </a:ln>
        </p:spPr>
      </p:sp>
      <p:sp>
        <p:nvSpPr>
          <p:cNvPr id="46" name="Text 44"/>
          <p:cNvSpPr txBox="1"/>
          <p:nvPr/>
        </p:nvSpPr>
        <p:spPr>
          <a:xfrm>
            <a:off x="896112" y="5861304"/>
            <a:ext cx="1033272" cy="219456"/>
          </a:xfrm>
          <a:prstGeom prst="rect">
            <a:avLst/>
          </a:prstGeom>
          <a:noFill/>
          <a:ln/>
        </p:spPr>
        <p:txBody>
          <a:bodyPr wrap="square" lIns="0" tIns="0" rIns="0" bIns="0" rtlCol="0" anchor="ctr">
            <a:normAutofit/>
          </a:bodyPr>
          <a:lstStyle/>
          <a:p>
            <a:pPr algn="l" indent="0" marL="0">
              <a:buNone/>
            </a:pPr>
            <a:r>
              <a:rPr lang="en-US" sz="1150" b="1" dirty="0">
                <a:solidFill>
                  <a:srgbClr val="82530D"/>
                </a:solidFill>
                <a:latin typeface="Aptos" pitchFamily="34" charset="0"/>
                <a:ea typeface="Aptos" pitchFamily="34" charset="-122"/>
                <a:cs typeface="Aptos" pitchFamily="34" charset="-120"/>
              </a:rPr>
              <a:t>Reporting rule</a:t>
            </a:r>
            <a:endParaRPr lang="en-US" sz="1150" dirty="0"/>
          </a:p>
        </p:txBody>
      </p:sp>
      <p:sp>
        <p:nvSpPr>
          <p:cNvPr id="47" name="Text 45"/>
          <p:cNvSpPr txBox="1"/>
          <p:nvPr/>
        </p:nvSpPr>
        <p:spPr>
          <a:xfrm>
            <a:off x="2011680" y="5824728"/>
            <a:ext cx="9235440" cy="283464"/>
          </a:xfrm>
          <a:prstGeom prst="rect">
            <a:avLst/>
          </a:prstGeom>
          <a:noFill/>
          <a:ln/>
        </p:spPr>
        <p:txBody>
          <a:bodyPr wrap="square" lIns="0" tIns="0" rIns="0" bIns="0" rtlCol="0" anchor="ctr">
            <a:normAutofit/>
          </a:bodyPr>
          <a:lstStyle/>
          <a:p>
            <a:pPr algn="ctr" indent="0" marL="0">
              <a:buNone/>
            </a:pPr>
            <a:r>
              <a:rPr lang="en-US" sz="1250" b="1" dirty="0">
                <a:solidFill>
                  <a:srgbClr val="163454"/>
                </a:solidFill>
                <a:latin typeface="Aptos" pitchFamily="34" charset="0"/>
                <a:ea typeface="Aptos" pitchFamily="34" charset="-122"/>
                <a:cs typeface="Aptos" pitchFamily="34" charset="-120"/>
              </a:rPr>
              <a:t>Aggregate by workflow and cohort; exclude raw prompts and project content; prohibit individual ranking.</a:t>
            </a:r>
            <a:endParaRPr lang="en-US" sz="1250" dirty="0"/>
          </a:p>
        </p:txBody>
      </p:sp>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03504" y="310896"/>
            <a:ext cx="5120640" cy="219456"/>
          </a:xfrm>
          <a:prstGeom prst="rect">
            <a:avLst/>
          </a:prstGeom>
          <a:noFill/>
          <a:ln/>
        </p:spPr>
        <p:txBody>
          <a:bodyPr wrap="square" lIns="0" tIns="0" rIns="0" bIns="0" rtlCol="0" anchor="ctr">
            <a:normAutofit/>
          </a:bodyPr>
          <a:lstStyle/>
          <a:p>
            <a:pPr algn="l" indent="0" marL="0">
              <a:buNone/>
            </a:pPr>
            <a:r>
              <a:rPr lang="en-US" sz="950" b="1" spc="120" kern="0" dirty="0">
                <a:solidFill>
                  <a:srgbClr val="007F80"/>
                </a:solidFill>
                <a:latin typeface="Aptos" pitchFamily="34" charset="0"/>
                <a:ea typeface="Aptos" pitchFamily="34" charset="-122"/>
                <a:cs typeface="Aptos" pitchFamily="34" charset="-120"/>
              </a:rPr>
              <a:t>RECOMMENDED DECISION PATH</a:t>
            </a:r>
            <a:endParaRPr lang="en-US" sz="950" dirty="0"/>
          </a:p>
        </p:txBody>
      </p:sp>
      <p:sp>
        <p:nvSpPr>
          <p:cNvPr id="3" name="Text 1"/>
          <p:cNvSpPr txBox="1"/>
          <p:nvPr/>
        </p:nvSpPr>
        <p:spPr>
          <a:xfrm>
            <a:off x="603504" y="603504"/>
            <a:ext cx="10972800" cy="548640"/>
          </a:xfrm>
          <a:prstGeom prst="rect">
            <a:avLst/>
          </a:prstGeom>
          <a:noFill/>
          <a:ln/>
        </p:spPr>
        <p:txBody>
          <a:bodyPr wrap="square" lIns="0" tIns="0" rIns="0" bIns="0" rtlCol="0" anchor="ctr">
            <a:normAutofit/>
          </a:bodyPr>
          <a:lstStyle/>
          <a:p>
            <a:pPr algn="l" indent="0" marL="0">
              <a:buNone/>
            </a:pPr>
            <a:r>
              <a:rPr lang="en-US" sz="2750" b="1" dirty="0">
                <a:solidFill>
                  <a:srgbClr val="172033"/>
                </a:solidFill>
                <a:latin typeface="Aptos" pitchFamily="34" charset="0"/>
                <a:ea typeface="Aptos" pitchFamily="34" charset="-122"/>
                <a:cs typeface="Aptos" pitchFamily="34" charset="-120"/>
              </a:rPr>
              <a:t>Prove usefulness, verify controls, then test the extension</a:t>
            </a:r>
            <a:endParaRPr lang="en-US" sz="2750" dirty="0"/>
          </a:p>
        </p:txBody>
      </p:sp>
      <p:sp>
        <p:nvSpPr>
          <p:cNvPr id="4" name="Text 2"/>
          <p:cNvSpPr txBox="1"/>
          <p:nvPr/>
        </p:nvSpPr>
        <p:spPr>
          <a:xfrm>
            <a:off x="603504" y="1170432"/>
            <a:ext cx="10927080" cy="365760"/>
          </a:xfrm>
          <a:prstGeom prst="rect">
            <a:avLst/>
          </a:prstGeom>
          <a:noFill/>
          <a:ln/>
        </p:spPr>
        <p:txBody>
          <a:bodyPr wrap="square" lIns="0" tIns="0" rIns="0" bIns="0" rtlCol="0" anchor="ctr">
            <a:normAutofit/>
          </a:bodyPr>
          <a:lstStyle/>
          <a:p>
            <a:pPr algn="l" indent="0" marL="0">
              <a:buNone/>
            </a:pPr>
            <a:r>
              <a:rPr lang="en-US" sz="1350" dirty="0">
                <a:solidFill>
                  <a:srgbClr val="667085"/>
                </a:solidFill>
                <a:latin typeface="Aptos" pitchFamily="34" charset="0"/>
                <a:ea typeface="Aptos" pitchFamily="34" charset="-122"/>
                <a:cs typeface="Aptos" pitchFamily="34" charset="-120"/>
              </a:rPr>
              <a:t>The next decision is a governed learning sequence—not a production or release commitment.</a:t>
            </a:r>
            <a:endParaRPr lang="en-US" sz="1350" dirty="0"/>
          </a:p>
        </p:txBody>
      </p:sp>
      <p:sp>
        <p:nvSpPr>
          <p:cNvPr id="5" name="Shape 3"/>
          <p:cNvSpPr/>
          <p:nvPr/>
        </p:nvSpPr>
        <p:spPr>
          <a:xfrm>
            <a:off x="630936" y="1783080"/>
            <a:ext cx="2569464" cy="2395728"/>
          </a:xfrm>
          <a:prstGeom prst="roundRect">
            <a:avLst>
              <a:gd name="adj" fmla="val 3053"/>
            </a:avLst>
          </a:prstGeom>
          <a:solidFill>
            <a:srgbClr val="FFFFFF"/>
          </a:solidFill>
          <a:ln w="10160">
            <a:solidFill>
              <a:srgbClr val="D8DEE7"/>
            </a:solidFill>
            <a:prstDash val="solid"/>
          </a:ln>
        </p:spPr>
      </p:sp>
      <p:sp>
        <p:nvSpPr>
          <p:cNvPr id="6" name="Shape 4"/>
          <p:cNvSpPr/>
          <p:nvPr/>
        </p:nvSpPr>
        <p:spPr>
          <a:xfrm>
            <a:off x="630936" y="1783080"/>
            <a:ext cx="73152" cy="2395728"/>
          </a:xfrm>
          <a:prstGeom prst="rect">
            <a:avLst/>
          </a:prstGeom>
          <a:solidFill>
            <a:srgbClr val="2D8A65"/>
          </a:solidFill>
          <a:ln w="12700">
            <a:solidFill>
              <a:srgbClr val="2D8A65"/>
            </a:solidFill>
            <a:prstDash val="solid"/>
          </a:ln>
        </p:spPr>
      </p:sp>
      <p:sp>
        <p:nvSpPr>
          <p:cNvPr id="7" name="Text 5"/>
          <p:cNvSpPr txBox="1"/>
          <p:nvPr/>
        </p:nvSpPr>
        <p:spPr>
          <a:xfrm>
            <a:off x="877824" y="1965960"/>
            <a:ext cx="2112264" cy="201168"/>
          </a:xfrm>
          <a:prstGeom prst="rect">
            <a:avLst/>
          </a:prstGeom>
          <a:noFill/>
          <a:ln/>
        </p:spPr>
        <p:txBody>
          <a:bodyPr wrap="square" lIns="0" tIns="0" rIns="0" bIns="0" rtlCol="0" anchor="ctr">
            <a:normAutofit/>
          </a:bodyPr>
          <a:lstStyle/>
          <a:p>
            <a:pPr algn="l" indent="0" marL="0">
              <a:buNone/>
            </a:pPr>
            <a:r>
              <a:rPr lang="en-US" sz="880" b="1" spc="70" kern="0" dirty="0">
                <a:solidFill>
                  <a:srgbClr val="2D8A65"/>
                </a:solidFill>
                <a:latin typeface="Aptos" pitchFamily="34" charset="0"/>
                <a:ea typeface="Aptos" pitchFamily="34" charset="-122"/>
                <a:cs typeface="Aptos" pitchFamily="34" charset="-120"/>
              </a:rPr>
              <a:t>NOW</a:t>
            </a:r>
            <a:endParaRPr lang="en-US" sz="880" dirty="0"/>
          </a:p>
        </p:txBody>
      </p:sp>
      <p:sp>
        <p:nvSpPr>
          <p:cNvPr id="8" name="Text 6"/>
          <p:cNvSpPr txBox="1"/>
          <p:nvPr/>
        </p:nvSpPr>
        <p:spPr>
          <a:xfrm>
            <a:off x="877824" y="2249424"/>
            <a:ext cx="2093976"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Experience the POC</a:t>
            </a:r>
            <a:endParaRPr lang="en-US" sz="1650" dirty="0"/>
          </a:p>
        </p:txBody>
      </p:sp>
      <p:sp>
        <p:nvSpPr>
          <p:cNvPr id="9" name="Text 7"/>
          <p:cNvSpPr txBox="1"/>
          <p:nvPr/>
        </p:nvSpPr>
        <p:spPr>
          <a:xfrm>
            <a:off x="877824" y="2660904"/>
            <a:ext cx="2093976" cy="1353312"/>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Use representative work and assess clarity, reuse and developer control.</a:t>
            </a:r>
            <a:endParaRPr lang="en-US" sz="1180" dirty="0"/>
          </a:p>
        </p:txBody>
      </p:sp>
      <p:sp>
        <p:nvSpPr>
          <p:cNvPr id="10" name="Shape 8"/>
          <p:cNvSpPr/>
          <p:nvPr/>
        </p:nvSpPr>
        <p:spPr>
          <a:xfrm>
            <a:off x="3447288" y="1783080"/>
            <a:ext cx="2569464" cy="2395728"/>
          </a:xfrm>
          <a:prstGeom prst="roundRect">
            <a:avLst>
              <a:gd name="adj" fmla="val 3053"/>
            </a:avLst>
          </a:prstGeom>
          <a:solidFill>
            <a:srgbClr val="FFFFFF"/>
          </a:solidFill>
          <a:ln w="10160">
            <a:solidFill>
              <a:srgbClr val="D8DEE7"/>
            </a:solidFill>
            <a:prstDash val="solid"/>
          </a:ln>
        </p:spPr>
      </p:sp>
      <p:sp>
        <p:nvSpPr>
          <p:cNvPr id="11" name="Shape 9"/>
          <p:cNvSpPr/>
          <p:nvPr/>
        </p:nvSpPr>
        <p:spPr>
          <a:xfrm>
            <a:off x="3447288" y="1783080"/>
            <a:ext cx="73152" cy="2395728"/>
          </a:xfrm>
          <a:prstGeom prst="rect">
            <a:avLst/>
          </a:prstGeom>
          <a:solidFill>
            <a:srgbClr val="007F80"/>
          </a:solidFill>
          <a:ln w="12700">
            <a:solidFill>
              <a:srgbClr val="007F80"/>
            </a:solidFill>
            <a:prstDash val="solid"/>
          </a:ln>
        </p:spPr>
      </p:sp>
      <p:sp>
        <p:nvSpPr>
          <p:cNvPr id="12" name="Text 10"/>
          <p:cNvSpPr txBox="1"/>
          <p:nvPr/>
        </p:nvSpPr>
        <p:spPr>
          <a:xfrm>
            <a:off x="3694176" y="1965960"/>
            <a:ext cx="2112264" cy="201168"/>
          </a:xfrm>
          <a:prstGeom prst="rect">
            <a:avLst/>
          </a:prstGeom>
          <a:noFill/>
          <a:ln/>
        </p:spPr>
        <p:txBody>
          <a:bodyPr wrap="square" lIns="0" tIns="0" rIns="0" bIns="0" rtlCol="0" anchor="ctr">
            <a:normAutofit/>
          </a:bodyPr>
          <a:lstStyle/>
          <a:p>
            <a:pPr algn="l" indent="0" marL="0">
              <a:buNone/>
            </a:pPr>
            <a:r>
              <a:rPr lang="en-US" sz="880" b="1" spc="70" kern="0" dirty="0">
                <a:solidFill>
                  <a:srgbClr val="007F80"/>
                </a:solidFill>
                <a:latin typeface="Aptos" pitchFamily="34" charset="0"/>
                <a:ea typeface="Aptos" pitchFamily="34" charset="-122"/>
                <a:cs typeface="Aptos" pitchFamily="34" charset="-120"/>
              </a:rPr>
              <a:t>NEXT</a:t>
            </a:r>
            <a:endParaRPr lang="en-US" sz="880" dirty="0"/>
          </a:p>
        </p:txBody>
      </p:sp>
      <p:sp>
        <p:nvSpPr>
          <p:cNvPr id="13" name="Text 11"/>
          <p:cNvSpPr txBox="1"/>
          <p:nvPr/>
        </p:nvSpPr>
        <p:spPr>
          <a:xfrm>
            <a:off x="3694176" y="2249424"/>
            <a:ext cx="2093976"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Close the baseline</a:t>
            </a:r>
            <a:endParaRPr lang="en-US" sz="1650" dirty="0"/>
          </a:p>
        </p:txBody>
      </p:sp>
      <p:sp>
        <p:nvSpPr>
          <p:cNvPr id="14" name="Text 12"/>
          <p:cNvSpPr txBox="1"/>
          <p:nvPr/>
        </p:nvSpPr>
        <p:spPr>
          <a:xfrm>
            <a:off x="3694176" y="2660904"/>
            <a:ext cx="2093976" cy="1353312"/>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Re-establish exact-tree continuity evidence and complete focused clarification.</a:t>
            </a:r>
            <a:endParaRPr lang="en-US" sz="1180" dirty="0"/>
          </a:p>
        </p:txBody>
      </p:sp>
      <p:sp>
        <p:nvSpPr>
          <p:cNvPr id="15" name="Shape 13"/>
          <p:cNvSpPr/>
          <p:nvPr/>
        </p:nvSpPr>
        <p:spPr>
          <a:xfrm>
            <a:off x="6263640" y="1783080"/>
            <a:ext cx="2569464" cy="2395728"/>
          </a:xfrm>
          <a:prstGeom prst="roundRect">
            <a:avLst>
              <a:gd name="adj" fmla="val 3053"/>
            </a:avLst>
          </a:prstGeom>
          <a:solidFill>
            <a:srgbClr val="FFFFFF"/>
          </a:solidFill>
          <a:ln w="10160">
            <a:solidFill>
              <a:srgbClr val="D8DEE7"/>
            </a:solidFill>
            <a:prstDash val="solid"/>
          </a:ln>
        </p:spPr>
      </p:sp>
      <p:sp>
        <p:nvSpPr>
          <p:cNvPr id="16" name="Shape 14"/>
          <p:cNvSpPr/>
          <p:nvPr/>
        </p:nvSpPr>
        <p:spPr>
          <a:xfrm>
            <a:off x="6263640" y="1783080"/>
            <a:ext cx="73152" cy="2395728"/>
          </a:xfrm>
          <a:prstGeom prst="rect">
            <a:avLst/>
          </a:prstGeom>
          <a:solidFill>
            <a:srgbClr val="D9952A"/>
          </a:solidFill>
          <a:ln w="12700">
            <a:solidFill>
              <a:srgbClr val="D9952A"/>
            </a:solidFill>
            <a:prstDash val="solid"/>
          </a:ln>
        </p:spPr>
      </p:sp>
      <p:sp>
        <p:nvSpPr>
          <p:cNvPr id="17" name="Text 15"/>
          <p:cNvSpPr txBox="1"/>
          <p:nvPr/>
        </p:nvSpPr>
        <p:spPr>
          <a:xfrm>
            <a:off x="6510528" y="1965960"/>
            <a:ext cx="2112264" cy="201168"/>
          </a:xfrm>
          <a:prstGeom prst="rect">
            <a:avLst/>
          </a:prstGeom>
          <a:noFill/>
          <a:ln/>
        </p:spPr>
        <p:txBody>
          <a:bodyPr wrap="square" lIns="0" tIns="0" rIns="0" bIns="0" rtlCol="0" anchor="ctr">
            <a:normAutofit/>
          </a:bodyPr>
          <a:lstStyle/>
          <a:p>
            <a:pPr algn="l" indent="0" marL="0">
              <a:buNone/>
            </a:pPr>
            <a:r>
              <a:rPr lang="en-US" sz="880" b="1" spc="70" kern="0" dirty="0">
                <a:solidFill>
                  <a:srgbClr val="D9952A"/>
                </a:solidFill>
                <a:latin typeface="Aptos" pitchFamily="34" charset="0"/>
                <a:ea typeface="Aptos" pitchFamily="34" charset="-122"/>
                <a:cs typeface="Aptos" pitchFamily="34" charset="-120"/>
              </a:rPr>
              <a:t>DESIGN</a:t>
            </a:r>
            <a:endParaRPr lang="en-US" sz="880" dirty="0"/>
          </a:p>
        </p:txBody>
      </p:sp>
      <p:sp>
        <p:nvSpPr>
          <p:cNvPr id="18" name="Text 16"/>
          <p:cNvSpPr txBox="1"/>
          <p:nvPr/>
        </p:nvSpPr>
        <p:spPr>
          <a:xfrm>
            <a:off x="6510528" y="2249424"/>
            <a:ext cx="2093976"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Freeze governance</a:t>
            </a:r>
            <a:endParaRPr lang="en-US" sz="1650" dirty="0"/>
          </a:p>
        </p:txBody>
      </p:sp>
      <p:sp>
        <p:nvSpPr>
          <p:cNvPr id="19" name="Text 17"/>
          <p:cNvSpPr txBox="1"/>
          <p:nvPr/>
        </p:nvSpPr>
        <p:spPr>
          <a:xfrm>
            <a:off x="6510528" y="2660904"/>
            <a:ext cx="2093976" cy="1353312"/>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Agree PMS data, budget precedence, telemetry exclusions and success measures.</a:t>
            </a:r>
            <a:endParaRPr lang="en-US" sz="1180" dirty="0"/>
          </a:p>
        </p:txBody>
      </p:sp>
      <p:sp>
        <p:nvSpPr>
          <p:cNvPr id="20" name="Shape 18"/>
          <p:cNvSpPr/>
          <p:nvPr/>
        </p:nvSpPr>
        <p:spPr>
          <a:xfrm>
            <a:off x="9079992" y="1783080"/>
            <a:ext cx="2569464" cy="2395728"/>
          </a:xfrm>
          <a:prstGeom prst="roundRect">
            <a:avLst>
              <a:gd name="adj" fmla="val 3053"/>
            </a:avLst>
          </a:prstGeom>
          <a:solidFill>
            <a:srgbClr val="FFFFFF"/>
          </a:solidFill>
          <a:ln w="10160">
            <a:solidFill>
              <a:srgbClr val="D8DEE7"/>
            </a:solidFill>
            <a:prstDash val="solid"/>
          </a:ln>
        </p:spPr>
      </p:sp>
      <p:sp>
        <p:nvSpPr>
          <p:cNvPr id="21" name="Shape 19"/>
          <p:cNvSpPr/>
          <p:nvPr/>
        </p:nvSpPr>
        <p:spPr>
          <a:xfrm>
            <a:off x="9079992" y="1783080"/>
            <a:ext cx="73152" cy="2395728"/>
          </a:xfrm>
          <a:prstGeom prst="rect">
            <a:avLst/>
          </a:prstGeom>
          <a:solidFill>
            <a:srgbClr val="163454"/>
          </a:solidFill>
          <a:ln w="12700">
            <a:solidFill>
              <a:srgbClr val="163454"/>
            </a:solidFill>
            <a:prstDash val="solid"/>
          </a:ln>
        </p:spPr>
      </p:sp>
      <p:sp>
        <p:nvSpPr>
          <p:cNvPr id="22" name="Text 20"/>
          <p:cNvSpPr txBox="1"/>
          <p:nvPr/>
        </p:nvSpPr>
        <p:spPr>
          <a:xfrm>
            <a:off x="9326880" y="1965960"/>
            <a:ext cx="2112264" cy="201168"/>
          </a:xfrm>
          <a:prstGeom prst="rect">
            <a:avLst/>
          </a:prstGeom>
          <a:noFill/>
          <a:ln/>
        </p:spPr>
        <p:txBody>
          <a:bodyPr wrap="square" lIns="0" tIns="0" rIns="0" bIns="0" rtlCol="0" anchor="ctr">
            <a:normAutofit/>
          </a:bodyPr>
          <a:lstStyle/>
          <a:p>
            <a:pPr algn="l" indent="0" marL="0">
              <a:buNone/>
            </a:pPr>
            <a:r>
              <a:rPr lang="en-US" sz="880" b="1" spc="70" kern="0" dirty="0">
                <a:solidFill>
                  <a:srgbClr val="163454"/>
                </a:solidFill>
                <a:latin typeface="Aptos" pitchFamily="34" charset="0"/>
                <a:ea typeface="Aptos" pitchFamily="34" charset="-122"/>
                <a:cs typeface="Aptos" pitchFamily="34" charset="-120"/>
              </a:rPr>
              <a:t>PILOT</a:t>
            </a:r>
            <a:endParaRPr lang="en-US" sz="880" dirty="0"/>
          </a:p>
        </p:txBody>
      </p:sp>
      <p:sp>
        <p:nvSpPr>
          <p:cNvPr id="23" name="Text 21"/>
          <p:cNvSpPr txBox="1"/>
          <p:nvPr/>
        </p:nvSpPr>
        <p:spPr>
          <a:xfrm>
            <a:off x="9326880" y="2249424"/>
            <a:ext cx="2093976"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Test one workflow</a:t>
            </a:r>
            <a:endParaRPr lang="en-US" sz="1650" dirty="0"/>
          </a:p>
        </p:txBody>
      </p:sp>
      <p:sp>
        <p:nvSpPr>
          <p:cNvPr id="24" name="Text 22"/>
          <p:cNvSpPr txBox="1"/>
          <p:nvPr/>
        </p:nvSpPr>
        <p:spPr>
          <a:xfrm>
            <a:off x="9326880" y="2660904"/>
            <a:ext cx="2093976" cy="1353312"/>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Run offline or shadow allocation before a bounded operational pilot.</a:t>
            </a:r>
            <a:endParaRPr lang="en-US" sz="1180" dirty="0"/>
          </a:p>
        </p:txBody>
      </p:sp>
      <p:sp>
        <p:nvSpPr>
          <p:cNvPr id="25" name="Shape 23"/>
          <p:cNvSpPr/>
          <p:nvPr/>
        </p:nvSpPr>
        <p:spPr>
          <a:xfrm>
            <a:off x="640080" y="4489704"/>
            <a:ext cx="10981944" cy="1197864"/>
          </a:xfrm>
          <a:prstGeom prst="roundRect">
            <a:avLst>
              <a:gd name="adj" fmla="val 6107"/>
            </a:avLst>
          </a:prstGeom>
          <a:solidFill>
            <a:srgbClr val="163454"/>
          </a:solidFill>
          <a:ln w="10160">
            <a:solidFill>
              <a:srgbClr val="163454"/>
            </a:solidFill>
            <a:prstDash val="solid"/>
          </a:ln>
        </p:spPr>
      </p:sp>
      <p:sp>
        <p:nvSpPr>
          <p:cNvPr id="26" name="Text 24"/>
          <p:cNvSpPr txBox="1"/>
          <p:nvPr/>
        </p:nvSpPr>
        <p:spPr>
          <a:xfrm>
            <a:off x="932688" y="4718304"/>
            <a:ext cx="2148840" cy="201168"/>
          </a:xfrm>
          <a:prstGeom prst="rect">
            <a:avLst/>
          </a:prstGeom>
          <a:noFill/>
          <a:ln/>
        </p:spPr>
        <p:txBody>
          <a:bodyPr wrap="square" lIns="0" tIns="0" rIns="0" bIns="0" rtlCol="0" anchor="ctr">
            <a:normAutofit/>
          </a:bodyPr>
          <a:lstStyle/>
          <a:p>
            <a:pPr algn="l" indent="0" marL="0">
              <a:buNone/>
            </a:pPr>
            <a:r>
              <a:rPr lang="en-US" sz="940" b="1" spc="100" kern="0" dirty="0">
                <a:solidFill>
                  <a:srgbClr val="9DE0E4"/>
                </a:solidFill>
                <a:latin typeface="Aptos" pitchFamily="34" charset="0"/>
                <a:ea typeface="Aptos" pitchFamily="34" charset="-122"/>
                <a:cs typeface="Aptos" pitchFamily="34" charset="-120"/>
              </a:rPr>
              <a:t>MANAGEMENT QUESTION</a:t>
            </a:r>
            <a:endParaRPr lang="en-US" sz="940" dirty="0"/>
          </a:p>
        </p:txBody>
      </p:sp>
      <p:sp>
        <p:nvSpPr>
          <p:cNvPr id="27" name="Text 25"/>
          <p:cNvSpPr txBox="1"/>
          <p:nvPr/>
        </p:nvSpPr>
        <p:spPr>
          <a:xfrm>
            <a:off x="932688" y="5038344"/>
            <a:ext cx="10076688" cy="420624"/>
          </a:xfrm>
          <a:prstGeom prst="rect">
            <a:avLst/>
          </a:prstGeom>
          <a:noFill/>
          <a:ln/>
        </p:spPr>
        <p:txBody>
          <a:bodyPr wrap="square" lIns="0" tIns="0" rIns="0" bIns="0" rtlCol="0" anchor="ctr">
            <a:normAutofit/>
          </a:bodyPr>
          <a:lstStyle/>
          <a:p>
            <a:pPr algn="l" indent="0" marL="0">
              <a:buNone/>
            </a:pPr>
            <a:r>
              <a:rPr lang="en-US" sz="1920" b="1" dirty="0">
                <a:solidFill>
                  <a:srgbClr val="FFFFFF"/>
                </a:solidFill>
                <a:latin typeface="Aptos" pitchFamily="34" charset="0"/>
                <a:ea typeface="Aptos" pitchFamily="34" charset="-122"/>
                <a:cs typeface="Aptos" pitchFamily="34" charset="-120"/>
              </a:rPr>
              <a:t>Does this structured, project-aware workflow create enough value to justify a governed pilot of the broader operating model?</a:t>
            </a:r>
            <a:endParaRPr lang="en-US" sz="1920" dirty="0"/>
          </a:p>
        </p:txBody>
      </p:sp>
      <p:sp>
        <p:nvSpPr>
          <p:cNvPr id="28" name="Text 26"/>
          <p:cNvSpPr txBox="1"/>
          <p:nvPr/>
        </p:nvSpPr>
        <p:spPr>
          <a:xfrm>
            <a:off x="658368" y="5961888"/>
            <a:ext cx="10954512" cy="256032"/>
          </a:xfrm>
          <a:prstGeom prst="rect">
            <a:avLst/>
          </a:prstGeom>
          <a:noFill/>
          <a:ln/>
        </p:spPr>
        <p:txBody>
          <a:bodyPr wrap="square" lIns="0" tIns="0" rIns="0" bIns="0" rtlCol="0" anchor="ctr">
            <a:normAutofit/>
          </a:bodyPr>
          <a:lstStyle/>
          <a:p>
            <a:pPr algn="ctr" indent="0" marL="0">
              <a:buNone/>
            </a:pPr>
            <a:r>
              <a:rPr lang="en-US" sz="1250" b="1" dirty="0">
                <a:solidFill>
                  <a:srgbClr val="007F80"/>
                </a:solidFill>
                <a:latin typeface="Aptos" pitchFamily="34" charset="0"/>
                <a:ea typeface="Aptos" pitchFamily="34" charset="-122"/>
                <a:cs typeface="Aptos" pitchFamily="34" charset="-120"/>
              </a:rPr>
              <a:t>Current status: Phase 5/6 local POC evidence passes; Phase 4 real semantic qualification remains blocked.</a:t>
            </a:r>
            <a:endParaRPr lang="en-US" sz="1250" dirty="0"/>
          </a:p>
        </p:txBody>
      </p:sp>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DWI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DWI Prompt Optimizer — Management POC and Future Direction</dc:title>
  <dc:subject>DWI Prompt Optimizer management POC and future operating direction</dc:subject>
  <dc:creator>DWI</dc:creator>
  <cp:lastModifiedBy>DWI</cp:lastModifiedBy>
  <cp:revision>1</cp:revision>
  <dcterms:created xsi:type="dcterms:W3CDTF">2026-09-01T06:47:32Z</dcterms:created>
  <dcterms:modified xsi:type="dcterms:W3CDTF">2026-09-01T06:47:32Z</dcterms:modified>
</cp:coreProperties>
</file>