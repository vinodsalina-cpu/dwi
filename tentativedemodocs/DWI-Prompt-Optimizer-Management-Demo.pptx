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DWI is a local proof of concept for a safer and more consistent way to prepare AI-assisted work.
Keep today and tomorrow separate: the current product uses approved project knowledge and human review; project-management links, AI usage limits and management feedback are future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issue is broader than the wording of a prompt. Teams need one understandable way to bring project facts, the task, review, limits and feedback together.
The current proof of concept covers project knowledge through human review. Clear AI usage limits and shared outcome feedback are future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current product in four simple steps: reuse project facts, describe the work, spot what is missing, then check and save.
DWI can show important missing information today. Asking one short question and safely applying the answer is not complete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generic answer can look polished while missing local deployment or rollback constraints.
The current proof of concept uses approved project facts and calls out important missing information. The next step is to ask one short question and safely apply or skip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time on the outcome: less briefing, fewer avoidable omissions, lower cognitive load and clearer review.
Human control is part of the value. Current evidence covers the local, rule-based product; it does not establish production scale or the quality of live external-AI improvements.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only current behavior: reviewed project facts, clear task details, visible sources and assumptions, a local draft, save, and reset of the current task.
Name the unfinished step directly: DWI can show important missing information, but the guided question-and-answer step is not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future idea, not something built today. A project-management system could supply a small set of approved task details such as priority, type, risk and timing.
Agreed rules could turn those details into a clear AI usage limit. DWI could prepare work within that limit, but the limit would never approve spending or external AI use.
Outcome-only feedback should be grouped and privacy-safe. It must not copy prompts, generated work, code, project content or employee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developer level, improve day-to-day work. Team leads need shared gaps and handoff patterns. Delivery operations need delays and limit adherence. Management and the AI Center of Excellence need useful adoption and capacity information.
Report only by workflow or group. Never copy prompts, code or project content, and never rank people or turn feedback into a performance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management to evaluate usefulness and support a staged learning plan, not to declare production readiness.
The sequence is simple: try the demo, finish the guided question and restart checks, agree the guardrails, run a dry-run, then consider one small pilot.
Phases 5 and 6 local checks passed. Phase 4 testing of live external-AI output quality remains blocked because the agreed usage limit was exceeded; no retry was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WI">
    <p:bg>
      <p:bgPr>
        <a:solidFill>
          <a:srgbClr val="F7F9FB"/>
        </a:solidFill>
      </p:bgPr>
    </p:bg>
    <p:spTree>
      <p:nvGrpSpPr>
        <p:cNvPr id="1" name=""/>
        <p:cNvGrpSpPr/>
        <p:nvPr/>
      </p:nvGrpSpPr>
      <p:grpSpPr>
        <a:xfrm>
          <a:off x="0" y="0"/>
          <a:ext cx="0" cy="0"/>
          <a:chOff x="0" y="0"/>
          <a:chExt cx="0" cy="0"/>
        </a:xfrm>
      </p:grpSpPr>
      <p:sp>
        <p:nvSpPr>
          <p:cNvPr id="2" name="Shape 0"/>
          <p:cNvSpPr/>
          <p:nvPr/>
        </p:nvSpPr>
        <p:spPr>
          <a:xfrm>
            <a:off x="530352" y="6437376"/>
            <a:ext cx="11082528" cy="0"/>
          </a:xfrm>
          <a:prstGeom prst="line">
            <a:avLst/>
          </a:prstGeom>
          <a:noFill/>
          <a:ln w="8890">
            <a:solidFill>
              <a:srgbClr val="D8DEE7"/>
            </a:solidFill>
            <a:prstDash val="solid"/>
          </a:ln>
        </p:spPr>
      </p:sp>
      <p:sp>
        <p:nvSpPr>
          <p:cNvPr id="3" name="Text 1"/>
          <p:cNvSpPr/>
          <p:nvPr/>
        </p:nvSpPr>
        <p:spPr>
          <a:xfrm>
            <a:off x="585216" y="6492240"/>
            <a:ext cx="5212080" cy="146304"/>
          </a:xfrm>
          <a:prstGeom prst="rect">
            <a:avLst/>
          </a:prstGeom>
          <a:noFill/>
          <a:ln/>
        </p:spPr>
        <p:txBody>
          <a:bodyPr wrap="square" lIns="0" tIns="0" rIns="0" bIns="0" rtlCol="0" anchor="ctr"/>
          <a:lstStyle/>
          <a:p>
            <a:pPr indent="0" marL="0">
              <a:buNone/>
            </a:pPr>
            <a:r>
              <a:rPr lang="en-US" sz="780" b="1" spc="70" kern="0" dirty="0">
                <a:solidFill>
                  <a:srgbClr val="667085"/>
                </a:solidFill>
                <a:latin typeface="Aptos" pitchFamily="34" charset="0"/>
                <a:ea typeface="Aptos" pitchFamily="34" charset="-122"/>
                <a:cs typeface="Aptos" pitchFamily="34" charset="-120"/>
              </a:rPr>
              <a:t>DWI  •  MANAGEMENT DEMO IN PLAIN LANGUAGE</a:t>
            </a:r>
            <a:endParaRPr lang="en-US" sz="780" dirty="0"/>
          </a:p>
        </p:txBody>
      </p:sp>
      <p:sp>
        <p:nvSpPr>
          <p:cNvPr id="4" name="Text 2"/>
          <p:cNvSpPr/>
          <p:nvPr/>
        </p:nvSpPr>
        <p:spPr>
          <a:xfrm>
            <a:off x="9802368" y="6492240"/>
            <a:ext cx="1755648" cy="146304"/>
          </a:xfrm>
          <a:prstGeom prst="rect">
            <a:avLst/>
          </a:prstGeom>
          <a:noFill/>
          <a:ln/>
        </p:spPr>
        <p:txBody>
          <a:bodyPr wrap="square" lIns="0" tIns="0" rIns="0" bIns="0" rtlCol="0" anchor="ctr"/>
          <a:lstStyle/>
          <a:p>
            <a:pPr algn="r" indent="0" marL="0">
              <a:buNone/>
            </a:pPr>
            <a:r>
              <a:rPr lang="en-US" sz="780" dirty="0">
                <a:solidFill>
                  <a:srgbClr val="667085"/>
                </a:solidFill>
                <a:latin typeface="Aptos" pitchFamily="34" charset="0"/>
                <a:ea typeface="Aptos" pitchFamily="34" charset="-122"/>
                <a:cs typeface="Aptos" pitchFamily="34" charset="-120"/>
              </a:rPr>
              <a:t>01 SEP 2026</a:t>
            </a:r>
            <a:endParaRPr lang="en-US" sz="78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53D"/>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253D"/>
          </a:solidFill>
          <a:ln w="12700">
            <a:solidFill>
              <a:srgbClr val="0E253D"/>
            </a:solidFill>
            <a:prstDash val="solid"/>
          </a:ln>
        </p:spPr>
      </p:sp>
      <p:sp>
        <p:nvSpPr>
          <p:cNvPr id="3" name="Shape 1"/>
          <p:cNvSpPr/>
          <p:nvPr/>
        </p:nvSpPr>
        <p:spPr>
          <a:xfrm rot="1080000">
            <a:off x="7498080" y="-1051560"/>
            <a:ext cx="6126480" cy="6126480"/>
          </a:xfrm>
          <a:prstGeom prst="arc">
            <a:avLst/>
          </a:prstGeom>
          <a:solidFill>
            <a:srgbClr val="007F80">
              <a:alpha val="84000"/>
            </a:srgbClr>
          </a:solidFill>
          <a:ln w="12700">
            <a:solidFill>
              <a:srgbClr val="007F80">
                <a:alpha val="0"/>
              </a:srgbClr>
            </a:solidFill>
            <a:prstDash val="solid"/>
          </a:ln>
        </p:spPr>
      </p:sp>
      <p:sp>
        <p:nvSpPr>
          <p:cNvPr id="4" name="Shape 2"/>
          <p:cNvSpPr/>
          <p:nvPr/>
        </p:nvSpPr>
        <p:spPr>
          <a:xfrm rot="12300000">
            <a:off x="8503920" y="1353312"/>
            <a:ext cx="4389120" cy="4389120"/>
          </a:xfrm>
          <a:prstGeom prst="arc">
            <a:avLst/>
          </a:prstGeom>
          <a:solidFill>
            <a:srgbClr val="21A7B7">
              <a:alpha val="60000"/>
            </a:srgbClr>
          </a:solidFill>
          <a:ln w="12700">
            <a:solidFill>
              <a:srgbClr val="21A7B7">
                <a:alpha val="0"/>
              </a:srgbClr>
            </a:solidFill>
            <a:prstDash val="solid"/>
          </a:ln>
        </p:spPr>
      </p:sp>
      <p:sp>
        <p:nvSpPr>
          <p:cNvPr id="5" name="Shape 3"/>
          <p:cNvSpPr/>
          <p:nvPr/>
        </p:nvSpPr>
        <p:spPr>
          <a:xfrm>
            <a:off x="676656" y="603504"/>
            <a:ext cx="3310128" cy="292608"/>
          </a:xfrm>
          <a:prstGeom prst="roundRect">
            <a:avLst>
              <a:gd name="adj" fmla="val 50000"/>
            </a:avLst>
          </a:prstGeom>
          <a:solidFill>
            <a:srgbClr val="29475F"/>
          </a:solidFill>
          <a:ln w="12700">
            <a:solidFill>
              <a:srgbClr val="29475F"/>
            </a:solidFill>
            <a:prstDash val="solid"/>
          </a:ln>
        </p:spPr>
      </p:sp>
      <p:sp>
        <p:nvSpPr>
          <p:cNvPr id="6" name="Text 4"/>
          <p:cNvSpPr txBox="1"/>
          <p:nvPr/>
        </p:nvSpPr>
        <p:spPr>
          <a:xfrm>
            <a:off x="740664" y="621792"/>
            <a:ext cx="318211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B9D85C"/>
                </a:solidFill>
                <a:latin typeface="Aptos" pitchFamily="34" charset="0"/>
                <a:ea typeface="Aptos" pitchFamily="34" charset="-122"/>
                <a:cs typeface="Aptos" pitchFamily="34" charset="-120"/>
              </a:rPr>
              <a:t>LOCAL PROOF OF CONCEPT + FUTURE DIRECTION</a:t>
            </a:r>
            <a:endParaRPr lang="en-US" sz="920" dirty="0"/>
          </a:p>
        </p:txBody>
      </p:sp>
      <p:sp>
        <p:nvSpPr>
          <p:cNvPr id="7" name="Text 5"/>
          <p:cNvSpPr txBox="1"/>
          <p:nvPr/>
        </p:nvSpPr>
        <p:spPr>
          <a:xfrm>
            <a:off x="676656" y="1353312"/>
            <a:ext cx="7315200" cy="1426464"/>
          </a:xfrm>
          <a:prstGeom prst="rect">
            <a:avLst/>
          </a:prstGeom>
          <a:noFill/>
          <a:ln/>
        </p:spPr>
        <p:txBody>
          <a:bodyPr wrap="square" lIns="0" tIns="0" rIns="0" bIns="0" rtlCol="0" anchor="t">
            <a:normAutofit/>
          </a:bodyPr>
          <a:lstStyle/>
          <a:p>
            <a:pPr algn="l" indent="0" marL="0">
              <a:buNone/>
            </a:pPr>
            <a:r>
              <a:rPr lang="en-US" sz="3350" b="1" dirty="0">
                <a:solidFill>
                  <a:srgbClr val="FFFFFF"/>
                </a:solidFill>
                <a:latin typeface="Aptos" pitchFamily="34" charset="0"/>
                <a:ea typeface="Aptos" pitchFamily="34" charset="-122"/>
                <a:cs typeface="Aptos" pitchFamily="34" charset="-120"/>
              </a:rPr>
              <a:t>A safer, more consistent way to use AI</a:t>
            </a:r>
            <a:endParaRPr lang="en-US" sz="3350" dirty="0"/>
          </a:p>
          <a:p>
            <a:pPr algn="l" indent="0" marL="0">
              <a:buNone/>
            </a:pPr>
            <a:r>
              <a:rPr lang="en-US" sz="3350" b="1" dirty="0">
                <a:solidFill>
                  <a:srgbClr val="FFFFFF"/>
                </a:solidFill>
                <a:latin typeface="Aptos" pitchFamily="34" charset="0"/>
                <a:ea typeface="Aptos" pitchFamily="34" charset="-122"/>
                <a:cs typeface="Aptos" pitchFamily="34" charset="-120"/>
              </a:rPr>
              <a:t>across software delivery</a:t>
            </a:r>
            <a:endParaRPr lang="en-US" sz="3350" dirty="0"/>
          </a:p>
        </p:txBody>
      </p:sp>
      <p:sp>
        <p:nvSpPr>
          <p:cNvPr id="8" name="Text 6"/>
          <p:cNvSpPr txBox="1"/>
          <p:nvPr/>
        </p:nvSpPr>
        <p:spPr>
          <a:xfrm>
            <a:off x="694944" y="3200400"/>
            <a:ext cx="6812280" cy="932688"/>
          </a:xfrm>
          <a:prstGeom prst="rect">
            <a:avLst/>
          </a:prstGeom>
          <a:noFill/>
          <a:ln/>
        </p:spPr>
        <p:txBody>
          <a:bodyPr wrap="square" lIns="0" tIns="0" rIns="0" bIns="0" rtlCol="0" anchor="t">
            <a:normAutofit/>
          </a:bodyPr>
          <a:lstStyle/>
          <a:p>
            <a:pPr algn="l" indent="0" marL="0">
              <a:buNone/>
            </a:pPr>
            <a:r>
              <a:rPr lang="en-US" sz="1820" dirty="0">
                <a:solidFill>
                  <a:srgbClr val="C1EBEE"/>
                </a:solidFill>
                <a:latin typeface="Aptos" pitchFamily="34" charset="0"/>
                <a:ea typeface="Aptos" pitchFamily="34" charset="-122"/>
                <a:cs typeface="Aptos" pitchFamily="34" charset="-120"/>
              </a:rPr>
              <a:t>Today: approved project knowledge, clear task inputs and human review.</a:t>
            </a:r>
            <a:endParaRPr lang="en-US" sz="1820" dirty="0"/>
          </a:p>
          <a:p>
            <a:pPr algn="l" indent="0" marL="0">
              <a:buNone/>
            </a:pPr>
            <a:r>
              <a:rPr lang="en-US" sz="1820" dirty="0">
                <a:solidFill>
                  <a:srgbClr val="C1EBEE"/>
                </a:solidFill>
                <a:latin typeface="Aptos" pitchFamily="34" charset="0"/>
                <a:ea typeface="Aptos" pitchFamily="34" charset="-122"/>
                <a:cs typeface="Aptos" pitchFamily="34" charset="-120"/>
              </a:rPr>
              <a:t>Future: use project-management data to set AI usage limits and improve ways of working.</a:t>
            </a:r>
            <a:endParaRPr lang="en-US" sz="1820" dirty="0"/>
          </a:p>
        </p:txBody>
      </p:sp>
      <p:sp>
        <p:nvSpPr>
          <p:cNvPr id="9" name="Text 7"/>
          <p:cNvSpPr txBox="1"/>
          <p:nvPr/>
        </p:nvSpPr>
        <p:spPr>
          <a:xfrm>
            <a:off x="694944" y="5961888"/>
            <a:ext cx="2743200" cy="237744"/>
          </a:xfrm>
          <a:prstGeom prst="rect">
            <a:avLst/>
          </a:prstGeom>
          <a:noFill/>
          <a:ln/>
        </p:spPr>
        <p:txBody>
          <a:bodyPr wrap="square" lIns="0" tIns="0" rIns="0" bIns="0" rtlCol="0" anchor="ctr">
            <a:normAutofit/>
          </a:bodyPr>
          <a:lstStyle/>
          <a:p>
            <a:pPr algn="l" indent="0" marL="0">
              <a:buNone/>
            </a:pPr>
            <a:r>
              <a:rPr lang="en-US" sz="1000" b="1" spc="110" kern="0" dirty="0">
                <a:solidFill>
                  <a:srgbClr val="9EB4C5"/>
                </a:solidFill>
                <a:latin typeface="Aptos" pitchFamily="34" charset="0"/>
                <a:ea typeface="Aptos" pitchFamily="34" charset="-122"/>
                <a:cs typeface="Aptos" pitchFamily="34" charset="-120"/>
              </a:rPr>
              <a:t>DWI PROMPT OPTIMIZER</a:t>
            </a:r>
            <a:endParaRPr lang="en-US" sz="1000" dirty="0"/>
          </a:p>
        </p:txBody>
      </p:sp>
      <p:sp>
        <p:nvSpPr>
          <p:cNvPr id="10" name="Text 8"/>
          <p:cNvSpPr txBox="1"/>
          <p:nvPr/>
        </p:nvSpPr>
        <p:spPr>
          <a:xfrm>
            <a:off x="8641080" y="5961888"/>
            <a:ext cx="2743200" cy="237744"/>
          </a:xfrm>
          <a:prstGeom prst="rect">
            <a:avLst/>
          </a:prstGeom>
          <a:noFill/>
          <a:ln/>
        </p:spPr>
        <p:txBody>
          <a:bodyPr wrap="square" lIns="0" tIns="0" rIns="0" bIns="0" rtlCol="0" anchor="ctr">
            <a:normAutofit/>
          </a:bodyPr>
          <a:lstStyle/>
          <a:p>
            <a:pPr algn="r" indent="0" marL="0">
              <a:buNone/>
            </a:pPr>
            <a:r>
              <a:rPr lang="en-US" sz="1000" b="1" spc="90" kern="0" dirty="0">
                <a:solidFill>
                  <a:srgbClr val="9EB4C5"/>
                </a:solidFill>
                <a:latin typeface="Aptos" pitchFamily="34" charset="0"/>
                <a:ea typeface="Aptos" pitchFamily="34" charset="-122"/>
                <a:cs typeface="Aptos" pitchFamily="34" charset="-120"/>
              </a:rPr>
              <a:t>MANAGEMENT BRIEF  •  FINAL</a:t>
            </a:r>
            <a:endParaRPr lang="en-US" sz="100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THE MANAGEMENT CHALLENGE</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AI use is growing faster than shared ways of working</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Without a common approach, teams repeat background information, get uneven results and lack feedback leaders can act on.</a:t>
            </a:r>
            <a:endParaRPr lang="en-US" sz="1350" dirty="0"/>
          </a:p>
        </p:txBody>
      </p:sp>
      <p:sp>
        <p:nvSpPr>
          <p:cNvPr id="5" name="Shape 3"/>
          <p:cNvSpPr/>
          <p:nvPr/>
        </p:nvSpPr>
        <p:spPr>
          <a:xfrm>
            <a:off x="640080" y="1773936"/>
            <a:ext cx="5276088" cy="1536192"/>
          </a:xfrm>
          <a:prstGeom prst="roundRect">
            <a:avLst>
              <a:gd name="adj" fmla="val 4762"/>
            </a:avLst>
          </a:prstGeom>
          <a:solidFill>
            <a:srgbClr val="FFFFFF"/>
          </a:solidFill>
          <a:ln w="10160">
            <a:solidFill>
              <a:srgbClr val="D8DEE7"/>
            </a:solidFill>
            <a:prstDash val="solid"/>
          </a:ln>
        </p:spPr>
      </p:sp>
      <p:sp>
        <p:nvSpPr>
          <p:cNvPr id="6" name="Shape 4"/>
          <p:cNvSpPr/>
          <p:nvPr/>
        </p:nvSpPr>
        <p:spPr>
          <a:xfrm>
            <a:off x="640080" y="1773936"/>
            <a:ext cx="73152" cy="1536192"/>
          </a:xfrm>
          <a:prstGeom prst="rect">
            <a:avLst/>
          </a:prstGeom>
          <a:solidFill>
            <a:srgbClr val="007F80"/>
          </a:solidFill>
          <a:ln w="12700">
            <a:solidFill>
              <a:srgbClr val="007F80"/>
            </a:solidFill>
            <a:prstDash val="solid"/>
          </a:ln>
        </p:spPr>
      </p:sp>
      <p:sp>
        <p:nvSpPr>
          <p:cNvPr id="7" name="Text 5"/>
          <p:cNvSpPr txBox="1"/>
          <p:nvPr/>
        </p:nvSpPr>
        <p:spPr>
          <a:xfrm>
            <a:off x="886968" y="1956816"/>
            <a:ext cx="4818888" cy="201168"/>
          </a:xfrm>
          <a:prstGeom prst="rect">
            <a:avLst/>
          </a:prstGeom>
          <a:noFill/>
          <a:ln/>
        </p:spPr>
        <p:txBody>
          <a:bodyPr wrap="square" lIns="0" tIns="0" rIns="0" bIns="0" rtlCol="0" anchor="ctr">
            <a:normAutofit/>
          </a:bodyPr>
          <a:lstStyle/>
          <a:p>
            <a:pPr algn="l" indent="0" marL="0">
              <a:buNone/>
            </a:pPr>
            <a:r>
              <a:rPr lang="en-US" sz="880" b="1" spc="70" kern="0" dirty="0">
                <a:solidFill>
                  <a:srgbClr val="007F80"/>
                </a:solidFill>
                <a:latin typeface="Aptos" pitchFamily="34" charset="0"/>
                <a:ea typeface="Aptos" pitchFamily="34" charset="-122"/>
                <a:cs typeface="Aptos" pitchFamily="34" charset="-120"/>
              </a:rPr>
              <a:t>CONTEXT</a:t>
            </a:r>
            <a:endParaRPr lang="en-US" sz="880" dirty="0"/>
          </a:p>
        </p:txBody>
      </p:sp>
      <p:sp>
        <p:nvSpPr>
          <p:cNvPr id="8" name="Text 6"/>
          <p:cNvSpPr txBox="1"/>
          <p:nvPr/>
        </p:nvSpPr>
        <p:spPr>
          <a:xfrm>
            <a:off x="886968" y="2240280"/>
            <a:ext cx="4800600"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Repeated setup</a:t>
            </a:r>
            <a:endParaRPr lang="en-US" sz="1650" dirty="0"/>
          </a:p>
        </p:txBody>
      </p:sp>
      <p:sp>
        <p:nvSpPr>
          <p:cNvPr id="9" name="Text 7"/>
          <p:cNvSpPr txBox="1"/>
          <p:nvPr/>
        </p:nvSpPr>
        <p:spPr>
          <a:xfrm>
            <a:off x="886968" y="2651760"/>
            <a:ext cx="4800600" cy="493776"/>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Developers explain the same project background again for every task and tool.</a:t>
            </a:r>
            <a:endParaRPr lang="en-US" sz="1180" dirty="0"/>
          </a:p>
        </p:txBody>
      </p:sp>
      <p:sp>
        <p:nvSpPr>
          <p:cNvPr id="10" name="Shape 8"/>
          <p:cNvSpPr/>
          <p:nvPr/>
        </p:nvSpPr>
        <p:spPr>
          <a:xfrm>
            <a:off x="6236208" y="1773936"/>
            <a:ext cx="5276088" cy="1536192"/>
          </a:xfrm>
          <a:prstGeom prst="roundRect">
            <a:avLst>
              <a:gd name="adj" fmla="val 4762"/>
            </a:avLst>
          </a:prstGeom>
          <a:solidFill>
            <a:srgbClr val="FFFFFF"/>
          </a:solidFill>
          <a:ln w="10160">
            <a:solidFill>
              <a:srgbClr val="D8DEE7"/>
            </a:solidFill>
            <a:prstDash val="solid"/>
          </a:ln>
        </p:spPr>
      </p:sp>
      <p:sp>
        <p:nvSpPr>
          <p:cNvPr id="11" name="Shape 9"/>
          <p:cNvSpPr/>
          <p:nvPr/>
        </p:nvSpPr>
        <p:spPr>
          <a:xfrm>
            <a:off x="6236208" y="1773936"/>
            <a:ext cx="73152" cy="1536192"/>
          </a:xfrm>
          <a:prstGeom prst="rect">
            <a:avLst/>
          </a:prstGeom>
          <a:solidFill>
            <a:srgbClr val="B94A48"/>
          </a:solidFill>
          <a:ln w="12700">
            <a:solidFill>
              <a:srgbClr val="B94A48"/>
            </a:solidFill>
            <a:prstDash val="solid"/>
          </a:ln>
        </p:spPr>
      </p:sp>
      <p:sp>
        <p:nvSpPr>
          <p:cNvPr id="12" name="Text 10"/>
          <p:cNvSpPr txBox="1"/>
          <p:nvPr/>
        </p:nvSpPr>
        <p:spPr>
          <a:xfrm>
            <a:off x="6483096" y="1956816"/>
            <a:ext cx="4818888" cy="201168"/>
          </a:xfrm>
          <a:prstGeom prst="rect">
            <a:avLst/>
          </a:prstGeom>
          <a:noFill/>
          <a:ln/>
        </p:spPr>
        <p:txBody>
          <a:bodyPr wrap="square" lIns="0" tIns="0" rIns="0" bIns="0" rtlCol="0" anchor="ctr">
            <a:normAutofit/>
          </a:bodyPr>
          <a:lstStyle/>
          <a:p>
            <a:pPr algn="l" indent="0" marL="0">
              <a:buNone/>
            </a:pPr>
            <a:r>
              <a:rPr lang="en-US" sz="880" b="1" spc="70" kern="0" dirty="0">
                <a:solidFill>
                  <a:srgbClr val="B94A48"/>
                </a:solidFill>
                <a:latin typeface="Aptos" pitchFamily="34" charset="0"/>
                <a:ea typeface="Aptos" pitchFamily="34" charset="-122"/>
                <a:cs typeface="Aptos" pitchFamily="34" charset="-120"/>
              </a:rPr>
              <a:t>QUALITY</a:t>
            </a:r>
            <a:endParaRPr lang="en-US" sz="880" dirty="0"/>
          </a:p>
        </p:txBody>
      </p:sp>
      <p:sp>
        <p:nvSpPr>
          <p:cNvPr id="13" name="Text 11"/>
          <p:cNvSpPr txBox="1"/>
          <p:nvPr/>
        </p:nvSpPr>
        <p:spPr>
          <a:xfrm>
            <a:off x="6483096" y="2240280"/>
            <a:ext cx="4800600"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Uneven results</a:t>
            </a:r>
            <a:endParaRPr lang="en-US" sz="1650" dirty="0"/>
          </a:p>
        </p:txBody>
      </p:sp>
      <p:sp>
        <p:nvSpPr>
          <p:cNvPr id="14" name="Text 12"/>
          <p:cNvSpPr txBox="1"/>
          <p:nvPr/>
        </p:nvSpPr>
        <p:spPr>
          <a:xfrm>
            <a:off x="6483096" y="2651760"/>
            <a:ext cx="4800600" cy="493776"/>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Important rules, risks and assumptions may be missed.</a:t>
            </a:r>
            <a:endParaRPr lang="en-US" sz="1180" dirty="0"/>
          </a:p>
        </p:txBody>
      </p:sp>
      <p:sp>
        <p:nvSpPr>
          <p:cNvPr id="15" name="Shape 13"/>
          <p:cNvSpPr/>
          <p:nvPr/>
        </p:nvSpPr>
        <p:spPr>
          <a:xfrm>
            <a:off x="640080" y="3675888"/>
            <a:ext cx="5276088" cy="1536192"/>
          </a:xfrm>
          <a:prstGeom prst="roundRect">
            <a:avLst>
              <a:gd name="adj" fmla="val 4762"/>
            </a:avLst>
          </a:prstGeom>
          <a:solidFill>
            <a:srgbClr val="FFFFFF"/>
          </a:solidFill>
          <a:ln w="10160">
            <a:solidFill>
              <a:srgbClr val="D8DEE7"/>
            </a:solidFill>
            <a:prstDash val="solid"/>
          </a:ln>
        </p:spPr>
      </p:sp>
      <p:sp>
        <p:nvSpPr>
          <p:cNvPr id="16" name="Shape 14"/>
          <p:cNvSpPr/>
          <p:nvPr/>
        </p:nvSpPr>
        <p:spPr>
          <a:xfrm>
            <a:off x="640080" y="3675888"/>
            <a:ext cx="73152" cy="1536192"/>
          </a:xfrm>
          <a:prstGeom prst="rect">
            <a:avLst/>
          </a:prstGeom>
          <a:solidFill>
            <a:srgbClr val="D9952A"/>
          </a:solidFill>
          <a:ln w="12700">
            <a:solidFill>
              <a:srgbClr val="D9952A"/>
            </a:solidFill>
            <a:prstDash val="solid"/>
          </a:ln>
        </p:spPr>
      </p:sp>
      <p:sp>
        <p:nvSpPr>
          <p:cNvPr id="17" name="Text 15"/>
          <p:cNvSpPr txBox="1"/>
          <p:nvPr/>
        </p:nvSpPr>
        <p:spPr>
          <a:xfrm>
            <a:off x="886968" y="3858768"/>
            <a:ext cx="4818888" cy="201168"/>
          </a:xfrm>
          <a:prstGeom prst="rect">
            <a:avLst/>
          </a:prstGeom>
          <a:noFill/>
          <a:ln/>
        </p:spPr>
        <p:txBody>
          <a:bodyPr wrap="square" lIns="0" tIns="0" rIns="0" bIns="0" rtlCol="0" anchor="ctr">
            <a:normAutofit/>
          </a:bodyPr>
          <a:lstStyle/>
          <a:p>
            <a:pPr algn="l" indent="0" marL="0">
              <a:buNone/>
            </a:pPr>
            <a:r>
              <a:rPr lang="en-US" sz="880" b="1" spc="70" kern="0" dirty="0">
                <a:solidFill>
                  <a:srgbClr val="D9952A"/>
                </a:solidFill>
                <a:latin typeface="Aptos" pitchFamily="34" charset="0"/>
                <a:ea typeface="Aptos" pitchFamily="34" charset="-122"/>
                <a:cs typeface="Aptos" pitchFamily="34" charset="-120"/>
              </a:rPr>
              <a:t>CONTROL</a:t>
            </a:r>
            <a:endParaRPr lang="en-US" sz="880" dirty="0"/>
          </a:p>
        </p:txBody>
      </p:sp>
      <p:sp>
        <p:nvSpPr>
          <p:cNvPr id="18" name="Text 16"/>
          <p:cNvSpPr txBox="1"/>
          <p:nvPr/>
        </p:nvSpPr>
        <p:spPr>
          <a:xfrm>
            <a:off x="886968" y="4142232"/>
            <a:ext cx="4800600"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Unclear AI effort and cost</a:t>
            </a:r>
            <a:endParaRPr lang="en-US" sz="1650" dirty="0"/>
          </a:p>
        </p:txBody>
      </p:sp>
      <p:sp>
        <p:nvSpPr>
          <p:cNvPr id="19" name="Text 17"/>
          <p:cNvSpPr txBox="1"/>
          <p:nvPr/>
        </p:nvSpPr>
        <p:spPr>
          <a:xfrm>
            <a:off x="886968" y="4553712"/>
            <a:ext cx="4800600" cy="493776"/>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Task priority and complexity are not linked to clear AI usage limits.</a:t>
            </a:r>
            <a:endParaRPr lang="en-US" sz="1180" dirty="0"/>
          </a:p>
        </p:txBody>
      </p:sp>
      <p:sp>
        <p:nvSpPr>
          <p:cNvPr id="20" name="Shape 18"/>
          <p:cNvSpPr/>
          <p:nvPr/>
        </p:nvSpPr>
        <p:spPr>
          <a:xfrm>
            <a:off x="6236208" y="3675888"/>
            <a:ext cx="5276088" cy="1536192"/>
          </a:xfrm>
          <a:prstGeom prst="roundRect">
            <a:avLst>
              <a:gd name="adj" fmla="val 4762"/>
            </a:avLst>
          </a:prstGeom>
          <a:solidFill>
            <a:srgbClr val="FFFFFF"/>
          </a:solidFill>
          <a:ln w="10160">
            <a:solidFill>
              <a:srgbClr val="D8DEE7"/>
            </a:solidFill>
            <a:prstDash val="solid"/>
          </a:ln>
        </p:spPr>
      </p:sp>
      <p:sp>
        <p:nvSpPr>
          <p:cNvPr id="21" name="Shape 19"/>
          <p:cNvSpPr/>
          <p:nvPr/>
        </p:nvSpPr>
        <p:spPr>
          <a:xfrm>
            <a:off x="6236208" y="3675888"/>
            <a:ext cx="73152" cy="1536192"/>
          </a:xfrm>
          <a:prstGeom prst="rect">
            <a:avLst/>
          </a:prstGeom>
          <a:solidFill>
            <a:srgbClr val="163454"/>
          </a:solidFill>
          <a:ln w="12700">
            <a:solidFill>
              <a:srgbClr val="163454"/>
            </a:solidFill>
            <a:prstDash val="solid"/>
          </a:ln>
        </p:spPr>
      </p:sp>
      <p:sp>
        <p:nvSpPr>
          <p:cNvPr id="22" name="Text 20"/>
          <p:cNvSpPr txBox="1"/>
          <p:nvPr/>
        </p:nvSpPr>
        <p:spPr>
          <a:xfrm>
            <a:off x="6483096" y="3858768"/>
            <a:ext cx="4818888" cy="201168"/>
          </a:xfrm>
          <a:prstGeom prst="rect">
            <a:avLst/>
          </a:prstGeom>
          <a:noFill/>
          <a:ln/>
        </p:spPr>
        <p:txBody>
          <a:bodyPr wrap="square" lIns="0" tIns="0" rIns="0" bIns="0" rtlCol="0" anchor="ctr">
            <a:normAutofit/>
          </a:bodyPr>
          <a:lstStyle/>
          <a:p>
            <a:pPr algn="l" indent="0" marL="0">
              <a:buNone/>
            </a:pPr>
            <a:r>
              <a:rPr lang="en-US" sz="880" b="1" spc="70" kern="0" dirty="0">
                <a:solidFill>
                  <a:srgbClr val="163454"/>
                </a:solidFill>
                <a:latin typeface="Aptos" pitchFamily="34" charset="0"/>
                <a:ea typeface="Aptos" pitchFamily="34" charset="-122"/>
                <a:cs typeface="Aptos" pitchFamily="34" charset="-120"/>
              </a:rPr>
              <a:t>LEARNING</a:t>
            </a:r>
            <a:endParaRPr lang="en-US" sz="880" dirty="0"/>
          </a:p>
        </p:txBody>
      </p:sp>
      <p:sp>
        <p:nvSpPr>
          <p:cNvPr id="23" name="Text 21"/>
          <p:cNvSpPr txBox="1"/>
          <p:nvPr/>
        </p:nvSpPr>
        <p:spPr>
          <a:xfrm>
            <a:off x="6483096" y="4142232"/>
            <a:ext cx="4800600"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Little useful feedback</a:t>
            </a:r>
            <a:endParaRPr lang="en-US" sz="1650" dirty="0"/>
          </a:p>
        </p:txBody>
      </p:sp>
      <p:sp>
        <p:nvSpPr>
          <p:cNvPr id="24" name="Text 22"/>
          <p:cNvSpPr txBox="1"/>
          <p:nvPr/>
        </p:nvSpPr>
        <p:spPr>
          <a:xfrm>
            <a:off x="6483096" y="4553712"/>
            <a:ext cx="4800600" cy="493776"/>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Usage counts show activity—not whether AI helped or caused more work.</a:t>
            </a:r>
            <a:endParaRPr lang="en-US" sz="1180" dirty="0"/>
          </a:p>
        </p:txBody>
      </p:sp>
      <p:sp>
        <p:nvSpPr>
          <p:cNvPr id="25" name="Shape 23"/>
          <p:cNvSpPr/>
          <p:nvPr/>
        </p:nvSpPr>
        <p:spPr>
          <a:xfrm>
            <a:off x="640080" y="5715000"/>
            <a:ext cx="10991088" cy="502920"/>
          </a:xfrm>
          <a:prstGeom prst="roundRect">
            <a:avLst>
              <a:gd name="adj" fmla="val 14545"/>
            </a:avLst>
          </a:prstGeom>
          <a:solidFill>
            <a:srgbClr val="163454"/>
          </a:solidFill>
          <a:ln w="10160">
            <a:solidFill>
              <a:srgbClr val="163454"/>
            </a:solidFill>
            <a:prstDash val="solid"/>
          </a:ln>
        </p:spPr>
      </p:sp>
      <p:sp>
        <p:nvSpPr>
          <p:cNvPr id="26" name="Text 24"/>
          <p:cNvSpPr txBox="1"/>
          <p:nvPr/>
        </p:nvSpPr>
        <p:spPr>
          <a:xfrm>
            <a:off x="941832" y="5824728"/>
            <a:ext cx="10378440" cy="246888"/>
          </a:xfrm>
          <a:prstGeom prst="rect">
            <a:avLst/>
          </a:prstGeom>
          <a:noFill/>
          <a:ln/>
        </p:spPr>
        <p:txBody>
          <a:bodyPr wrap="square" lIns="0" tIns="0" rIns="0" bIns="0" rtlCol="0" anchor="ctr">
            <a:normAutofit/>
          </a:bodyPr>
          <a:lstStyle/>
          <a:p>
            <a:pPr algn="ctr" indent="0" marL="0">
              <a:buNone/>
            </a:pPr>
            <a:r>
              <a:rPr lang="en-US" sz="1420" b="1" dirty="0">
                <a:solidFill>
                  <a:srgbClr val="FFFFFF"/>
                </a:solidFill>
                <a:latin typeface="Aptos" pitchFamily="34" charset="0"/>
                <a:ea typeface="Aptos" pitchFamily="34" charset="-122"/>
                <a:cs typeface="Aptos" pitchFamily="34" charset="-120"/>
              </a:rPr>
              <a:t>The opportunity: one clear, controlled way of working—from approved project knowledge to a reviewed result.</a:t>
            </a:r>
            <a:endParaRPr lang="en-US" sz="142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CURRENT LOCAL PROOF OF CONCEPT</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A simple, repeatable way to prepare AI-assisted work</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DWI reuses approved project facts, captures the task clearly, highlights missing information and keeps the developer in control.</a:t>
            </a:r>
            <a:endParaRPr lang="en-US" sz="1350" dirty="0"/>
          </a:p>
        </p:txBody>
      </p:sp>
      <p:sp>
        <p:nvSpPr>
          <p:cNvPr id="5" name="Shape 3"/>
          <p:cNvSpPr/>
          <p:nvPr/>
        </p:nvSpPr>
        <p:spPr>
          <a:xfrm>
            <a:off x="9464040" y="320040"/>
            <a:ext cx="1920240" cy="292608"/>
          </a:xfrm>
          <a:prstGeom prst="roundRect">
            <a:avLst>
              <a:gd name="adj" fmla="val 50000"/>
            </a:avLst>
          </a:prstGeom>
          <a:solidFill>
            <a:srgbClr val="E9F5EF"/>
          </a:solidFill>
          <a:ln w="12700">
            <a:solidFill>
              <a:srgbClr val="E9F5EF"/>
            </a:solidFill>
            <a:prstDash val="solid"/>
          </a:ln>
        </p:spPr>
      </p:sp>
      <p:sp>
        <p:nvSpPr>
          <p:cNvPr id="6" name="Text 4"/>
          <p:cNvSpPr txBox="1"/>
          <p:nvPr/>
        </p:nvSpPr>
        <p:spPr>
          <a:xfrm>
            <a:off x="9528048" y="338328"/>
            <a:ext cx="1792224"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2D8A65"/>
                </a:solidFill>
                <a:latin typeface="Aptos" pitchFamily="34" charset="0"/>
                <a:ea typeface="Aptos" pitchFamily="34" charset="-122"/>
                <a:cs typeface="Aptos" pitchFamily="34" charset="-120"/>
              </a:rPr>
              <a:t>IMPLEMENTED LOCALLY</a:t>
            </a:r>
            <a:endParaRPr lang="en-US" sz="920" dirty="0"/>
          </a:p>
        </p:txBody>
      </p:sp>
      <p:sp>
        <p:nvSpPr>
          <p:cNvPr id="7" name="Shape 5"/>
          <p:cNvSpPr/>
          <p:nvPr/>
        </p:nvSpPr>
        <p:spPr>
          <a:xfrm>
            <a:off x="612648" y="1874520"/>
            <a:ext cx="2560320" cy="3108960"/>
          </a:xfrm>
          <a:prstGeom prst="roundRect">
            <a:avLst>
              <a:gd name="adj" fmla="val 2857"/>
            </a:avLst>
          </a:prstGeom>
          <a:solidFill>
            <a:srgbClr val="FFFFFF"/>
          </a:solidFill>
          <a:ln w="10160">
            <a:solidFill>
              <a:srgbClr val="D8DEE7"/>
            </a:solidFill>
            <a:prstDash val="solid"/>
          </a:ln>
        </p:spPr>
      </p:sp>
      <p:sp>
        <p:nvSpPr>
          <p:cNvPr id="8" name="Shape 6"/>
          <p:cNvSpPr/>
          <p:nvPr/>
        </p:nvSpPr>
        <p:spPr>
          <a:xfrm>
            <a:off x="841248" y="2121408"/>
            <a:ext cx="530352" cy="292608"/>
          </a:xfrm>
          <a:prstGeom prst="roundRect">
            <a:avLst>
              <a:gd name="adj" fmla="val 50000"/>
            </a:avLst>
          </a:prstGeom>
          <a:solidFill>
            <a:srgbClr val="E8F6F5"/>
          </a:solidFill>
          <a:ln w="12700">
            <a:solidFill>
              <a:srgbClr val="E8F6F5"/>
            </a:solidFill>
            <a:prstDash val="solid"/>
          </a:ln>
        </p:spPr>
      </p:sp>
      <p:sp>
        <p:nvSpPr>
          <p:cNvPr id="9" name="Text 7"/>
          <p:cNvSpPr txBox="1"/>
          <p:nvPr/>
        </p:nvSpPr>
        <p:spPr>
          <a:xfrm>
            <a:off x="905256" y="2139696"/>
            <a:ext cx="402336"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007F80"/>
                </a:solidFill>
                <a:latin typeface="Aptos" pitchFamily="34" charset="0"/>
                <a:ea typeface="Aptos" pitchFamily="34" charset="-122"/>
                <a:cs typeface="Aptos" pitchFamily="34" charset="-120"/>
              </a:rPr>
              <a:t>01</a:t>
            </a:r>
            <a:endParaRPr lang="en-US" sz="920" dirty="0"/>
          </a:p>
        </p:txBody>
      </p:sp>
      <p:sp>
        <p:nvSpPr>
          <p:cNvPr id="10" name="Text 8"/>
          <p:cNvSpPr txBox="1"/>
          <p:nvPr/>
        </p:nvSpPr>
        <p:spPr>
          <a:xfrm>
            <a:off x="841248" y="2761488"/>
            <a:ext cx="2103120" cy="384048"/>
          </a:xfrm>
          <a:prstGeom prst="rect">
            <a:avLst/>
          </a:prstGeom>
          <a:noFill/>
          <a:ln/>
        </p:spPr>
        <p:txBody>
          <a:bodyPr wrap="square" lIns="0" tIns="0" rIns="0" bIns="0" rtlCol="0" anchor="ctr">
            <a:normAutofit/>
          </a:bodyPr>
          <a:lstStyle/>
          <a:p>
            <a:pPr algn="l" indent="0" marL="0">
              <a:buNone/>
            </a:pPr>
            <a:r>
              <a:rPr lang="en-US" sz="1950" b="1" dirty="0">
                <a:solidFill>
                  <a:srgbClr val="172033"/>
                </a:solidFill>
                <a:latin typeface="Aptos" pitchFamily="34" charset="0"/>
                <a:ea typeface="Aptos" pitchFamily="34" charset="-122"/>
                <a:cs typeface="Aptos" pitchFamily="34" charset="-120"/>
              </a:rPr>
              <a:t>Reuse project facts</a:t>
            </a:r>
            <a:endParaRPr lang="en-US" sz="1950" dirty="0"/>
          </a:p>
        </p:txBody>
      </p:sp>
      <p:sp>
        <p:nvSpPr>
          <p:cNvPr id="11" name="Text 9"/>
          <p:cNvSpPr txBox="1"/>
          <p:nvPr/>
        </p:nvSpPr>
        <p:spPr>
          <a:xfrm>
            <a:off x="841248" y="3310128"/>
            <a:ext cx="2103120" cy="1005840"/>
          </a:xfrm>
          <a:prstGeom prst="rect">
            <a:avLst/>
          </a:prstGeom>
          <a:noFill/>
          <a:ln/>
        </p:spPr>
        <p:txBody>
          <a:bodyPr wrap="square" lIns="0" tIns="0" rIns="0" bIns="0" rtlCol="0" anchor="t">
            <a:normAutofit/>
          </a:bodyPr>
          <a:lstStyle/>
          <a:p>
            <a:pPr algn="l" indent="0" marL="0">
              <a:buNone/>
            </a:pPr>
            <a:r>
              <a:rPr lang="en-US" sz="1270" dirty="0">
                <a:solidFill>
                  <a:srgbClr val="667085"/>
                </a:solidFill>
                <a:latin typeface="Aptos" pitchFamily="34" charset="0"/>
                <a:ea typeface="Aptos" pitchFamily="34" charset="-122"/>
                <a:cs typeface="Aptos" pitchFamily="34" charset="-120"/>
              </a:rPr>
              <a:t>Start with knowledge the developer has reviewed and approved.</a:t>
            </a:r>
            <a:endParaRPr lang="en-US" sz="1270" dirty="0"/>
          </a:p>
        </p:txBody>
      </p:sp>
      <p:sp>
        <p:nvSpPr>
          <p:cNvPr id="12" name="Shape 10"/>
          <p:cNvSpPr/>
          <p:nvPr/>
        </p:nvSpPr>
        <p:spPr>
          <a:xfrm>
            <a:off x="3429000" y="1874520"/>
            <a:ext cx="2560320" cy="3108960"/>
          </a:xfrm>
          <a:prstGeom prst="roundRect">
            <a:avLst>
              <a:gd name="adj" fmla="val 2857"/>
            </a:avLst>
          </a:prstGeom>
          <a:solidFill>
            <a:srgbClr val="FFFFFF"/>
          </a:solidFill>
          <a:ln w="10160">
            <a:solidFill>
              <a:srgbClr val="D8DEE7"/>
            </a:solidFill>
            <a:prstDash val="solid"/>
          </a:ln>
        </p:spPr>
      </p:sp>
      <p:sp>
        <p:nvSpPr>
          <p:cNvPr id="13" name="Shape 11"/>
          <p:cNvSpPr/>
          <p:nvPr/>
        </p:nvSpPr>
        <p:spPr>
          <a:xfrm>
            <a:off x="3657600" y="2121408"/>
            <a:ext cx="530352" cy="292608"/>
          </a:xfrm>
          <a:prstGeom prst="roundRect">
            <a:avLst>
              <a:gd name="adj" fmla="val 50000"/>
            </a:avLst>
          </a:prstGeom>
          <a:solidFill>
            <a:srgbClr val="E8F6F5"/>
          </a:solidFill>
          <a:ln w="12700">
            <a:solidFill>
              <a:srgbClr val="E8F6F5"/>
            </a:solidFill>
            <a:prstDash val="solid"/>
          </a:ln>
        </p:spPr>
      </p:sp>
      <p:sp>
        <p:nvSpPr>
          <p:cNvPr id="14" name="Text 12"/>
          <p:cNvSpPr txBox="1"/>
          <p:nvPr/>
        </p:nvSpPr>
        <p:spPr>
          <a:xfrm>
            <a:off x="3721608" y="2139696"/>
            <a:ext cx="402336"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007F80"/>
                </a:solidFill>
                <a:latin typeface="Aptos" pitchFamily="34" charset="0"/>
                <a:ea typeface="Aptos" pitchFamily="34" charset="-122"/>
                <a:cs typeface="Aptos" pitchFamily="34" charset="-120"/>
              </a:rPr>
              <a:t>02</a:t>
            </a:r>
            <a:endParaRPr lang="en-US" sz="920" dirty="0"/>
          </a:p>
        </p:txBody>
      </p:sp>
      <p:sp>
        <p:nvSpPr>
          <p:cNvPr id="15" name="Text 13"/>
          <p:cNvSpPr txBox="1"/>
          <p:nvPr/>
        </p:nvSpPr>
        <p:spPr>
          <a:xfrm>
            <a:off x="3657600" y="2761488"/>
            <a:ext cx="2103120" cy="384048"/>
          </a:xfrm>
          <a:prstGeom prst="rect">
            <a:avLst/>
          </a:prstGeom>
          <a:noFill/>
          <a:ln/>
        </p:spPr>
        <p:txBody>
          <a:bodyPr wrap="square" lIns="0" tIns="0" rIns="0" bIns="0" rtlCol="0" anchor="ctr">
            <a:normAutofit/>
          </a:bodyPr>
          <a:lstStyle/>
          <a:p>
            <a:pPr algn="l" indent="0" marL="0">
              <a:buNone/>
            </a:pPr>
            <a:r>
              <a:rPr lang="en-US" sz="1950" b="1" dirty="0">
                <a:solidFill>
                  <a:srgbClr val="172033"/>
                </a:solidFill>
                <a:latin typeface="Aptos" pitchFamily="34" charset="0"/>
                <a:ea typeface="Aptos" pitchFamily="34" charset="-122"/>
                <a:cs typeface="Aptos" pitchFamily="34" charset="-120"/>
              </a:rPr>
              <a:t>Describe the work</a:t>
            </a:r>
            <a:endParaRPr lang="en-US" sz="1950" dirty="0"/>
          </a:p>
        </p:txBody>
      </p:sp>
      <p:sp>
        <p:nvSpPr>
          <p:cNvPr id="16" name="Text 14"/>
          <p:cNvSpPr txBox="1"/>
          <p:nvPr/>
        </p:nvSpPr>
        <p:spPr>
          <a:xfrm>
            <a:off x="3657600" y="3310128"/>
            <a:ext cx="2103120" cy="1005840"/>
          </a:xfrm>
          <a:prstGeom prst="rect">
            <a:avLst/>
          </a:prstGeom>
          <a:noFill/>
          <a:ln/>
        </p:spPr>
        <p:txBody>
          <a:bodyPr wrap="square" lIns="0" tIns="0" rIns="0" bIns="0" rtlCol="0" anchor="t">
            <a:normAutofit/>
          </a:bodyPr>
          <a:lstStyle/>
          <a:p>
            <a:pPr algn="l" indent="0" marL="0">
              <a:buNone/>
            </a:pPr>
            <a:r>
              <a:rPr lang="en-US" sz="1270" dirty="0">
                <a:solidFill>
                  <a:srgbClr val="667085"/>
                </a:solidFill>
                <a:latin typeface="Aptos" pitchFamily="34" charset="0"/>
                <a:ea typeface="Aptos" pitchFamily="34" charset="-122"/>
                <a:cs typeface="Aptos" pitchFamily="34" charset="-120"/>
              </a:rPr>
              <a:t>Capture the task, expected result and importance in a consistent form.</a:t>
            </a:r>
            <a:endParaRPr lang="en-US" sz="1270" dirty="0"/>
          </a:p>
        </p:txBody>
      </p:sp>
      <p:sp>
        <p:nvSpPr>
          <p:cNvPr id="17" name="Shape 15"/>
          <p:cNvSpPr/>
          <p:nvPr/>
        </p:nvSpPr>
        <p:spPr>
          <a:xfrm>
            <a:off x="6245352" y="1874520"/>
            <a:ext cx="2560320" cy="3108960"/>
          </a:xfrm>
          <a:prstGeom prst="roundRect">
            <a:avLst>
              <a:gd name="adj" fmla="val 2857"/>
            </a:avLst>
          </a:prstGeom>
          <a:solidFill>
            <a:srgbClr val="FFF3DE"/>
          </a:solidFill>
          <a:ln w="10160">
            <a:solidFill>
              <a:srgbClr val="F0D39D"/>
            </a:solidFill>
            <a:prstDash val="solid"/>
          </a:ln>
        </p:spPr>
      </p:sp>
      <p:sp>
        <p:nvSpPr>
          <p:cNvPr id="18" name="Shape 16"/>
          <p:cNvSpPr/>
          <p:nvPr/>
        </p:nvSpPr>
        <p:spPr>
          <a:xfrm>
            <a:off x="6473952" y="2121408"/>
            <a:ext cx="530352" cy="292608"/>
          </a:xfrm>
          <a:prstGeom prst="roundRect">
            <a:avLst>
              <a:gd name="adj" fmla="val 50000"/>
            </a:avLst>
          </a:prstGeom>
          <a:solidFill>
            <a:srgbClr val="FBE3B8"/>
          </a:solidFill>
          <a:ln w="12700">
            <a:solidFill>
              <a:srgbClr val="FBE3B8"/>
            </a:solidFill>
            <a:prstDash val="solid"/>
          </a:ln>
        </p:spPr>
      </p:sp>
      <p:sp>
        <p:nvSpPr>
          <p:cNvPr id="19" name="Text 17"/>
          <p:cNvSpPr txBox="1"/>
          <p:nvPr/>
        </p:nvSpPr>
        <p:spPr>
          <a:xfrm>
            <a:off x="6537960" y="2139696"/>
            <a:ext cx="402336"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82530D"/>
                </a:solidFill>
                <a:latin typeface="Aptos" pitchFamily="34" charset="0"/>
                <a:ea typeface="Aptos" pitchFamily="34" charset="-122"/>
                <a:cs typeface="Aptos" pitchFamily="34" charset="-120"/>
              </a:rPr>
              <a:t>03</a:t>
            </a:r>
            <a:endParaRPr lang="en-US" sz="920" dirty="0"/>
          </a:p>
        </p:txBody>
      </p:sp>
      <p:sp>
        <p:nvSpPr>
          <p:cNvPr id="20" name="Text 18"/>
          <p:cNvSpPr txBox="1"/>
          <p:nvPr/>
        </p:nvSpPr>
        <p:spPr>
          <a:xfrm>
            <a:off x="6473952" y="2761488"/>
            <a:ext cx="2103120" cy="384048"/>
          </a:xfrm>
          <a:prstGeom prst="rect">
            <a:avLst/>
          </a:prstGeom>
          <a:noFill/>
          <a:ln/>
        </p:spPr>
        <p:txBody>
          <a:bodyPr wrap="square" lIns="0" tIns="0" rIns="0" bIns="0" rtlCol="0" anchor="ctr">
            <a:normAutofit/>
          </a:bodyPr>
          <a:lstStyle/>
          <a:p>
            <a:pPr algn="l" indent="0" marL="0">
              <a:buNone/>
            </a:pPr>
            <a:r>
              <a:rPr lang="en-US" sz="1950" b="1" dirty="0">
                <a:solidFill>
                  <a:srgbClr val="172033"/>
                </a:solidFill>
                <a:latin typeface="Aptos" pitchFamily="34" charset="0"/>
                <a:ea typeface="Aptos" pitchFamily="34" charset="-122"/>
                <a:cs typeface="Aptos" pitchFamily="34" charset="-120"/>
              </a:rPr>
              <a:t>Spot what is missing</a:t>
            </a:r>
            <a:endParaRPr lang="en-US" sz="1950" dirty="0"/>
          </a:p>
        </p:txBody>
      </p:sp>
      <p:sp>
        <p:nvSpPr>
          <p:cNvPr id="21" name="Text 19"/>
          <p:cNvSpPr txBox="1"/>
          <p:nvPr/>
        </p:nvSpPr>
        <p:spPr>
          <a:xfrm>
            <a:off x="6473952" y="3310128"/>
            <a:ext cx="2103120" cy="1005840"/>
          </a:xfrm>
          <a:prstGeom prst="rect">
            <a:avLst/>
          </a:prstGeom>
          <a:noFill/>
          <a:ln/>
        </p:spPr>
        <p:txBody>
          <a:bodyPr wrap="square" lIns="0" tIns="0" rIns="0" bIns="0" rtlCol="0" anchor="t">
            <a:normAutofit/>
          </a:bodyPr>
          <a:lstStyle/>
          <a:p>
            <a:pPr algn="l" indent="0" marL="0">
              <a:buNone/>
            </a:pPr>
            <a:r>
              <a:rPr lang="en-US" sz="1270" dirty="0">
                <a:solidFill>
                  <a:srgbClr val="667085"/>
                </a:solidFill>
                <a:latin typeface="Aptos" pitchFamily="34" charset="0"/>
                <a:ea typeface="Aptos" pitchFamily="34" charset="-122"/>
                <a:cs typeface="Aptos" pitchFamily="34" charset="-120"/>
              </a:rPr>
              <a:t>Show sources, assumptions and important unanswered questions instead of guessing.</a:t>
            </a:r>
            <a:endParaRPr lang="en-US" sz="1270" dirty="0"/>
          </a:p>
        </p:txBody>
      </p:sp>
      <p:sp>
        <p:nvSpPr>
          <p:cNvPr id="22" name="Shape 20"/>
          <p:cNvSpPr/>
          <p:nvPr/>
        </p:nvSpPr>
        <p:spPr>
          <a:xfrm>
            <a:off x="9061704" y="1874520"/>
            <a:ext cx="2560320" cy="3108960"/>
          </a:xfrm>
          <a:prstGeom prst="roundRect">
            <a:avLst>
              <a:gd name="adj" fmla="val 2857"/>
            </a:avLst>
          </a:prstGeom>
          <a:solidFill>
            <a:srgbClr val="FFFFFF"/>
          </a:solidFill>
          <a:ln w="10160">
            <a:solidFill>
              <a:srgbClr val="D8DEE7"/>
            </a:solidFill>
            <a:prstDash val="solid"/>
          </a:ln>
        </p:spPr>
      </p:sp>
      <p:sp>
        <p:nvSpPr>
          <p:cNvPr id="23" name="Shape 21"/>
          <p:cNvSpPr/>
          <p:nvPr/>
        </p:nvSpPr>
        <p:spPr>
          <a:xfrm>
            <a:off x="9290304" y="2121408"/>
            <a:ext cx="530352" cy="292608"/>
          </a:xfrm>
          <a:prstGeom prst="roundRect">
            <a:avLst>
              <a:gd name="adj" fmla="val 50000"/>
            </a:avLst>
          </a:prstGeom>
          <a:solidFill>
            <a:srgbClr val="E8F6F5"/>
          </a:solidFill>
          <a:ln w="12700">
            <a:solidFill>
              <a:srgbClr val="E8F6F5"/>
            </a:solidFill>
            <a:prstDash val="solid"/>
          </a:ln>
        </p:spPr>
      </p:sp>
      <p:sp>
        <p:nvSpPr>
          <p:cNvPr id="24" name="Text 22"/>
          <p:cNvSpPr txBox="1"/>
          <p:nvPr/>
        </p:nvSpPr>
        <p:spPr>
          <a:xfrm>
            <a:off x="9354312" y="2139696"/>
            <a:ext cx="402336"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007F80"/>
                </a:solidFill>
                <a:latin typeface="Aptos" pitchFamily="34" charset="0"/>
                <a:ea typeface="Aptos" pitchFamily="34" charset="-122"/>
                <a:cs typeface="Aptos" pitchFamily="34" charset="-120"/>
              </a:rPr>
              <a:t>04</a:t>
            </a:r>
            <a:endParaRPr lang="en-US" sz="920" dirty="0"/>
          </a:p>
        </p:txBody>
      </p:sp>
      <p:sp>
        <p:nvSpPr>
          <p:cNvPr id="25" name="Text 23"/>
          <p:cNvSpPr txBox="1"/>
          <p:nvPr/>
        </p:nvSpPr>
        <p:spPr>
          <a:xfrm>
            <a:off x="9290304" y="2761488"/>
            <a:ext cx="2103120" cy="384048"/>
          </a:xfrm>
          <a:prstGeom prst="rect">
            <a:avLst/>
          </a:prstGeom>
          <a:noFill/>
          <a:ln/>
        </p:spPr>
        <p:txBody>
          <a:bodyPr wrap="square" lIns="0" tIns="0" rIns="0" bIns="0" rtlCol="0" anchor="ctr">
            <a:normAutofit/>
          </a:bodyPr>
          <a:lstStyle/>
          <a:p>
            <a:pPr algn="l" indent="0" marL="0">
              <a:buNone/>
            </a:pPr>
            <a:r>
              <a:rPr lang="en-US" sz="1950" b="1" dirty="0">
                <a:solidFill>
                  <a:srgbClr val="172033"/>
                </a:solidFill>
                <a:latin typeface="Aptos" pitchFamily="34" charset="0"/>
                <a:ea typeface="Aptos" pitchFamily="34" charset="-122"/>
                <a:cs typeface="Aptos" pitchFamily="34" charset="-120"/>
              </a:rPr>
              <a:t>Check and save</a:t>
            </a:r>
            <a:endParaRPr lang="en-US" sz="1950" dirty="0"/>
          </a:p>
        </p:txBody>
      </p:sp>
      <p:sp>
        <p:nvSpPr>
          <p:cNvPr id="26" name="Text 24"/>
          <p:cNvSpPr txBox="1"/>
          <p:nvPr/>
        </p:nvSpPr>
        <p:spPr>
          <a:xfrm>
            <a:off x="9290304" y="3310128"/>
            <a:ext cx="2103120" cy="1005840"/>
          </a:xfrm>
          <a:prstGeom prst="rect">
            <a:avLst/>
          </a:prstGeom>
          <a:noFill/>
          <a:ln/>
        </p:spPr>
        <p:txBody>
          <a:bodyPr wrap="square" lIns="0" tIns="0" rIns="0" bIns="0" rtlCol="0" anchor="t">
            <a:normAutofit/>
          </a:bodyPr>
          <a:lstStyle/>
          <a:p>
            <a:pPr algn="l" indent="0" marL="0">
              <a:buNone/>
            </a:pPr>
            <a:r>
              <a:rPr lang="en-US" sz="1270" dirty="0">
                <a:solidFill>
                  <a:srgbClr val="667085"/>
                </a:solidFill>
                <a:latin typeface="Aptos" pitchFamily="34" charset="0"/>
                <a:ea typeface="Aptos" pitchFamily="34" charset="-122"/>
                <a:cs typeface="Aptos" pitchFamily="34" charset="-120"/>
              </a:rPr>
              <a:t>Let the developer review the local draft, correct it and decide what to keep.</a:t>
            </a:r>
            <a:endParaRPr lang="en-US" sz="1270" dirty="0"/>
          </a:p>
        </p:txBody>
      </p:sp>
      <p:sp>
        <p:nvSpPr>
          <p:cNvPr id="27" name="Shape 25"/>
          <p:cNvSpPr/>
          <p:nvPr/>
        </p:nvSpPr>
        <p:spPr>
          <a:xfrm>
            <a:off x="804672" y="5321808"/>
            <a:ext cx="10588752" cy="658368"/>
          </a:xfrm>
          <a:prstGeom prst="roundRect">
            <a:avLst>
              <a:gd name="adj" fmla="val 11111"/>
            </a:avLst>
          </a:prstGeom>
          <a:solidFill>
            <a:srgbClr val="EDF3F8"/>
          </a:solidFill>
          <a:ln w="10160">
            <a:solidFill>
              <a:srgbClr val="CBD9E6"/>
            </a:solidFill>
            <a:prstDash val="solid"/>
          </a:ln>
        </p:spPr>
      </p:sp>
      <p:sp>
        <p:nvSpPr>
          <p:cNvPr id="28" name="Text 26"/>
          <p:cNvSpPr txBox="1"/>
          <p:nvPr/>
        </p:nvSpPr>
        <p:spPr>
          <a:xfrm>
            <a:off x="1078992" y="5468112"/>
            <a:ext cx="749808" cy="256032"/>
          </a:xfrm>
          <a:prstGeom prst="rect">
            <a:avLst/>
          </a:prstGeom>
          <a:noFill/>
          <a:ln/>
        </p:spPr>
        <p:txBody>
          <a:bodyPr wrap="square" lIns="0" tIns="0" rIns="0" bIns="0" rtlCol="0" anchor="ctr">
            <a:normAutofit/>
          </a:bodyPr>
          <a:lstStyle/>
          <a:p>
            <a:pPr algn="l" indent="0" marL="0">
              <a:buNone/>
            </a:pPr>
            <a:r>
              <a:rPr lang="en-US" sz="1250" b="1" dirty="0">
                <a:solidFill>
                  <a:srgbClr val="163454"/>
                </a:solidFill>
                <a:latin typeface="Aptos" pitchFamily="34" charset="0"/>
                <a:ea typeface="Aptos" pitchFamily="34" charset="-122"/>
                <a:cs typeface="Aptos" pitchFamily="34" charset="-120"/>
              </a:rPr>
              <a:t>Current</a:t>
            </a:r>
            <a:endParaRPr lang="en-US" sz="1250" dirty="0"/>
          </a:p>
        </p:txBody>
      </p:sp>
      <p:sp>
        <p:nvSpPr>
          <p:cNvPr id="29" name="Text 27"/>
          <p:cNvSpPr txBox="1"/>
          <p:nvPr/>
        </p:nvSpPr>
        <p:spPr>
          <a:xfrm>
            <a:off x="1901952" y="5468112"/>
            <a:ext cx="3246120" cy="256032"/>
          </a:xfrm>
          <a:prstGeom prst="rect">
            <a:avLst/>
          </a:prstGeom>
          <a:noFill/>
          <a:ln/>
        </p:spPr>
        <p:txBody>
          <a:bodyPr wrap="square" lIns="0" tIns="0" rIns="0" bIns="0" rtlCol="0" anchor="ctr">
            <a:normAutofit/>
          </a:bodyPr>
          <a:lstStyle/>
          <a:p>
            <a:pPr algn="l" indent="0" marL="0">
              <a:buNone/>
            </a:pPr>
            <a:r>
              <a:rPr lang="en-US" sz="1250" dirty="0">
                <a:solidFill>
                  <a:srgbClr val="163454"/>
                </a:solidFill>
                <a:latin typeface="Aptos" pitchFamily="34" charset="0"/>
                <a:ea typeface="Aptos" pitchFamily="34" charset="-122"/>
                <a:cs typeface="Aptos" pitchFamily="34" charset="-120"/>
              </a:rPr>
              <a:t>Approved project knowledge through review.</a:t>
            </a:r>
            <a:endParaRPr lang="en-US" sz="1250" dirty="0"/>
          </a:p>
        </p:txBody>
      </p:sp>
      <p:sp>
        <p:nvSpPr>
          <p:cNvPr id="30" name="Text 28"/>
          <p:cNvSpPr txBox="1"/>
          <p:nvPr/>
        </p:nvSpPr>
        <p:spPr>
          <a:xfrm>
            <a:off x="5532120" y="5468112"/>
            <a:ext cx="822960" cy="256032"/>
          </a:xfrm>
          <a:prstGeom prst="rect">
            <a:avLst/>
          </a:prstGeom>
          <a:noFill/>
          <a:ln/>
        </p:spPr>
        <p:txBody>
          <a:bodyPr wrap="square" lIns="0" tIns="0" rIns="0" bIns="0" rtlCol="0" anchor="ctr">
            <a:normAutofit/>
          </a:bodyPr>
          <a:lstStyle/>
          <a:p>
            <a:pPr algn="l" indent="0" marL="0">
              <a:buNone/>
            </a:pPr>
            <a:r>
              <a:rPr lang="en-US" sz="1250" b="1" dirty="0">
                <a:solidFill>
                  <a:srgbClr val="D9952A"/>
                </a:solidFill>
                <a:latin typeface="Aptos" pitchFamily="34" charset="0"/>
                <a:ea typeface="Aptos" pitchFamily="34" charset="-122"/>
                <a:cs typeface="Aptos" pitchFamily="34" charset="-120"/>
              </a:rPr>
              <a:t>Next step</a:t>
            </a:r>
            <a:endParaRPr lang="en-US" sz="1250" dirty="0"/>
          </a:p>
        </p:txBody>
      </p:sp>
      <p:sp>
        <p:nvSpPr>
          <p:cNvPr id="31" name="Text 29"/>
          <p:cNvSpPr txBox="1"/>
          <p:nvPr/>
        </p:nvSpPr>
        <p:spPr>
          <a:xfrm>
            <a:off x="6446520" y="5468112"/>
            <a:ext cx="4572000" cy="256032"/>
          </a:xfrm>
          <a:prstGeom prst="rect">
            <a:avLst/>
          </a:prstGeom>
          <a:noFill/>
          <a:ln/>
        </p:spPr>
        <p:txBody>
          <a:bodyPr wrap="square" lIns="0" tIns="0" rIns="0" bIns="0" rtlCol="0" anchor="ctr">
            <a:normAutofit/>
          </a:bodyPr>
          <a:lstStyle/>
          <a:p>
            <a:pPr algn="l" indent="0" marL="0">
              <a:buNone/>
            </a:pPr>
            <a:r>
              <a:rPr lang="en-US" sz="1250" dirty="0">
                <a:solidFill>
                  <a:srgbClr val="163454"/>
                </a:solidFill>
                <a:latin typeface="Aptos" pitchFamily="34" charset="0"/>
                <a:ea typeface="Aptos" pitchFamily="34" charset="-122"/>
                <a:cs typeface="Aptos" pitchFamily="34" charset="-120"/>
              </a:rPr>
              <a:t>Ask one focused question and safely apply the answer.</a:t>
            </a:r>
            <a:endParaRPr lang="en-US" sz="125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A SIMPLE EXAMPLE</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Project knowledge turns a generic answer into useful work</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Example: “Prepare a safe migration plan for the customer data service.”</a:t>
            </a:r>
            <a:endParaRPr lang="en-US" sz="1350" dirty="0"/>
          </a:p>
        </p:txBody>
      </p:sp>
      <p:sp>
        <p:nvSpPr>
          <p:cNvPr id="5" name="Shape 3"/>
          <p:cNvSpPr/>
          <p:nvPr/>
        </p:nvSpPr>
        <p:spPr>
          <a:xfrm>
            <a:off x="640080" y="1764792"/>
            <a:ext cx="4736592" cy="4096512"/>
          </a:xfrm>
          <a:prstGeom prst="roundRect">
            <a:avLst>
              <a:gd name="adj" fmla="val 1786"/>
            </a:avLst>
          </a:prstGeom>
          <a:solidFill>
            <a:srgbClr val="FCEDED"/>
          </a:solidFill>
          <a:ln w="10160">
            <a:solidFill>
              <a:srgbClr val="EECBCB"/>
            </a:solidFill>
            <a:prstDash val="solid"/>
          </a:ln>
        </p:spPr>
      </p:sp>
      <p:sp>
        <p:nvSpPr>
          <p:cNvPr id="6" name="Shape 4"/>
          <p:cNvSpPr/>
          <p:nvPr/>
        </p:nvSpPr>
        <p:spPr>
          <a:xfrm>
            <a:off x="923544" y="2029968"/>
            <a:ext cx="1947672" cy="292608"/>
          </a:xfrm>
          <a:prstGeom prst="roundRect">
            <a:avLst>
              <a:gd name="adj" fmla="val 50000"/>
            </a:avLst>
          </a:prstGeom>
          <a:solidFill>
            <a:srgbClr val="F8DCDC"/>
          </a:solidFill>
          <a:ln w="12700">
            <a:solidFill>
              <a:srgbClr val="F8DCDC"/>
            </a:solidFill>
            <a:prstDash val="solid"/>
          </a:ln>
        </p:spPr>
      </p:sp>
      <p:sp>
        <p:nvSpPr>
          <p:cNvPr id="7" name="Text 5"/>
          <p:cNvSpPr txBox="1"/>
          <p:nvPr/>
        </p:nvSpPr>
        <p:spPr>
          <a:xfrm>
            <a:off x="987552" y="2048256"/>
            <a:ext cx="1819656"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B94A48"/>
                </a:solidFill>
                <a:latin typeface="Aptos" pitchFamily="34" charset="0"/>
                <a:ea typeface="Aptos" pitchFamily="34" charset="-122"/>
                <a:cs typeface="Aptos" pitchFamily="34" charset="-120"/>
              </a:rPr>
              <a:t>WITHOUT SHARED CONTEXT</a:t>
            </a:r>
            <a:endParaRPr lang="en-US" sz="920" dirty="0"/>
          </a:p>
        </p:txBody>
      </p:sp>
      <p:sp>
        <p:nvSpPr>
          <p:cNvPr id="8" name="Text 6"/>
          <p:cNvSpPr txBox="1"/>
          <p:nvPr/>
        </p:nvSpPr>
        <p:spPr>
          <a:xfrm>
            <a:off x="923544" y="2596896"/>
            <a:ext cx="3749040" cy="749808"/>
          </a:xfrm>
          <a:prstGeom prst="rect">
            <a:avLst/>
          </a:prstGeom>
          <a:noFill/>
          <a:ln/>
        </p:spPr>
        <p:txBody>
          <a:bodyPr wrap="square" lIns="0" tIns="0" rIns="0" bIns="0" rtlCol="0" anchor="t">
            <a:normAutofit/>
          </a:bodyPr>
          <a:lstStyle/>
          <a:p>
            <a:pPr algn="l" indent="0" marL="0">
              <a:buNone/>
            </a:pPr>
            <a:r>
              <a:rPr lang="en-US" sz="2450" b="1" dirty="0">
                <a:solidFill>
                  <a:srgbClr val="762C2B"/>
                </a:solidFill>
                <a:latin typeface="Aptos" pitchFamily="34" charset="0"/>
                <a:ea typeface="Aptos" pitchFamily="34" charset="-122"/>
                <a:cs typeface="Aptos" pitchFamily="34" charset="-120"/>
              </a:rPr>
              <a:t>A polished answer—</a:t>
            </a:r>
            <a:endParaRPr lang="en-US" sz="2450" dirty="0"/>
          </a:p>
          <a:p>
            <a:pPr algn="l" indent="0" marL="0">
              <a:buNone/>
            </a:pPr>
            <a:r>
              <a:rPr lang="en-US" sz="2450" b="1" dirty="0">
                <a:solidFill>
                  <a:srgbClr val="762C2B"/>
                </a:solidFill>
                <a:latin typeface="Aptos" pitchFamily="34" charset="0"/>
                <a:ea typeface="Aptos" pitchFamily="34" charset="-122"/>
                <a:cs typeface="Aptos" pitchFamily="34" charset="-120"/>
              </a:rPr>
              <a:t>but too generic</a:t>
            </a:r>
            <a:endParaRPr lang="en-US" sz="2450" dirty="0"/>
          </a:p>
        </p:txBody>
      </p:sp>
      <p:sp>
        <p:nvSpPr>
          <p:cNvPr id="9" name="Shape 7"/>
          <p:cNvSpPr/>
          <p:nvPr/>
        </p:nvSpPr>
        <p:spPr>
          <a:xfrm>
            <a:off x="960120" y="3776472"/>
            <a:ext cx="100584" cy="100584"/>
          </a:xfrm>
          <a:prstGeom prst="ellipse">
            <a:avLst/>
          </a:prstGeom>
          <a:solidFill>
            <a:srgbClr val="B94A48"/>
          </a:solidFill>
          <a:ln w="12700">
            <a:solidFill>
              <a:srgbClr val="B94A48"/>
            </a:solidFill>
            <a:prstDash val="solid"/>
          </a:ln>
        </p:spPr>
      </p:sp>
      <p:sp>
        <p:nvSpPr>
          <p:cNvPr id="10" name="Text 8"/>
          <p:cNvSpPr txBox="1"/>
          <p:nvPr/>
        </p:nvSpPr>
        <p:spPr>
          <a:xfrm>
            <a:off x="1161288" y="3657600"/>
            <a:ext cx="3639312" cy="347472"/>
          </a:xfrm>
          <a:prstGeom prst="rect">
            <a:avLst/>
          </a:prstGeom>
          <a:noFill/>
          <a:ln/>
        </p:spPr>
        <p:txBody>
          <a:bodyPr wrap="square" lIns="0" tIns="0" rIns="0" bIns="0" rtlCol="0" anchor="t">
            <a:normAutofit/>
          </a:bodyPr>
          <a:lstStyle/>
          <a:p>
            <a:pPr algn="l" indent="0" marL="0">
              <a:buNone/>
            </a:pPr>
            <a:r>
              <a:rPr lang="en-US" sz="1330" dirty="0">
                <a:solidFill>
                  <a:srgbClr val="172033"/>
                </a:solidFill>
                <a:latin typeface="Aptos" pitchFamily="34" charset="0"/>
                <a:ea typeface="Aptos" pitchFamily="34" charset="-122"/>
                <a:cs typeface="Aptos" pitchFamily="34" charset="-120"/>
              </a:rPr>
              <a:t>Can miss local deployment and rollback rules</a:t>
            </a:r>
            <a:endParaRPr lang="en-US" sz="1330" dirty="0"/>
          </a:p>
        </p:txBody>
      </p:sp>
      <p:sp>
        <p:nvSpPr>
          <p:cNvPr id="11" name="Shape 9"/>
          <p:cNvSpPr/>
          <p:nvPr/>
        </p:nvSpPr>
        <p:spPr>
          <a:xfrm>
            <a:off x="960120" y="4288536"/>
            <a:ext cx="100584" cy="100584"/>
          </a:xfrm>
          <a:prstGeom prst="ellipse">
            <a:avLst/>
          </a:prstGeom>
          <a:solidFill>
            <a:srgbClr val="B94A48"/>
          </a:solidFill>
          <a:ln w="12700">
            <a:solidFill>
              <a:srgbClr val="B94A48"/>
            </a:solidFill>
            <a:prstDash val="solid"/>
          </a:ln>
        </p:spPr>
      </p:sp>
      <p:sp>
        <p:nvSpPr>
          <p:cNvPr id="12" name="Text 10"/>
          <p:cNvSpPr txBox="1"/>
          <p:nvPr/>
        </p:nvSpPr>
        <p:spPr>
          <a:xfrm>
            <a:off x="1161288" y="4169664"/>
            <a:ext cx="3639312" cy="347472"/>
          </a:xfrm>
          <a:prstGeom prst="rect">
            <a:avLst/>
          </a:prstGeom>
          <a:noFill/>
          <a:ln/>
        </p:spPr>
        <p:txBody>
          <a:bodyPr wrap="square" lIns="0" tIns="0" rIns="0" bIns="0" rtlCol="0" anchor="t">
            <a:normAutofit/>
          </a:bodyPr>
          <a:lstStyle/>
          <a:p>
            <a:pPr algn="l" indent="0" marL="0">
              <a:buNone/>
            </a:pPr>
            <a:r>
              <a:rPr lang="en-US" sz="1330" dirty="0">
                <a:solidFill>
                  <a:srgbClr val="172033"/>
                </a:solidFill>
                <a:latin typeface="Aptos" pitchFamily="34" charset="0"/>
                <a:ea typeface="Aptos" pitchFamily="34" charset="-122"/>
                <a:cs typeface="Aptos" pitchFamily="34" charset="-120"/>
              </a:rPr>
              <a:t>Can assume the wrong level of risk</a:t>
            </a:r>
            <a:endParaRPr lang="en-US" sz="1330" dirty="0"/>
          </a:p>
        </p:txBody>
      </p:sp>
      <p:sp>
        <p:nvSpPr>
          <p:cNvPr id="13" name="Shape 11"/>
          <p:cNvSpPr/>
          <p:nvPr/>
        </p:nvSpPr>
        <p:spPr>
          <a:xfrm>
            <a:off x="960120" y="4800600"/>
            <a:ext cx="100584" cy="100584"/>
          </a:xfrm>
          <a:prstGeom prst="ellipse">
            <a:avLst/>
          </a:prstGeom>
          <a:solidFill>
            <a:srgbClr val="B94A48"/>
          </a:solidFill>
          <a:ln w="12700">
            <a:solidFill>
              <a:srgbClr val="B94A48"/>
            </a:solidFill>
            <a:prstDash val="solid"/>
          </a:ln>
        </p:spPr>
      </p:sp>
      <p:sp>
        <p:nvSpPr>
          <p:cNvPr id="14" name="Text 12"/>
          <p:cNvSpPr txBox="1"/>
          <p:nvPr/>
        </p:nvSpPr>
        <p:spPr>
          <a:xfrm>
            <a:off x="1161288" y="4681728"/>
            <a:ext cx="3639312" cy="347472"/>
          </a:xfrm>
          <a:prstGeom prst="rect">
            <a:avLst/>
          </a:prstGeom>
          <a:noFill/>
          <a:ln/>
        </p:spPr>
        <p:txBody>
          <a:bodyPr wrap="square" lIns="0" tIns="0" rIns="0" bIns="0" rtlCol="0" anchor="t">
            <a:normAutofit/>
          </a:bodyPr>
          <a:lstStyle/>
          <a:p>
            <a:pPr algn="l" indent="0" marL="0">
              <a:buNone/>
            </a:pPr>
            <a:r>
              <a:rPr lang="en-US" sz="1330" dirty="0">
                <a:solidFill>
                  <a:srgbClr val="172033"/>
                </a:solidFill>
                <a:latin typeface="Aptos" pitchFamily="34" charset="0"/>
                <a:ea typeface="Aptos" pitchFamily="34" charset="-122"/>
                <a:cs typeface="Aptos" pitchFamily="34" charset="-120"/>
              </a:rPr>
              <a:t>Pushes discovery and correction into review</a:t>
            </a:r>
            <a:endParaRPr lang="en-US" sz="1330" dirty="0"/>
          </a:p>
        </p:txBody>
      </p:sp>
      <p:sp>
        <p:nvSpPr>
          <p:cNvPr id="15" name="Shape 13"/>
          <p:cNvSpPr/>
          <p:nvPr/>
        </p:nvSpPr>
        <p:spPr>
          <a:xfrm>
            <a:off x="5577840" y="3255264"/>
            <a:ext cx="786384" cy="612648"/>
          </a:xfrm>
          <a:prstGeom prst="chevron">
            <a:avLst/>
          </a:prstGeom>
          <a:solidFill>
            <a:srgbClr val="007F80"/>
          </a:solidFill>
          <a:ln w="12700">
            <a:solidFill>
              <a:srgbClr val="007F80"/>
            </a:solidFill>
            <a:prstDash val="solid"/>
          </a:ln>
        </p:spPr>
      </p:sp>
      <p:sp>
        <p:nvSpPr>
          <p:cNvPr id="16" name="Shape 14"/>
          <p:cNvSpPr/>
          <p:nvPr/>
        </p:nvSpPr>
        <p:spPr>
          <a:xfrm>
            <a:off x="6565392" y="1764792"/>
            <a:ext cx="5010912" cy="4096512"/>
          </a:xfrm>
          <a:prstGeom prst="roundRect">
            <a:avLst>
              <a:gd name="adj" fmla="val 1786"/>
            </a:avLst>
          </a:prstGeom>
          <a:solidFill>
            <a:srgbClr val="E9F5EF"/>
          </a:solidFill>
          <a:ln w="10160">
            <a:solidFill>
              <a:srgbClr val="BCDACB"/>
            </a:solidFill>
            <a:prstDash val="solid"/>
          </a:ln>
        </p:spPr>
      </p:sp>
      <p:sp>
        <p:nvSpPr>
          <p:cNvPr id="17" name="Shape 15"/>
          <p:cNvSpPr/>
          <p:nvPr/>
        </p:nvSpPr>
        <p:spPr>
          <a:xfrm>
            <a:off x="6858000" y="2029968"/>
            <a:ext cx="2523744" cy="292608"/>
          </a:xfrm>
          <a:prstGeom prst="roundRect">
            <a:avLst>
              <a:gd name="adj" fmla="val 50000"/>
            </a:avLst>
          </a:prstGeom>
          <a:solidFill>
            <a:srgbClr val="D7ECDF"/>
          </a:solidFill>
          <a:ln w="12700">
            <a:solidFill>
              <a:srgbClr val="D7ECDF"/>
            </a:solidFill>
            <a:prstDash val="solid"/>
          </a:ln>
        </p:spPr>
      </p:sp>
      <p:sp>
        <p:nvSpPr>
          <p:cNvPr id="18" name="Text 16"/>
          <p:cNvSpPr txBox="1"/>
          <p:nvPr/>
        </p:nvSpPr>
        <p:spPr>
          <a:xfrm>
            <a:off x="6922008" y="2048256"/>
            <a:ext cx="2395728"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2D8A65"/>
                </a:solidFill>
                <a:latin typeface="Aptos" pitchFamily="34" charset="0"/>
                <a:ea typeface="Aptos" pitchFamily="34" charset="-122"/>
                <a:cs typeface="Aptos" pitchFamily="34" charset="-120"/>
              </a:rPr>
              <a:t>WITH THE CURRENT PROOF OF CONCEPT</a:t>
            </a:r>
            <a:endParaRPr lang="en-US" sz="920" dirty="0"/>
          </a:p>
        </p:txBody>
      </p:sp>
      <p:sp>
        <p:nvSpPr>
          <p:cNvPr id="19" name="Text 17"/>
          <p:cNvSpPr txBox="1"/>
          <p:nvPr/>
        </p:nvSpPr>
        <p:spPr>
          <a:xfrm>
            <a:off x="6858000" y="2596896"/>
            <a:ext cx="4069080" cy="749808"/>
          </a:xfrm>
          <a:prstGeom prst="rect">
            <a:avLst/>
          </a:prstGeom>
          <a:noFill/>
          <a:ln/>
        </p:spPr>
        <p:txBody>
          <a:bodyPr wrap="square" lIns="0" tIns="0" rIns="0" bIns="0" rtlCol="0" anchor="t">
            <a:normAutofit/>
          </a:bodyPr>
          <a:lstStyle/>
          <a:p>
            <a:pPr algn="l" indent="0" marL="0">
              <a:buNone/>
            </a:pPr>
            <a:r>
              <a:rPr lang="en-US" sz="2450" b="1" dirty="0">
                <a:solidFill>
                  <a:srgbClr val="245E46"/>
                </a:solidFill>
                <a:latin typeface="Aptos" pitchFamily="34" charset="0"/>
                <a:ea typeface="Aptos" pitchFamily="34" charset="-122"/>
                <a:cs typeface="Aptos" pitchFamily="34" charset="-120"/>
              </a:rPr>
              <a:t>A plan built from</a:t>
            </a:r>
            <a:endParaRPr lang="en-US" sz="2450" dirty="0"/>
          </a:p>
          <a:p>
            <a:pPr algn="l" indent="0" marL="0">
              <a:buNone/>
            </a:pPr>
            <a:r>
              <a:rPr lang="en-US" sz="2450" b="1" dirty="0">
                <a:solidFill>
                  <a:srgbClr val="245E46"/>
                </a:solidFill>
                <a:latin typeface="Aptos" pitchFamily="34" charset="0"/>
                <a:ea typeface="Aptos" pitchFamily="34" charset="-122"/>
                <a:cs typeface="Aptos" pitchFamily="34" charset="-120"/>
              </a:rPr>
              <a:t>approved project facts</a:t>
            </a:r>
            <a:endParaRPr lang="en-US" sz="2450" dirty="0"/>
          </a:p>
        </p:txBody>
      </p:sp>
      <p:sp>
        <p:nvSpPr>
          <p:cNvPr id="20" name="Shape 18"/>
          <p:cNvSpPr/>
          <p:nvPr/>
        </p:nvSpPr>
        <p:spPr>
          <a:xfrm>
            <a:off x="6894576" y="3776472"/>
            <a:ext cx="100584" cy="100584"/>
          </a:xfrm>
          <a:prstGeom prst="ellipse">
            <a:avLst/>
          </a:prstGeom>
          <a:solidFill>
            <a:srgbClr val="2D8A65"/>
          </a:solidFill>
          <a:ln w="12700">
            <a:solidFill>
              <a:srgbClr val="2D8A65"/>
            </a:solidFill>
            <a:prstDash val="solid"/>
          </a:ln>
        </p:spPr>
      </p:sp>
      <p:sp>
        <p:nvSpPr>
          <p:cNvPr id="21" name="Text 19"/>
          <p:cNvSpPr txBox="1"/>
          <p:nvPr/>
        </p:nvSpPr>
        <p:spPr>
          <a:xfrm>
            <a:off x="7095744" y="3657600"/>
            <a:ext cx="3730752" cy="347472"/>
          </a:xfrm>
          <a:prstGeom prst="rect">
            <a:avLst/>
          </a:prstGeom>
          <a:noFill/>
          <a:ln/>
        </p:spPr>
        <p:txBody>
          <a:bodyPr wrap="square" lIns="0" tIns="0" rIns="0" bIns="0" rtlCol="0" anchor="t">
            <a:normAutofit/>
          </a:bodyPr>
          <a:lstStyle/>
          <a:p>
            <a:pPr algn="l" indent="0" marL="0">
              <a:buNone/>
            </a:pPr>
            <a:r>
              <a:rPr lang="en-US" sz="1330" dirty="0">
                <a:solidFill>
                  <a:srgbClr val="172033"/>
                </a:solidFill>
                <a:latin typeface="Aptos" pitchFamily="34" charset="0"/>
                <a:ea typeface="Aptos" pitchFamily="34" charset="-122"/>
                <a:cs typeface="Aptos" pitchFamily="34" charset="-120"/>
              </a:rPr>
              <a:t>Known rules and constraints are visible</a:t>
            </a:r>
            <a:endParaRPr lang="en-US" sz="1330" dirty="0"/>
          </a:p>
        </p:txBody>
      </p:sp>
      <p:sp>
        <p:nvSpPr>
          <p:cNvPr id="22" name="Shape 20"/>
          <p:cNvSpPr/>
          <p:nvPr/>
        </p:nvSpPr>
        <p:spPr>
          <a:xfrm>
            <a:off x="6894576" y="4288536"/>
            <a:ext cx="100584" cy="100584"/>
          </a:xfrm>
          <a:prstGeom prst="ellipse">
            <a:avLst/>
          </a:prstGeom>
          <a:solidFill>
            <a:srgbClr val="2D8A65"/>
          </a:solidFill>
          <a:ln w="12700">
            <a:solidFill>
              <a:srgbClr val="2D8A65"/>
            </a:solidFill>
            <a:prstDash val="solid"/>
          </a:ln>
        </p:spPr>
      </p:sp>
      <p:sp>
        <p:nvSpPr>
          <p:cNvPr id="23" name="Text 21"/>
          <p:cNvSpPr txBox="1"/>
          <p:nvPr/>
        </p:nvSpPr>
        <p:spPr>
          <a:xfrm>
            <a:off x="7095744" y="4169664"/>
            <a:ext cx="3730752" cy="347472"/>
          </a:xfrm>
          <a:prstGeom prst="rect">
            <a:avLst/>
          </a:prstGeom>
          <a:noFill/>
          <a:ln/>
        </p:spPr>
        <p:txBody>
          <a:bodyPr wrap="square" lIns="0" tIns="0" rIns="0" bIns="0" rtlCol="0" anchor="t">
            <a:normAutofit/>
          </a:bodyPr>
          <a:lstStyle/>
          <a:p>
            <a:pPr algn="l" indent="0" marL="0">
              <a:buNone/>
            </a:pPr>
            <a:r>
              <a:rPr lang="en-US" sz="1330" dirty="0">
                <a:solidFill>
                  <a:srgbClr val="172033"/>
                </a:solidFill>
                <a:latin typeface="Aptos" pitchFamily="34" charset="0"/>
                <a:ea typeface="Aptos" pitchFamily="34" charset="-122"/>
                <a:cs typeface="Aptos" pitchFamily="34" charset="-120"/>
              </a:rPr>
              <a:t>Important missing information is called out before review</a:t>
            </a:r>
            <a:endParaRPr lang="en-US" sz="1330" dirty="0"/>
          </a:p>
        </p:txBody>
      </p:sp>
      <p:sp>
        <p:nvSpPr>
          <p:cNvPr id="24" name="Shape 22"/>
          <p:cNvSpPr/>
          <p:nvPr/>
        </p:nvSpPr>
        <p:spPr>
          <a:xfrm>
            <a:off x="6894576" y="4818888"/>
            <a:ext cx="1426464" cy="292608"/>
          </a:xfrm>
          <a:prstGeom prst="roundRect">
            <a:avLst>
              <a:gd name="adj" fmla="val 50000"/>
            </a:avLst>
          </a:prstGeom>
          <a:solidFill>
            <a:srgbClr val="FFF3DE"/>
          </a:solidFill>
          <a:ln w="12700">
            <a:solidFill>
              <a:srgbClr val="FFF3DE"/>
            </a:solidFill>
            <a:prstDash val="solid"/>
          </a:ln>
        </p:spPr>
      </p:sp>
      <p:sp>
        <p:nvSpPr>
          <p:cNvPr id="25" name="Text 23"/>
          <p:cNvSpPr txBox="1"/>
          <p:nvPr/>
        </p:nvSpPr>
        <p:spPr>
          <a:xfrm>
            <a:off x="6958584" y="4837176"/>
            <a:ext cx="1298448"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82530D"/>
                </a:solidFill>
                <a:latin typeface="Aptos" pitchFamily="34" charset="0"/>
                <a:ea typeface="Aptos" pitchFamily="34" charset="-122"/>
                <a:cs typeface="Aptos" pitchFamily="34" charset="-120"/>
              </a:rPr>
              <a:t>TARGET EXTENSION</a:t>
            </a:r>
            <a:endParaRPr lang="en-US" sz="920" dirty="0"/>
          </a:p>
        </p:txBody>
      </p:sp>
      <p:sp>
        <p:nvSpPr>
          <p:cNvPr id="26" name="Text 24"/>
          <p:cNvSpPr txBox="1"/>
          <p:nvPr/>
        </p:nvSpPr>
        <p:spPr>
          <a:xfrm>
            <a:off x="8485632" y="4800600"/>
            <a:ext cx="2615184" cy="384048"/>
          </a:xfrm>
          <a:prstGeom prst="rect">
            <a:avLst/>
          </a:prstGeom>
          <a:noFill/>
          <a:ln/>
        </p:spPr>
        <p:txBody>
          <a:bodyPr wrap="square" lIns="0" tIns="0" rIns="0" bIns="0" rtlCol="0" anchor="ctr">
            <a:normAutofit/>
          </a:bodyPr>
          <a:lstStyle/>
          <a:p>
            <a:pPr algn="l" indent="0" marL="0">
              <a:buNone/>
            </a:pPr>
            <a:r>
              <a:rPr lang="en-US" sz="1220" b="1" dirty="0">
                <a:solidFill>
                  <a:srgbClr val="163454"/>
                </a:solidFill>
                <a:latin typeface="Aptos" pitchFamily="34" charset="0"/>
                <a:ea typeface="Aptos" pitchFamily="34" charset="-122"/>
                <a:cs typeface="Aptos" pitchFamily="34" charset="-120"/>
              </a:rPr>
              <a:t>Capture one short answer and apply it safely.</a:t>
            </a:r>
            <a:endParaRPr lang="en-US" sz="122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CURRENT VALUE</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Benefits visible in the local proof of concept</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The product reduces repeated work while keeping the developer in control.</a:t>
            </a:r>
            <a:endParaRPr lang="en-US" sz="1350" dirty="0"/>
          </a:p>
        </p:txBody>
      </p:sp>
      <p:sp>
        <p:nvSpPr>
          <p:cNvPr id="5" name="Shape 3"/>
          <p:cNvSpPr/>
          <p:nvPr/>
        </p:nvSpPr>
        <p:spPr>
          <a:xfrm>
            <a:off x="640080" y="1737360"/>
            <a:ext cx="3429000" cy="1682496"/>
          </a:xfrm>
          <a:prstGeom prst="roundRect">
            <a:avLst>
              <a:gd name="adj" fmla="val 4348"/>
            </a:avLst>
          </a:prstGeom>
          <a:solidFill>
            <a:srgbClr val="FFFFFF"/>
          </a:solidFill>
          <a:ln w="10160">
            <a:solidFill>
              <a:srgbClr val="D8DEE7"/>
            </a:solidFill>
            <a:prstDash val="solid"/>
          </a:ln>
        </p:spPr>
      </p:sp>
      <p:sp>
        <p:nvSpPr>
          <p:cNvPr id="6" name="Shape 4"/>
          <p:cNvSpPr/>
          <p:nvPr/>
        </p:nvSpPr>
        <p:spPr>
          <a:xfrm>
            <a:off x="640080" y="1737360"/>
            <a:ext cx="73152" cy="1682496"/>
          </a:xfrm>
          <a:prstGeom prst="rect">
            <a:avLst/>
          </a:prstGeom>
          <a:solidFill>
            <a:srgbClr val="2D8A65"/>
          </a:solidFill>
          <a:ln w="12700">
            <a:solidFill>
              <a:srgbClr val="2D8A65"/>
            </a:solidFill>
            <a:prstDash val="solid"/>
          </a:ln>
        </p:spPr>
      </p:sp>
      <p:sp>
        <p:nvSpPr>
          <p:cNvPr id="7" name="Text 5"/>
          <p:cNvSpPr txBox="1"/>
          <p:nvPr/>
        </p:nvSpPr>
        <p:spPr>
          <a:xfrm>
            <a:off x="886968" y="1920240"/>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2D8A65"/>
                </a:solidFill>
                <a:latin typeface="Aptos" pitchFamily="34" charset="0"/>
                <a:ea typeface="Aptos" pitchFamily="34" charset="-122"/>
                <a:cs typeface="Aptos" pitchFamily="34" charset="-120"/>
              </a:rPr>
              <a:t>01</a:t>
            </a:r>
            <a:endParaRPr lang="en-US" sz="880" dirty="0"/>
          </a:p>
        </p:txBody>
      </p:sp>
      <p:sp>
        <p:nvSpPr>
          <p:cNvPr id="8" name="Text 6"/>
          <p:cNvSpPr txBox="1"/>
          <p:nvPr/>
        </p:nvSpPr>
        <p:spPr>
          <a:xfrm>
            <a:off x="886968" y="2203704"/>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Less setup time</a:t>
            </a:r>
            <a:endParaRPr lang="en-US" sz="1650" dirty="0"/>
          </a:p>
        </p:txBody>
      </p:sp>
      <p:sp>
        <p:nvSpPr>
          <p:cNvPr id="9" name="Text 7"/>
          <p:cNvSpPr txBox="1"/>
          <p:nvPr/>
        </p:nvSpPr>
        <p:spPr>
          <a:xfrm>
            <a:off x="886968" y="2615184"/>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Reuse approved project knowledge instead of explaining it again.</a:t>
            </a:r>
            <a:endParaRPr lang="en-US" sz="1180" dirty="0"/>
          </a:p>
        </p:txBody>
      </p:sp>
      <p:sp>
        <p:nvSpPr>
          <p:cNvPr id="10" name="Shape 8"/>
          <p:cNvSpPr/>
          <p:nvPr/>
        </p:nvSpPr>
        <p:spPr>
          <a:xfrm>
            <a:off x="4389120" y="1737360"/>
            <a:ext cx="3429000" cy="1682496"/>
          </a:xfrm>
          <a:prstGeom prst="roundRect">
            <a:avLst>
              <a:gd name="adj" fmla="val 4348"/>
            </a:avLst>
          </a:prstGeom>
          <a:solidFill>
            <a:srgbClr val="FFFFFF"/>
          </a:solidFill>
          <a:ln w="10160">
            <a:solidFill>
              <a:srgbClr val="D8DEE7"/>
            </a:solidFill>
            <a:prstDash val="solid"/>
          </a:ln>
        </p:spPr>
      </p:sp>
      <p:sp>
        <p:nvSpPr>
          <p:cNvPr id="11" name="Shape 9"/>
          <p:cNvSpPr/>
          <p:nvPr/>
        </p:nvSpPr>
        <p:spPr>
          <a:xfrm>
            <a:off x="4389120" y="1737360"/>
            <a:ext cx="73152" cy="1682496"/>
          </a:xfrm>
          <a:prstGeom prst="rect">
            <a:avLst/>
          </a:prstGeom>
          <a:solidFill>
            <a:srgbClr val="007F80"/>
          </a:solidFill>
          <a:ln w="12700">
            <a:solidFill>
              <a:srgbClr val="007F80"/>
            </a:solidFill>
            <a:prstDash val="solid"/>
          </a:ln>
        </p:spPr>
      </p:sp>
      <p:sp>
        <p:nvSpPr>
          <p:cNvPr id="12" name="Text 10"/>
          <p:cNvSpPr txBox="1"/>
          <p:nvPr/>
        </p:nvSpPr>
        <p:spPr>
          <a:xfrm>
            <a:off x="4636008" y="1920240"/>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007F80"/>
                </a:solidFill>
                <a:latin typeface="Aptos" pitchFamily="34" charset="0"/>
                <a:ea typeface="Aptos" pitchFamily="34" charset="-122"/>
                <a:cs typeface="Aptos" pitchFamily="34" charset="-120"/>
              </a:rPr>
              <a:t>02</a:t>
            </a:r>
            <a:endParaRPr lang="en-US" sz="880" dirty="0"/>
          </a:p>
        </p:txBody>
      </p:sp>
      <p:sp>
        <p:nvSpPr>
          <p:cNvPr id="13" name="Text 11"/>
          <p:cNvSpPr txBox="1"/>
          <p:nvPr/>
        </p:nvSpPr>
        <p:spPr>
          <a:xfrm>
            <a:off x="4636008" y="2203704"/>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Fewer missed requirements</a:t>
            </a:r>
            <a:endParaRPr lang="en-US" sz="1650" dirty="0"/>
          </a:p>
        </p:txBody>
      </p:sp>
      <p:sp>
        <p:nvSpPr>
          <p:cNvPr id="14" name="Text 12"/>
          <p:cNvSpPr txBox="1"/>
          <p:nvPr/>
        </p:nvSpPr>
        <p:spPr>
          <a:xfrm>
            <a:off x="4636008" y="2615184"/>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Keep known rules and constraints in view while work is prepared.</a:t>
            </a:r>
            <a:endParaRPr lang="en-US" sz="1180" dirty="0"/>
          </a:p>
        </p:txBody>
      </p:sp>
      <p:sp>
        <p:nvSpPr>
          <p:cNvPr id="15" name="Shape 13"/>
          <p:cNvSpPr/>
          <p:nvPr/>
        </p:nvSpPr>
        <p:spPr>
          <a:xfrm>
            <a:off x="8138160" y="1737360"/>
            <a:ext cx="3429000" cy="1682496"/>
          </a:xfrm>
          <a:prstGeom prst="roundRect">
            <a:avLst>
              <a:gd name="adj" fmla="val 4348"/>
            </a:avLst>
          </a:prstGeom>
          <a:solidFill>
            <a:srgbClr val="FFFFFF"/>
          </a:solidFill>
          <a:ln w="10160">
            <a:solidFill>
              <a:srgbClr val="D8DEE7"/>
            </a:solidFill>
            <a:prstDash val="solid"/>
          </a:ln>
        </p:spPr>
      </p:sp>
      <p:sp>
        <p:nvSpPr>
          <p:cNvPr id="16" name="Shape 14"/>
          <p:cNvSpPr/>
          <p:nvPr/>
        </p:nvSpPr>
        <p:spPr>
          <a:xfrm>
            <a:off x="8138160" y="1737360"/>
            <a:ext cx="73152" cy="1682496"/>
          </a:xfrm>
          <a:prstGeom prst="rect">
            <a:avLst/>
          </a:prstGeom>
          <a:solidFill>
            <a:srgbClr val="D9952A"/>
          </a:solidFill>
          <a:ln w="12700">
            <a:solidFill>
              <a:srgbClr val="D9952A"/>
            </a:solidFill>
            <a:prstDash val="solid"/>
          </a:ln>
        </p:spPr>
      </p:sp>
      <p:sp>
        <p:nvSpPr>
          <p:cNvPr id="17" name="Text 15"/>
          <p:cNvSpPr txBox="1"/>
          <p:nvPr/>
        </p:nvSpPr>
        <p:spPr>
          <a:xfrm>
            <a:off x="8385048" y="1920240"/>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D9952A"/>
                </a:solidFill>
                <a:latin typeface="Aptos" pitchFamily="34" charset="0"/>
                <a:ea typeface="Aptos" pitchFamily="34" charset="-122"/>
                <a:cs typeface="Aptos" pitchFamily="34" charset="-120"/>
              </a:rPr>
              <a:t>03</a:t>
            </a:r>
            <a:endParaRPr lang="en-US" sz="880" dirty="0"/>
          </a:p>
        </p:txBody>
      </p:sp>
      <p:sp>
        <p:nvSpPr>
          <p:cNvPr id="18" name="Text 16"/>
          <p:cNvSpPr txBox="1"/>
          <p:nvPr/>
        </p:nvSpPr>
        <p:spPr>
          <a:xfrm>
            <a:off x="8385048" y="2203704"/>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Less mental effort</a:t>
            </a:r>
            <a:endParaRPr lang="en-US" sz="1650" dirty="0"/>
          </a:p>
        </p:txBody>
      </p:sp>
      <p:sp>
        <p:nvSpPr>
          <p:cNvPr id="19" name="Text 17"/>
          <p:cNvSpPr txBox="1"/>
          <p:nvPr/>
        </p:nvSpPr>
        <p:spPr>
          <a:xfrm>
            <a:off x="8385048" y="2615184"/>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Reduce searching, repetition and tracking information across tools.</a:t>
            </a:r>
            <a:endParaRPr lang="en-US" sz="1180" dirty="0"/>
          </a:p>
        </p:txBody>
      </p:sp>
      <p:sp>
        <p:nvSpPr>
          <p:cNvPr id="20" name="Shape 18"/>
          <p:cNvSpPr/>
          <p:nvPr/>
        </p:nvSpPr>
        <p:spPr>
          <a:xfrm>
            <a:off x="640080" y="3767328"/>
            <a:ext cx="3429000" cy="1682496"/>
          </a:xfrm>
          <a:prstGeom prst="roundRect">
            <a:avLst>
              <a:gd name="adj" fmla="val 4348"/>
            </a:avLst>
          </a:prstGeom>
          <a:solidFill>
            <a:srgbClr val="FFFFFF"/>
          </a:solidFill>
          <a:ln w="10160">
            <a:solidFill>
              <a:srgbClr val="D8DEE7"/>
            </a:solidFill>
            <a:prstDash val="solid"/>
          </a:ln>
        </p:spPr>
      </p:sp>
      <p:sp>
        <p:nvSpPr>
          <p:cNvPr id="21" name="Shape 19"/>
          <p:cNvSpPr/>
          <p:nvPr/>
        </p:nvSpPr>
        <p:spPr>
          <a:xfrm>
            <a:off x="640080" y="3767328"/>
            <a:ext cx="73152" cy="1682496"/>
          </a:xfrm>
          <a:prstGeom prst="rect">
            <a:avLst/>
          </a:prstGeom>
          <a:solidFill>
            <a:srgbClr val="21A7B7"/>
          </a:solidFill>
          <a:ln w="12700">
            <a:solidFill>
              <a:srgbClr val="21A7B7"/>
            </a:solidFill>
            <a:prstDash val="solid"/>
          </a:ln>
        </p:spPr>
      </p:sp>
      <p:sp>
        <p:nvSpPr>
          <p:cNvPr id="22" name="Text 20"/>
          <p:cNvSpPr txBox="1"/>
          <p:nvPr/>
        </p:nvSpPr>
        <p:spPr>
          <a:xfrm>
            <a:off x="886968" y="3950208"/>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21A7B7"/>
                </a:solidFill>
                <a:latin typeface="Aptos" pitchFamily="34" charset="0"/>
                <a:ea typeface="Aptos" pitchFamily="34" charset="-122"/>
                <a:cs typeface="Aptos" pitchFamily="34" charset="-120"/>
              </a:rPr>
              <a:t>04</a:t>
            </a:r>
            <a:endParaRPr lang="en-US" sz="880" dirty="0"/>
          </a:p>
        </p:txBody>
      </p:sp>
      <p:sp>
        <p:nvSpPr>
          <p:cNvPr id="23" name="Text 21"/>
          <p:cNvSpPr txBox="1"/>
          <p:nvPr/>
        </p:nvSpPr>
        <p:spPr>
          <a:xfrm>
            <a:off x="886968" y="4233672"/>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Easier review</a:t>
            </a:r>
            <a:endParaRPr lang="en-US" sz="1650" dirty="0"/>
          </a:p>
        </p:txBody>
      </p:sp>
      <p:sp>
        <p:nvSpPr>
          <p:cNvPr id="24" name="Text 22"/>
          <p:cNvSpPr txBox="1"/>
          <p:nvPr/>
        </p:nvSpPr>
        <p:spPr>
          <a:xfrm>
            <a:off x="886968" y="4645152"/>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Make sources, assumptions and decisions simple to check.</a:t>
            </a:r>
            <a:endParaRPr lang="en-US" sz="1180" dirty="0"/>
          </a:p>
        </p:txBody>
      </p:sp>
      <p:sp>
        <p:nvSpPr>
          <p:cNvPr id="25" name="Shape 23"/>
          <p:cNvSpPr/>
          <p:nvPr/>
        </p:nvSpPr>
        <p:spPr>
          <a:xfrm>
            <a:off x="4389120" y="3767328"/>
            <a:ext cx="3429000" cy="1682496"/>
          </a:xfrm>
          <a:prstGeom prst="roundRect">
            <a:avLst>
              <a:gd name="adj" fmla="val 4348"/>
            </a:avLst>
          </a:prstGeom>
          <a:solidFill>
            <a:srgbClr val="FFFFFF"/>
          </a:solidFill>
          <a:ln w="10160">
            <a:solidFill>
              <a:srgbClr val="D8DEE7"/>
            </a:solidFill>
            <a:prstDash val="solid"/>
          </a:ln>
        </p:spPr>
      </p:sp>
      <p:sp>
        <p:nvSpPr>
          <p:cNvPr id="26" name="Shape 24"/>
          <p:cNvSpPr/>
          <p:nvPr/>
        </p:nvSpPr>
        <p:spPr>
          <a:xfrm>
            <a:off x="4389120" y="3767328"/>
            <a:ext cx="73152" cy="1682496"/>
          </a:xfrm>
          <a:prstGeom prst="rect">
            <a:avLst/>
          </a:prstGeom>
          <a:solidFill>
            <a:srgbClr val="163454"/>
          </a:solidFill>
          <a:ln w="12700">
            <a:solidFill>
              <a:srgbClr val="163454"/>
            </a:solidFill>
            <a:prstDash val="solid"/>
          </a:ln>
        </p:spPr>
      </p:sp>
      <p:sp>
        <p:nvSpPr>
          <p:cNvPr id="27" name="Text 25"/>
          <p:cNvSpPr txBox="1"/>
          <p:nvPr/>
        </p:nvSpPr>
        <p:spPr>
          <a:xfrm>
            <a:off x="4636008" y="3950208"/>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163454"/>
                </a:solidFill>
                <a:latin typeface="Aptos" pitchFamily="34" charset="0"/>
                <a:ea typeface="Aptos" pitchFamily="34" charset="-122"/>
                <a:cs typeface="Aptos" pitchFamily="34" charset="-120"/>
              </a:rPr>
              <a:t>05</a:t>
            </a:r>
            <a:endParaRPr lang="en-US" sz="880" dirty="0"/>
          </a:p>
        </p:txBody>
      </p:sp>
      <p:sp>
        <p:nvSpPr>
          <p:cNvPr id="28" name="Text 26"/>
          <p:cNvSpPr txBox="1"/>
          <p:nvPr/>
        </p:nvSpPr>
        <p:spPr>
          <a:xfrm>
            <a:off x="4636008" y="4233672"/>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Shared understanding</a:t>
            </a:r>
            <a:endParaRPr lang="en-US" sz="1650" dirty="0"/>
          </a:p>
        </p:txBody>
      </p:sp>
      <p:sp>
        <p:nvSpPr>
          <p:cNvPr id="29" name="Text 27"/>
          <p:cNvSpPr txBox="1"/>
          <p:nvPr/>
        </p:nvSpPr>
        <p:spPr>
          <a:xfrm>
            <a:off x="4636008" y="4645152"/>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Use the same approved project facts across tasks.</a:t>
            </a:r>
            <a:endParaRPr lang="en-US" sz="1180" dirty="0"/>
          </a:p>
        </p:txBody>
      </p:sp>
      <p:sp>
        <p:nvSpPr>
          <p:cNvPr id="30" name="Shape 28"/>
          <p:cNvSpPr/>
          <p:nvPr/>
        </p:nvSpPr>
        <p:spPr>
          <a:xfrm>
            <a:off x="8138160" y="3767328"/>
            <a:ext cx="3429000" cy="1682496"/>
          </a:xfrm>
          <a:prstGeom prst="roundRect">
            <a:avLst>
              <a:gd name="adj" fmla="val 4348"/>
            </a:avLst>
          </a:prstGeom>
          <a:solidFill>
            <a:srgbClr val="FFFFFF"/>
          </a:solidFill>
          <a:ln w="10160">
            <a:solidFill>
              <a:srgbClr val="D8DEE7"/>
            </a:solidFill>
            <a:prstDash val="solid"/>
          </a:ln>
        </p:spPr>
      </p:sp>
      <p:sp>
        <p:nvSpPr>
          <p:cNvPr id="31" name="Shape 29"/>
          <p:cNvSpPr/>
          <p:nvPr/>
        </p:nvSpPr>
        <p:spPr>
          <a:xfrm>
            <a:off x="8138160" y="3767328"/>
            <a:ext cx="73152" cy="1682496"/>
          </a:xfrm>
          <a:prstGeom prst="rect">
            <a:avLst/>
          </a:prstGeom>
          <a:solidFill>
            <a:srgbClr val="2D8A65"/>
          </a:solidFill>
          <a:ln w="12700">
            <a:solidFill>
              <a:srgbClr val="2D8A65"/>
            </a:solidFill>
            <a:prstDash val="solid"/>
          </a:ln>
        </p:spPr>
      </p:sp>
      <p:sp>
        <p:nvSpPr>
          <p:cNvPr id="32" name="Text 30"/>
          <p:cNvSpPr txBox="1"/>
          <p:nvPr/>
        </p:nvSpPr>
        <p:spPr>
          <a:xfrm>
            <a:off x="8385048" y="3950208"/>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2D8A65"/>
                </a:solidFill>
                <a:latin typeface="Aptos" pitchFamily="34" charset="0"/>
                <a:ea typeface="Aptos" pitchFamily="34" charset="-122"/>
                <a:cs typeface="Aptos" pitchFamily="34" charset="-120"/>
              </a:rPr>
              <a:t>06</a:t>
            </a:r>
            <a:endParaRPr lang="en-US" sz="880" dirty="0"/>
          </a:p>
        </p:txBody>
      </p:sp>
      <p:sp>
        <p:nvSpPr>
          <p:cNvPr id="33" name="Text 31"/>
          <p:cNvSpPr txBox="1"/>
          <p:nvPr/>
        </p:nvSpPr>
        <p:spPr>
          <a:xfrm>
            <a:off x="8385048" y="4233672"/>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Developer stays in control</a:t>
            </a:r>
            <a:endParaRPr lang="en-US" sz="1650" dirty="0"/>
          </a:p>
        </p:txBody>
      </p:sp>
      <p:sp>
        <p:nvSpPr>
          <p:cNvPr id="34" name="Text 32"/>
          <p:cNvSpPr txBox="1"/>
          <p:nvPr/>
        </p:nvSpPr>
        <p:spPr>
          <a:xfrm>
            <a:off x="8385048" y="4645152"/>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The developer reviews, corrects, saves or resets the work.</a:t>
            </a:r>
            <a:endParaRPr lang="en-US" sz="1180" dirty="0"/>
          </a:p>
        </p:txBody>
      </p:sp>
      <p:sp>
        <p:nvSpPr>
          <p:cNvPr id="35" name="Text 33"/>
          <p:cNvSpPr txBox="1"/>
          <p:nvPr/>
        </p:nvSpPr>
        <p:spPr>
          <a:xfrm>
            <a:off x="658368" y="5907024"/>
            <a:ext cx="10954512" cy="274320"/>
          </a:xfrm>
          <a:prstGeom prst="rect">
            <a:avLst/>
          </a:prstGeom>
          <a:noFill/>
          <a:ln/>
        </p:spPr>
        <p:txBody>
          <a:bodyPr wrap="square" lIns="0" tIns="0" rIns="0" bIns="0" rtlCol="0" anchor="ctr">
            <a:normAutofit/>
          </a:bodyPr>
          <a:lstStyle/>
          <a:p>
            <a:pPr algn="ctr" indent="0" marL="0">
              <a:buNone/>
            </a:pPr>
            <a:r>
              <a:rPr lang="en-US" sz="1350" b="1" dirty="0">
                <a:solidFill>
                  <a:srgbClr val="163454"/>
                </a:solidFill>
                <a:latin typeface="Aptos" pitchFamily="34" charset="0"/>
                <a:ea typeface="Aptos" pitchFamily="34" charset="-122"/>
                <a:cs typeface="Aptos" pitchFamily="34" charset="-120"/>
              </a:rPr>
              <a:t>Current evidence shows value in a local proof of concept. It does not yet prove production scale or live-AI output quality.</a:t>
            </a:r>
            <a:endParaRPr lang="en-US" sz="135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WHAT LEADERS CAN SEE NOW</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A short, honest local demonstration</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The walkthrough shows what works today and clearly names what is still unfinished.</a:t>
            </a:r>
            <a:endParaRPr lang="en-US" sz="1350" dirty="0"/>
          </a:p>
        </p:txBody>
      </p:sp>
      <p:sp>
        <p:nvSpPr>
          <p:cNvPr id="5" name="Shape 3"/>
          <p:cNvSpPr/>
          <p:nvPr/>
        </p:nvSpPr>
        <p:spPr>
          <a:xfrm>
            <a:off x="9848088" y="320040"/>
            <a:ext cx="1508760" cy="292608"/>
          </a:xfrm>
          <a:prstGeom prst="roundRect">
            <a:avLst>
              <a:gd name="adj" fmla="val 50000"/>
            </a:avLst>
          </a:prstGeom>
          <a:solidFill>
            <a:srgbClr val="E9F5EF"/>
          </a:solidFill>
          <a:ln w="12700">
            <a:solidFill>
              <a:srgbClr val="E9F5EF"/>
            </a:solidFill>
            <a:prstDash val="solid"/>
          </a:ln>
        </p:spPr>
      </p:sp>
      <p:sp>
        <p:nvSpPr>
          <p:cNvPr id="6" name="Text 4"/>
          <p:cNvSpPr txBox="1"/>
          <p:nvPr/>
        </p:nvSpPr>
        <p:spPr>
          <a:xfrm>
            <a:off x="9912096" y="338328"/>
            <a:ext cx="1380744"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2D8A65"/>
                </a:solidFill>
                <a:latin typeface="Aptos" pitchFamily="34" charset="0"/>
                <a:ea typeface="Aptos" pitchFamily="34" charset="-122"/>
                <a:cs typeface="Aptos" pitchFamily="34" charset="-120"/>
              </a:rPr>
              <a:t>DEMONSTRATED</a:t>
            </a:r>
            <a:endParaRPr lang="en-US" sz="920" dirty="0"/>
          </a:p>
        </p:txBody>
      </p:sp>
      <p:sp>
        <p:nvSpPr>
          <p:cNvPr id="7" name="Shape 5"/>
          <p:cNvSpPr/>
          <p:nvPr/>
        </p:nvSpPr>
        <p:spPr>
          <a:xfrm>
            <a:off x="731520" y="1737360"/>
            <a:ext cx="521208" cy="292608"/>
          </a:xfrm>
          <a:prstGeom prst="roundRect">
            <a:avLst>
              <a:gd name="adj" fmla="val 50000"/>
            </a:avLst>
          </a:prstGeom>
          <a:solidFill>
            <a:srgbClr val="007F80"/>
          </a:solidFill>
          <a:ln w="12700">
            <a:solidFill>
              <a:srgbClr val="007F80"/>
            </a:solidFill>
            <a:prstDash val="solid"/>
          </a:ln>
        </p:spPr>
      </p:sp>
      <p:sp>
        <p:nvSpPr>
          <p:cNvPr id="8" name="Text 6"/>
          <p:cNvSpPr txBox="1"/>
          <p:nvPr/>
        </p:nvSpPr>
        <p:spPr>
          <a:xfrm>
            <a:off x="795528" y="1755648"/>
            <a:ext cx="39319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FFFFFF"/>
                </a:solidFill>
                <a:latin typeface="Aptos" pitchFamily="34" charset="0"/>
                <a:ea typeface="Aptos" pitchFamily="34" charset="-122"/>
                <a:cs typeface="Aptos" pitchFamily="34" charset="-120"/>
              </a:rPr>
              <a:t>01</a:t>
            </a:r>
            <a:endParaRPr lang="en-US" sz="920" dirty="0"/>
          </a:p>
        </p:txBody>
      </p:sp>
      <p:sp>
        <p:nvSpPr>
          <p:cNvPr id="9" name="Text 7"/>
          <p:cNvSpPr txBox="1"/>
          <p:nvPr/>
        </p:nvSpPr>
        <p:spPr>
          <a:xfrm>
            <a:off x="1508760" y="1700784"/>
            <a:ext cx="3822192" cy="356616"/>
          </a:xfrm>
          <a:prstGeom prst="rect">
            <a:avLst/>
          </a:prstGeom>
          <a:noFill/>
          <a:ln/>
        </p:spPr>
        <p:txBody>
          <a:bodyPr wrap="square" lIns="0" tIns="0" rIns="0" bIns="0" rtlCol="0" anchor="ctr">
            <a:normAutofit/>
          </a:bodyPr>
          <a:lstStyle/>
          <a:p>
            <a:pPr algn="l" indent="0" marL="0">
              <a:buNone/>
            </a:pPr>
            <a:r>
              <a:rPr lang="en-US" sz="1610" b="1" dirty="0">
                <a:solidFill>
                  <a:srgbClr val="172033"/>
                </a:solidFill>
                <a:latin typeface="Aptos" pitchFamily="34" charset="0"/>
                <a:ea typeface="Aptos" pitchFamily="34" charset="-122"/>
                <a:cs typeface="Aptos" pitchFamily="34" charset="-120"/>
              </a:rPr>
              <a:t>Review approved project facts</a:t>
            </a:r>
            <a:endParaRPr lang="en-US" sz="1610" dirty="0"/>
          </a:p>
        </p:txBody>
      </p:sp>
      <p:sp>
        <p:nvSpPr>
          <p:cNvPr id="10" name="Shape 8"/>
          <p:cNvSpPr/>
          <p:nvPr/>
        </p:nvSpPr>
        <p:spPr>
          <a:xfrm>
            <a:off x="5449824" y="1673352"/>
            <a:ext cx="5779008" cy="539496"/>
          </a:xfrm>
          <a:prstGeom prst="roundRect">
            <a:avLst>
              <a:gd name="adj" fmla="val 13559"/>
            </a:avLst>
          </a:prstGeom>
          <a:solidFill>
            <a:srgbClr val="E8F6F5"/>
          </a:solidFill>
          <a:ln w="10160">
            <a:solidFill>
              <a:srgbClr val="B9DDDA"/>
            </a:solidFill>
            <a:prstDash val="solid"/>
          </a:ln>
        </p:spPr>
      </p:sp>
      <p:sp>
        <p:nvSpPr>
          <p:cNvPr id="11" name="Text 9"/>
          <p:cNvSpPr txBox="1"/>
          <p:nvPr/>
        </p:nvSpPr>
        <p:spPr>
          <a:xfrm>
            <a:off x="5715000" y="1755648"/>
            <a:ext cx="5230368" cy="320040"/>
          </a:xfrm>
          <a:prstGeom prst="rect">
            <a:avLst/>
          </a:prstGeom>
          <a:noFill/>
          <a:ln/>
        </p:spPr>
        <p:txBody>
          <a:bodyPr wrap="square" lIns="0" tIns="0" rIns="0" bIns="0" rtlCol="0" anchor="ctr">
            <a:normAutofit/>
          </a:bodyPr>
          <a:lstStyle/>
          <a:p>
            <a:pPr algn="l" indent="0" marL="0">
              <a:buNone/>
            </a:pPr>
            <a:r>
              <a:rPr lang="en-US" sz="1270" dirty="0">
                <a:solidFill>
                  <a:srgbClr val="163454"/>
                </a:solidFill>
                <a:latin typeface="Aptos" pitchFamily="34" charset="0"/>
                <a:ea typeface="Aptos" pitchFamily="34" charset="-122"/>
                <a:cs typeface="Aptos" pitchFamily="34" charset="-120"/>
              </a:rPr>
              <a:t>See the knowledge that later work can reuse.</a:t>
            </a:r>
            <a:endParaRPr lang="en-US" sz="1270" dirty="0"/>
          </a:p>
        </p:txBody>
      </p:sp>
      <p:sp>
        <p:nvSpPr>
          <p:cNvPr id="12" name="Shape 10"/>
          <p:cNvSpPr/>
          <p:nvPr/>
        </p:nvSpPr>
        <p:spPr>
          <a:xfrm>
            <a:off x="731520" y="2551176"/>
            <a:ext cx="521208" cy="292608"/>
          </a:xfrm>
          <a:prstGeom prst="roundRect">
            <a:avLst>
              <a:gd name="adj" fmla="val 50000"/>
            </a:avLst>
          </a:prstGeom>
          <a:solidFill>
            <a:srgbClr val="007F80"/>
          </a:solidFill>
          <a:ln w="12700">
            <a:solidFill>
              <a:srgbClr val="007F80"/>
            </a:solidFill>
            <a:prstDash val="solid"/>
          </a:ln>
        </p:spPr>
      </p:sp>
      <p:sp>
        <p:nvSpPr>
          <p:cNvPr id="13" name="Text 11"/>
          <p:cNvSpPr txBox="1"/>
          <p:nvPr/>
        </p:nvSpPr>
        <p:spPr>
          <a:xfrm>
            <a:off x="795528" y="2569464"/>
            <a:ext cx="39319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FFFFFF"/>
                </a:solidFill>
                <a:latin typeface="Aptos" pitchFamily="34" charset="0"/>
                <a:ea typeface="Aptos" pitchFamily="34" charset="-122"/>
                <a:cs typeface="Aptos" pitchFamily="34" charset="-120"/>
              </a:rPr>
              <a:t>02</a:t>
            </a:r>
            <a:endParaRPr lang="en-US" sz="920" dirty="0"/>
          </a:p>
        </p:txBody>
      </p:sp>
      <p:sp>
        <p:nvSpPr>
          <p:cNvPr id="14" name="Text 12"/>
          <p:cNvSpPr txBox="1"/>
          <p:nvPr/>
        </p:nvSpPr>
        <p:spPr>
          <a:xfrm>
            <a:off x="1508760" y="2514600"/>
            <a:ext cx="3822192" cy="356616"/>
          </a:xfrm>
          <a:prstGeom prst="rect">
            <a:avLst/>
          </a:prstGeom>
          <a:noFill/>
          <a:ln/>
        </p:spPr>
        <p:txBody>
          <a:bodyPr wrap="square" lIns="0" tIns="0" rIns="0" bIns="0" rtlCol="0" anchor="ctr">
            <a:normAutofit/>
          </a:bodyPr>
          <a:lstStyle/>
          <a:p>
            <a:pPr algn="l" indent="0" marL="0">
              <a:buNone/>
            </a:pPr>
            <a:r>
              <a:rPr lang="en-US" sz="1610" b="1" dirty="0">
                <a:solidFill>
                  <a:srgbClr val="172033"/>
                </a:solidFill>
                <a:latin typeface="Aptos" pitchFamily="34" charset="0"/>
                <a:ea typeface="Aptos" pitchFamily="34" charset="-122"/>
                <a:cs typeface="Aptos" pitchFamily="34" charset="-120"/>
              </a:rPr>
              <a:t>Describe a task</a:t>
            </a:r>
            <a:endParaRPr lang="en-US" sz="1610" dirty="0"/>
          </a:p>
        </p:txBody>
      </p:sp>
      <p:sp>
        <p:nvSpPr>
          <p:cNvPr id="15" name="Shape 13"/>
          <p:cNvSpPr/>
          <p:nvPr/>
        </p:nvSpPr>
        <p:spPr>
          <a:xfrm>
            <a:off x="5449824" y="2487168"/>
            <a:ext cx="5779008" cy="539496"/>
          </a:xfrm>
          <a:prstGeom prst="roundRect">
            <a:avLst>
              <a:gd name="adj" fmla="val 13559"/>
            </a:avLst>
          </a:prstGeom>
          <a:solidFill>
            <a:srgbClr val="E8F6F5"/>
          </a:solidFill>
          <a:ln w="10160">
            <a:solidFill>
              <a:srgbClr val="B9DDDA"/>
            </a:solidFill>
            <a:prstDash val="solid"/>
          </a:ln>
        </p:spPr>
      </p:sp>
      <p:sp>
        <p:nvSpPr>
          <p:cNvPr id="16" name="Text 14"/>
          <p:cNvSpPr txBox="1"/>
          <p:nvPr/>
        </p:nvSpPr>
        <p:spPr>
          <a:xfrm>
            <a:off x="5715000" y="2569464"/>
            <a:ext cx="5230368" cy="320040"/>
          </a:xfrm>
          <a:prstGeom prst="rect">
            <a:avLst/>
          </a:prstGeom>
          <a:noFill/>
          <a:ln/>
        </p:spPr>
        <p:txBody>
          <a:bodyPr wrap="square" lIns="0" tIns="0" rIns="0" bIns="0" rtlCol="0" anchor="ctr">
            <a:normAutofit/>
          </a:bodyPr>
          <a:lstStyle/>
          <a:p>
            <a:pPr algn="l" indent="0" marL="0">
              <a:buNone/>
            </a:pPr>
            <a:r>
              <a:rPr lang="en-US" sz="1270" dirty="0">
                <a:solidFill>
                  <a:srgbClr val="163454"/>
                </a:solidFill>
                <a:latin typeface="Aptos" pitchFamily="34" charset="0"/>
                <a:ea typeface="Aptos" pitchFamily="34" charset="-122"/>
                <a:cs typeface="Aptos" pitchFamily="34" charset="-120"/>
              </a:rPr>
              <a:t>Make the task, expected result and importance clear.</a:t>
            </a:r>
            <a:endParaRPr lang="en-US" sz="1270" dirty="0"/>
          </a:p>
        </p:txBody>
      </p:sp>
      <p:sp>
        <p:nvSpPr>
          <p:cNvPr id="17" name="Shape 15"/>
          <p:cNvSpPr/>
          <p:nvPr/>
        </p:nvSpPr>
        <p:spPr>
          <a:xfrm>
            <a:off x="731520" y="3364992"/>
            <a:ext cx="521208" cy="292608"/>
          </a:xfrm>
          <a:prstGeom prst="roundRect">
            <a:avLst>
              <a:gd name="adj" fmla="val 50000"/>
            </a:avLst>
          </a:prstGeom>
          <a:solidFill>
            <a:srgbClr val="D9952A"/>
          </a:solidFill>
          <a:ln w="12700">
            <a:solidFill>
              <a:srgbClr val="D9952A"/>
            </a:solidFill>
            <a:prstDash val="solid"/>
          </a:ln>
        </p:spPr>
      </p:sp>
      <p:sp>
        <p:nvSpPr>
          <p:cNvPr id="18" name="Text 16"/>
          <p:cNvSpPr txBox="1"/>
          <p:nvPr/>
        </p:nvSpPr>
        <p:spPr>
          <a:xfrm>
            <a:off x="795528" y="3383280"/>
            <a:ext cx="39319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FFFFFF"/>
                </a:solidFill>
                <a:latin typeface="Aptos" pitchFamily="34" charset="0"/>
                <a:ea typeface="Aptos" pitchFamily="34" charset="-122"/>
                <a:cs typeface="Aptos" pitchFamily="34" charset="-120"/>
              </a:rPr>
              <a:t>03</a:t>
            </a:r>
            <a:endParaRPr lang="en-US" sz="920" dirty="0"/>
          </a:p>
        </p:txBody>
      </p:sp>
      <p:sp>
        <p:nvSpPr>
          <p:cNvPr id="19" name="Text 17"/>
          <p:cNvSpPr txBox="1"/>
          <p:nvPr/>
        </p:nvSpPr>
        <p:spPr>
          <a:xfrm>
            <a:off x="1508760" y="3328416"/>
            <a:ext cx="3822192" cy="356616"/>
          </a:xfrm>
          <a:prstGeom prst="rect">
            <a:avLst/>
          </a:prstGeom>
          <a:noFill/>
          <a:ln/>
        </p:spPr>
        <p:txBody>
          <a:bodyPr wrap="square" lIns="0" tIns="0" rIns="0" bIns="0" rtlCol="0" anchor="ctr">
            <a:normAutofit/>
          </a:bodyPr>
          <a:lstStyle/>
          <a:p>
            <a:pPr algn="l" indent="0" marL="0">
              <a:buNone/>
            </a:pPr>
            <a:r>
              <a:rPr lang="en-US" sz="1610" b="1" dirty="0">
                <a:solidFill>
                  <a:srgbClr val="172033"/>
                </a:solidFill>
                <a:latin typeface="Aptos" pitchFamily="34" charset="0"/>
                <a:ea typeface="Aptos" pitchFamily="34" charset="-122"/>
                <a:cs typeface="Aptos" pitchFamily="34" charset="-120"/>
              </a:rPr>
              <a:t>See sources, assumptions and missing information</a:t>
            </a:r>
            <a:endParaRPr lang="en-US" sz="1610" dirty="0"/>
          </a:p>
        </p:txBody>
      </p:sp>
      <p:sp>
        <p:nvSpPr>
          <p:cNvPr id="20" name="Shape 18"/>
          <p:cNvSpPr/>
          <p:nvPr/>
        </p:nvSpPr>
        <p:spPr>
          <a:xfrm>
            <a:off x="5449824" y="3300984"/>
            <a:ext cx="5779008" cy="539496"/>
          </a:xfrm>
          <a:prstGeom prst="roundRect">
            <a:avLst>
              <a:gd name="adj" fmla="val 13559"/>
            </a:avLst>
          </a:prstGeom>
          <a:solidFill>
            <a:srgbClr val="FFF3DE"/>
          </a:solidFill>
          <a:ln w="10160">
            <a:solidFill>
              <a:srgbClr val="F0D39D"/>
            </a:solidFill>
            <a:prstDash val="solid"/>
          </a:ln>
        </p:spPr>
      </p:sp>
      <p:sp>
        <p:nvSpPr>
          <p:cNvPr id="21" name="Text 19"/>
          <p:cNvSpPr txBox="1"/>
          <p:nvPr/>
        </p:nvSpPr>
        <p:spPr>
          <a:xfrm>
            <a:off x="5715000" y="3383280"/>
            <a:ext cx="5230368" cy="320040"/>
          </a:xfrm>
          <a:prstGeom prst="rect">
            <a:avLst/>
          </a:prstGeom>
          <a:noFill/>
          <a:ln/>
        </p:spPr>
        <p:txBody>
          <a:bodyPr wrap="square" lIns="0" tIns="0" rIns="0" bIns="0" rtlCol="0" anchor="ctr">
            <a:normAutofit/>
          </a:bodyPr>
          <a:lstStyle/>
          <a:p>
            <a:pPr algn="l" indent="0" marL="0">
              <a:buNone/>
            </a:pPr>
            <a:r>
              <a:rPr lang="en-US" sz="1270" b="1" dirty="0">
                <a:solidFill>
                  <a:srgbClr val="70440B"/>
                </a:solidFill>
                <a:latin typeface="Aptos" pitchFamily="34" charset="0"/>
                <a:ea typeface="Aptos" pitchFamily="34" charset="-122"/>
                <a:cs typeface="Aptos" pitchFamily="34" charset="-120"/>
              </a:rPr>
              <a:t>Understand what DWI knows and where it still needs an answer.</a:t>
            </a:r>
            <a:endParaRPr lang="en-US" sz="1270" dirty="0"/>
          </a:p>
        </p:txBody>
      </p:sp>
      <p:sp>
        <p:nvSpPr>
          <p:cNvPr id="22" name="Shape 20"/>
          <p:cNvSpPr/>
          <p:nvPr/>
        </p:nvSpPr>
        <p:spPr>
          <a:xfrm>
            <a:off x="731520" y="4178808"/>
            <a:ext cx="521208" cy="292608"/>
          </a:xfrm>
          <a:prstGeom prst="roundRect">
            <a:avLst>
              <a:gd name="adj" fmla="val 50000"/>
            </a:avLst>
          </a:prstGeom>
          <a:solidFill>
            <a:srgbClr val="007F80"/>
          </a:solidFill>
          <a:ln w="12700">
            <a:solidFill>
              <a:srgbClr val="007F80"/>
            </a:solidFill>
            <a:prstDash val="solid"/>
          </a:ln>
        </p:spPr>
      </p:sp>
      <p:sp>
        <p:nvSpPr>
          <p:cNvPr id="23" name="Text 21"/>
          <p:cNvSpPr txBox="1"/>
          <p:nvPr/>
        </p:nvSpPr>
        <p:spPr>
          <a:xfrm>
            <a:off x="795528" y="4197096"/>
            <a:ext cx="39319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FFFFFF"/>
                </a:solidFill>
                <a:latin typeface="Aptos" pitchFamily="34" charset="0"/>
                <a:ea typeface="Aptos" pitchFamily="34" charset="-122"/>
                <a:cs typeface="Aptos" pitchFamily="34" charset="-120"/>
              </a:rPr>
              <a:t>04</a:t>
            </a:r>
            <a:endParaRPr lang="en-US" sz="920" dirty="0"/>
          </a:p>
        </p:txBody>
      </p:sp>
      <p:sp>
        <p:nvSpPr>
          <p:cNvPr id="24" name="Text 22"/>
          <p:cNvSpPr txBox="1"/>
          <p:nvPr/>
        </p:nvSpPr>
        <p:spPr>
          <a:xfrm>
            <a:off x="1508760" y="4142232"/>
            <a:ext cx="3822192" cy="356616"/>
          </a:xfrm>
          <a:prstGeom prst="rect">
            <a:avLst/>
          </a:prstGeom>
          <a:noFill/>
          <a:ln/>
        </p:spPr>
        <p:txBody>
          <a:bodyPr wrap="square" lIns="0" tIns="0" rIns="0" bIns="0" rtlCol="0" anchor="ctr">
            <a:normAutofit/>
          </a:bodyPr>
          <a:lstStyle/>
          <a:p>
            <a:pPr algn="l" indent="0" marL="0">
              <a:buNone/>
            </a:pPr>
            <a:r>
              <a:rPr lang="en-US" sz="1610" b="1" dirty="0">
                <a:solidFill>
                  <a:srgbClr val="172033"/>
                </a:solidFill>
                <a:latin typeface="Aptos" pitchFamily="34" charset="0"/>
                <a:ea typeface="Aptos" pitchFamily="34" charset="-122"/>
                <a:cs typeface="Aptos" pitchFamily="34" charset="-120"/>
              </a:rPr>
              <a:t>Review and save the local draft</a:t>
            </a:r>
            <a:endParaRPr lang="en-US" sz="1610" dirty="0"/>
          </a:p>
        </p:txBody>
      </p:sp>
      <p:sp>
        <p:nvSpPr>
          <p:cNvPr id="25" name="Shape 23"/>
          <p:cNvSpPr/>
          <p:nvPr/>
        </p:nvSpPr>
        <p:spPr>
          <a:xfrm>
            <a:off x="5449824" y="4114800"/>
            <a:ext cx="5779008" cy="539496"/>
          </a:xfrm>
          <a:prstGeom prst="roundRect">
            <a:avLst>
              <a:gd name="adj" fmla="val 13559"/>
            </a:avLst>
          </a:prstGeom>
          <a:solidFill>
            <a:srgbClr val="E8F6F5"/>
          </a:solidFill>
          <a:ln w="10160">
            <a:solidFill>
              <a:srgbClr val="B9DDDA"/>
            </a:solidFill>
            <a:prstDash val="solid"/>
          </a:ln>
        </p:spPr>
      </p:sp>
      <p:sp>
        <p:nvSpPr>
          <p:cNvPr id="26" name="Text 24"/>
          <p:cNvSpPr txBox="1"/>
          <p:nvPr/>
        </p:nvSpPr>
        <p:spPr>
          <a:xfrm>
            <a:off x="5715000" y="4197096"/>
            <a:ext cx="5230368" cy="320040"/>
          </a:xfrm>
          <a:prstGeom prst="rect">
            <a:avLst/>
          </a:prstGeom>
          <a:noFill/>
          <a:ln/>
        </p:spPr>
        <p:txBody>
          <a:bodyPr wrap="square" lIns="0" tIns="0" rIns="0" bIns="0" rtlCol="0" anchor="ctr">
            <a:normAutofit/>
          </a:bodyPr>
          <a:lstStyle/>
          <a:p>
            <a:pPr algn="l" indent="0" marL="0">
              <a:buNone/>
            </a:pPr>
            <a:r>
              <a:rPr lang="en-US" sz="1270" dirty="0">
                <a:solidFill>
                  <a:srgbClr val="163454"/>
                </a:solidFill>
                <a:latin typeface="Aptos" pitchFamily="34" charset="0"/>
                <a:ea typeface="Aptos" pitchFamily="34" charset="-122"/>
                <a:cs typeface="Aptos" pitchFamily="34" charset="-120"/>
              </a:rPr>
              <a:t>The developer checks the result and decides what to keep.</a:t>
            </a:r>
            <a:endParaRPr lang="en-US" sz="1270" dirty="0"/>
          </a:p>
        </p:txBody>
      </p:sp>
      <p:sp>
        <p:nvSpPr>
          <p:cNvPr id="27" name="Shape 25"/>
          <p:cNvSpPr/>
          <p:nvPr/>
        </p:nvSpPr>
        <p:spPr>
          <a:xfrm>
            <a:off x="731520" y="4992624"/>
            <a:ext cx="521208" cy="292608"/>
          </a:xfrm>
          <a:prstGeom prst="roundRect">
            <a:avLst>
              <a:gd name="adj" fmla="val 50000"/>
            </a:avLst>
          </a:prstGeom>
          <a:solidFill>
            <a:srgbClr val="007F80"/>
          </a:solidFill>
          <a:ln w="12700">
            <a:solidFill>
              <a:srgbClr val="007F80"/>
            </a:solidFill>
            <a:prstDash val="solid"/>
          </a:ln>
        </p:spPr>
      </p:sp>
      <p:sp>
        <p:nvSpPr>
          <p:cNvPr id="28" name="Text 26"/>
          <p:cNvSpPr txBox="1"/>
          <p:nvPr/>
        </p:nvSpPr>
        <p:spPr>
          <a:xfrm>
            <a:off x="795528" y="5010912"/>
            <a:ext cx="39319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FFFFFF"/>
                </a:solidFill>
                <a:latin typeface="Aptos" pitchFamily="34" charset="0"/>
                <a:ea typeface="Aptos" pitchFamily="34" charset="-122"/>
                <a:cs typeface="Aptos" pitchFamily="34" charset="-120"/>
              </a:rPr>
              <a:t>05</a:t>
            </a:r>
            <a:endParaRPr lang="en-US" sz="920" dirty="0"/>
          </a:p>
        </p:txBody>
      </p:sp>
      <p:sp>
        <p:nvSpPr>
          <p:cNvPr id="29" name="Text 27"/>
          <p:cNvSpPr txBox="1"/>
          <p:nvPr/>
        </p:nvSpPr>
        <p:spPr>
          <a:xfrm>
            <a:off x="1508760" y="4956048"/>
            <a:ext cx="3822192" cy="356616"/>
          </a:xfrm>
          <a:prstGeom prst="rect">
            <a:avLst/>
          </a:prstGeom>
          <a:noFill/>
          <a:ln/>
        </p:spPr>
        <p:txBody>
          <a:bodyPr wrap="square" lIns="0" tIns="0" rIns="0" bIns="0" rtlCol="0" anchor="ctr">
            <a:normAutofit/>
          </a:bodyPr>
          <a:lstStyle/>
          <a:p>
            <a:pPr algn="l" indent="0" marL="0">
              <a:buNone/>
            </a:pPr>
            <a:r>
              <a:rPr lang="en-US" sz="1610" b="1" dirty="0">
                <a:solidFill>
                  <a:srgbClr val="172033"/>
                </a:solidFill>
                <a:latin typeface="Aptos" pitchFamily="34" charset="0"/>
                <a:ea typeface="Aptos" pitchFamily="34" charset="-122"/>
                <a:cs typeface="Aptos" pitchFamily="34" charset="-120"/>
              </a:rPr>
              <a:t>Reset one task safely</a:t>
            </a:r>
            <a:endParaRPr lang="en-US" sz="1610" dirty="0"/>
          </a:p>
        </p:txBody>
      </p:sp>
      <p:sp>
        <p:nvSpPr>
          <p:cNvPr id="30" name="Shape 28"/>
          <p:cNvSpPr/>
          <p:nvPr/>
        </p:nvSpPr>
        <p:spPr>
          <a:xfrm>
            <a:off x="5449824" y="4928616"/>
            <a:ext cx="5779008" cy="539496"/>
          </a:xfrm>
          <a:prstGeom prst="roundRect">
            <a:avLst>
              <a:gd name="adj" fmla="val 13559"/>
            </a:avLst>
          </a:prstGeom>
          <a:solidFill>
            <a:srgbClr val="E8F6F5"/>
          </a:solidFill>
          <a:ln w="10160">
            <a:solidFill>
              <a:srgbClr val="B9DDDA"/>
            </a:solidFill>
            <a:prstDash val="solid"/>
          </a:ln>
        </p:spPr>
      </p:sp>
      <p:sp>
        <p:nvSpPr>
          <p:cNvPr id="31" name="Text 29"/>
          <p:cNvSpPr txBox="1"/>
          <p:nvPr/>
        </p:nvSpPr>
        <p:spPr>
          <a:xfrm>
            <a:off x="5715000" y="5010912"/>
            <a:ext cx="5230368" cy="320040"/>
          </a:xfrm>
          <a:prstGeom prst="rect">
            <a:avLst/>
          </a:prstGeom>
          <a:noFill/>
          <a:ln/>
        </p:spPr>
        <p:txBody>
          <a:bodyPr wrap="square" lIns="0" tIns="0" rIns="0" bIns="0" rtlCol="0" anchor="ctr">
            <a:normAutofit/>
          </a:bodyPr>
          <a:lstStyle/>
          <a:p>
            <a:pPr algn="l" indent="0" marL="0">
              <a:buNone/>
            </a:pPr>
            <a:r>
              <a:rPr lang="en-US" sz="1270" dirty="0">
                <a:solidFill>
                  <a:srgbClr val="163454"/>
                </a:solidFill>
                <a:latin typeface="Aptos" pitchFamily="34" charset="0"/>
                <a:ea typeface="Aptos" pitchFamily="34" charset="-122"/>
                <a:cs typeface="Aptos" pitchFamily="34" charset="-120"/>
              </a:rPr>
              <a:t>Clear the current work without deleting approved project facts.</a:t>
            </a:r>
            <a:endParaRPr lang="en-US" sz="1270" dirty="0"/>
          </a:p>
        </p:txBody>
      </p:sp>
      <p:sp>
        <p:nvSpPr>
          <p:cNvPr id="32" name="Shape 30"/>
          <p:cNvSpPr/>
          <p:nvPr/>
        </p:nvSpPr>
        <p:spPr>
          <a:xfrm>
            <a:off x="640080" y="5843016"/>
            <a:ext cx="10991088" cy="384048"/>
          </a:xfrm>
          <a:prstGeom prst="roundRect">
            <a:avLst>
              <a:gd name="adj" fmla="val 19048"/>
            </a:avLst>
          </a:prstGeom>
          <a:solidFill>
            <a:srgbClr val="163454"/>
          </a:solidFill>
          <a:ln w="10160">
            <a:solidFill>
              <a:srgbClr val="163454"/>
            </a:solidFill>
            <a:prstDash val="solid"/>
          </a:ln>
        </p:spPr>
      </p:sp>
      <p:sp>
        <p:nvSpPr>
          <p:cNvPr id="33" name="Text 31"/>
          <p:cNvSpPr txBox="1"/>
          <p:nvPr/>
        </p:nvSpPr>
        <p:spPr>
          <a:xfrm>
            <a:off x="896112" y="5916168"/>
            <a:ext cx="10469880" cy="228600"/>
          </a:xfrm>
          <a:prstGeom prst="rect">
            <a:avLst/>
          </a:prstGeom>
          <a:noFill/>
          <a:ln/>
        </p:spPr>
        <p:txBody>
          <a:bodyPr wrap="square" lIns="0" tIns="0" rIns="0" bIns="0" rtlCol="0" anchor="ctr">
            <a:normAutofit/>
          </a:bodyPr>
          <a:lstStyle/>
          <a:p>
            <a:pPr algn="ctr" indent="0" marL="0">
              <a:buNone/>
            </a:pPr>
            <a:r>
              <a:rPr lang="en-US" sz="1280" b="1" dirty="0">
                <a:solidFill>
                  <a:srgbClr val="FFFFFF"/>
                </a:solidFill>
                <a:latin typeface="Aptos" pitchFamily="34" charset="0"/>
                <a:ea typeface="Aptos" pitchFamily="34" charset="-122"/>
                <a:cs typeface="Aptos" pitchFamily="34" charset="-120"/>
              </a:rPr>
              <a:t>DWI can show important missing information today; the guided question-and-answer step is not finished.</a:t>
            </a:r>
            <a:endParaRPr lang="en-US" sz="128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FUTURE DIRECTION</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Link work priority, clear AI limits and continuous improvement</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Once the current experience is stable, an optional connection to the project-management system could create a controlled improvement loop.</a:t>
            </a:r>
            <a:endParaRPr lang="en-US" sz="1350" dirty="0"/>
          </a:p>
        </p:txBody>
      </p:sp>
      <p:sp>
        <p:nvSpPr>
          <p:cNvPr id="5" name="Shape 3"/>
          <p:cNvSpPr/>
          <p:nvPr/>
        </p:nvSpPr>
        <p:spPr>
          <a:xfrm>
            <a:off x="8970264" y="320040"/>
            <a:ext cx="2395728" cy="292608"/>
          </a:xfrm>
          <a:prstGeom prst="roundRect">
            <a:avLst>
              <a:gd name="adj" fmla="val 50000"/>
            </a:avLst>
          </a:prstGeom>
          <a:solidFill>
            <a:srgbClr val="FFF3DE"/>
          </a:solidFill>
          <a:ln w="12700">
            <a:solidFill>
              <a:srgbClr val="FFF3DE"/>
            </a:solidFill>
            <a:prstDash val="solid"/>
          </a:ln>
        </p:spPr>
      </p:sp>
      <p:sp>
        <p:nvSpPr>
          <p:cNvPr id="6" name="Text 4"/>
          <p:cNvSpPr txBox="1"/>
          <p:nvPr/>
        </p:nvSpPr>
        <p:spPr>
          <a:xfrm>
            <a:off x="9034272" y="338328"/>
            <a:ext cx="226771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82530D"/>
                </a:solidFill>
                <a:latin typeface="Aptos" pitchFamily="34" charset="0"/>
                <a:ea typeface="Aptos" pitchFamily="34" charset="-122"/>
                <a:cs typeface="Aptos" pitchFamily="34" charset="-120"/>
              </a:rPr>
              <a:t>PROPOSED — NOT BUILT YET</a:t>
            </a:r>
            <a:endParaRPr lang="en-US" sz="920" dirty="0"/>
          </a:p>
        </p:txBody>
      </p:sp>
      <p:sp>
        <p:nvSpPr>
          <p:cNvPr id="7" name="Shape 5"/>
          <p:cNvSpPr/>
          <p:nvPr/>
        </p:nvSpPr>
        <p:spPr>
          <a:xfrm>
            <a:off x="448056" y="2011680"/>
            <a:ext cx="1810512" cy="2496312"/>
          </a:xfrm>
          <a:prstGeom prst="roundRect">
            <a:avLst>
              <a:gd name="adj" fmla="val 4040"/>
            </a:avLst>
          </a:prstGeom>
          <a:solidFill>
            <a:srgbClr val="FFFFFF"/>
          </a:solidFill>
          <a:ln w="10160">
            <a:solidFill>
              <a:srgbClr val="D8DEE7"/>
            </a:solidFill>
            <a:prstDash val="solid"/>
          </a:ln>
        </p:spPr>
      </p:sp>
      <p:sp>
        <p:nvSpPr>
          <p:cNvPr id="8" name="Text 6"/>
          <p:cNvSpPr txBox="1"/>
          <p:nvPr/>
        </p:nvSpPr>
        <p:spPr>
          <a:xfrm>
            <a:off x="603504" y="2240280"/>
            <a:ext cx="1499616" cy="182880"/>
          </a:xfrm>
          <a:prstGeom prst="rect">
            <a:avLst/>
          </a:prstGeom>
          <a:noFill/>
          <a:ln/>
        </p:spPr>
        <p:txBody>
          <a:bodyPr wrap="square" lIns="0" tIns="0" rIns="0" bIns="0" rtlCol="0" anchor="ctr">
            <a:normAutofit/>
          </a:bodyPr>
          <a:lstStyle/>
          <a:p>
            <a:pPr algn="ctr" indent="0" marL="0">
              <a:buNone/>
            </a:pPr>
            <a:r>
              <a:rPr lang="en-US" sz="820" b="1" spc="70" kern="0" dirty="0">
                <a:solidFill>
                  <a:srgbClr val="007F80"/>
                </a:solidFill>
                <a:latin typeface="Aptos" pitchFamily="34" charset="0"/>
                <a:ea typeface="Aptos" pitchFamily="34" charset="-122"/>
                <a:cs typeface="Aptos" pitchFamily="34" charset="-120"/>
              </a:rPr>
              <a:t>PROJECT-MANAGEMENT DATA</a:t>
            </a:r>
            <a:endParaRPr lang="en-US" sz="820" dirty="0"/>
          </a:p>
        </p:txBody>
      </p:sp>
      <p:sp>
        <p:nvSpPr>
          <p:cNvPr id="9" name="Text 7"/>
          <p:cNvSpPr txBox="1"/>
          <p:nvPr/>
        </p:nvSpPr>
        <p:spPr>
          <a:xfrm>
            <a:off x="603504" y="2670048"/>
            <a:ext cx="1499616" cy="411480"/>
          </a:xfrm>
          <a:prstGeom prst="rect">
            <a:avLst/>
          </a:prstGeom>
          <a:noFill/>
          <a:ln/>
        </p:spPr>
        <p:txBody>
          <a:bodyPr wrap="square" lIns="0" tIns="0" rIns="0" bIns="0" rtlCol="0" anchor="ctr">
            <a:normAutofit/>
          </a:bodyPr>
          <a:lstStyle/>
          <a:p>
            <a:pPr algn="ctr" indent="0" marL="0">
              <a:buNone/>
            </a:pPr>
            <a:r>
              <a:rPr lang="en-US" sz="1630" b="1" dirty="0">
                <a:solidFill>
                  <a:srgbClr val="172033"/>
                </a:solidFill>
                <a:latin typeface="Aptos" pitchFamily="34" charset="0"/>
                <a:ea typeface="Aptos" pitchFamily="34" charset="-122"/>
                <a:cs typeface="Aptos" pitchFamily="34" charset="-120"/>
              </a:rPr>
              <a:t>Task context</a:t>
            </a:r>
            <a:endParaRPr lang="en-US" sz="1630" dirty="0"/>
          </a:p>
        </p:txBody>
      </p:sp>
      <p:sp>
        <p:nvSpPr>
          <p:cNvPr id="10" name="Text 8"/>
          <p:cNvSpPr txBox="1"/>
          <p:nvPr/>
        </p:nvSpPr>
        <p:spPr>
          <a:xfrm>
            <a:off x="603504" y="3291840"/>
            <a:ext cx="1499616" cy="713232"/>
          </a:xfrm>
          <a:prstGeom prst="rect">
            <a:avLst/>
          </a:prstGeom>
          <a:noFill/>
          <a:ln/>
        </p:spPr>
        <p:txBody>
          <a:bodyPr wrap="square" lIns="0" tIns="0" rIns="0" bIns="0" rtlCol="0" anchor="t">
            <a:normAutofit/>
          </a:bodyPr>
          <a:lstStyle/>
          <a:p>
            <a:pPr algn="ctr" indent="0" marL="0">
              <a:buNone/>
            </a:pPr>
            <a:r>
              <a:rPr lang="en-US" sz="1080" dirty="0">
                <a:solidFill>
                  <a:srgbClr val="667085"/>
                </a:solidFill>
                <a:latin typeface="Aptos" pitchFamily="34" charset="0"/>
                <a:ea typeface="Aptos" pitchFamily="34" charset="-122"/>
                <a:cs typeface="Aptos" pitchFamily="34" charset="-120"/>
              </a:rPr>
              <a:t>Priority, type, risk and timing</a:t>
            </a:r>
            <a:endParaRPr lang="en-US" sz="1080" dirty="0"/>
          </a:p>
        </p:txBody>
      </p:sp>
      <p:sp>
        <p:nvSpPr>
          <p:cNvPr id="11" name="Shape 9"/>
          <p:cNvSpPr/>
          <p:nvPr/>
        </p:nvSpPr>
        <p:spPr>
          <a:xfrm>
            <a:off x="2295144" y="2999232"/>
            <a:ext cx="228600" cy="301752"/>
          </a:xfrm>
          <a:prstGeom prst="chevron">
            <a:avLst/>
          </a:prstGeom>
          <a:solidFill>
            <a:srgbClr val="BAC6D2"/>
          </a:solidFill>
          <a:ln w="12700">
            <a:solidFill>
              <a:srgbClr val="BAC6D2"/>
            </a:solidFill>
            <a:prstDash val="solid"/>
          </a:ln>
        </p:spPr>
      </p:sp>
      <p:sp>
        <p:nvSpPr>
          <p:cNvPr id="12" name="Shape 10"/>
          <p:cNvSpPr/>
          <p:nvPr/>
        </p:nvSpPr>
        <p:spPr>
          <a:xfrm>
            <a:off x="2560320" y="2011680"/>
            <a:ext cx="1810512" cy="2496312"/>
          </a:xfrm>
          <a:prstGeom prst="roundRect">
            <a:avLst>
              <a:gd name="adj" fmla="val 4040"/>
            </a:avLst>
          </a:prstGeom>
          <a:solidFill>
            <a:srgbClr val="FFF3DE"/>
          </a:solidFill>
          <a:ln w="10160">
            <a:solidFill>
              <a:srgbClr val="F0D39D"/>
            </a:solidFill>
            <a:prstDash val="solid"/>
          </a:ln>
        </p:spPr>
      </p:sp>
      <p:sp>
        <p:nvSpPr>
          <p:cNvPr id="13" name="Text 11"/>
          <p:cNvSpPr txBox="1"/>
          <p:nvPr/>
        </p:nvSpPr>
        <p:spPr>
          <a:xfrm>
            <a:off x="2715768" y="2240280"/>
            <a:ext cx="1499616" cy="182880"/>
          </a:xfrm>
          <a:prstGeom prst="rect">
            <a:avLst/>
          </a:prstGeom>
          <a:noFill/>
          <a:ln/>
        </p:spPr>
        <p:txBody>
          <a:bodyPr wrap="square" lIns="0" tIns="0" rIns="0" bIns="0" rtlCol="0" anchor="ctr">
            <a:normAutofit/>
          </a:bodyPr>
          <a:lstStyle/>
          <a:p>
            <a:pPr algn="ctr" indent="0" marL="0">
              <a:buNone/>
            </a:pPr>
            <a:r>
              <a:rPr lang="en-US" sz="820" b="1" spc="70" kern="0" dirty="0">
                <a:solidFill>
                  <a:srgbClr val="82530D"/>
                </a:solidFill>
                <a:latin typeface="Aptos" pitchFamily="34" charset="0"/>
                <a:ea typeface="Aptos" pitchFamily="34" charset="-122"/>
                <a:cs typeface="Aptos" pitchFamily="34" charset="-120"/>
              </a:rPr>
              <a:t>APPROVED RULES</a:t>
            </a:r>
            <a:endParaRPr lang="en-US" sz="820" dirty="0"/>
          </a:p>
        </p:txBody>
      </p:sp>
      <p:sp>
        <p:nvSpPr>
          <p:cNvPr id="14" name="Text 12"/>
          <p:cNvSpPr txBox="1"/>
          <p:nvPr/>
        </p:nvSpPr>
        <p:spPr>
          <a:xfrm>
            <a:off x="2715768" y="2670048"/>
            <a:ext cx="1499616" cy="411480"/>
          </a:xfrm>
          <a:prstGeom prst="rect">
            <a:avLst/>
          </a:prstGeom>
          <a:noFill/>
          <a:ln/>
        </p:spPr>
        <p:txBody>
          <a:bodyPr wrap="square" lIns="0" tIns="0" rIns="0" bIns="0" rtlCol="0" anchor="ctr">
            <a:normAutofit/>
          </a:bodyPr>
          <a:lstStyle/>
          <a:p>
            <a:pPr algn="ctr" indent="0" marL="0">
              <a:buNone/>
            </a:pPr>
            <a:r>
              <a:rPr lang="en-US" sz="1630" b="1" dirty="0">
                <a:solidFill>
                  <a:srgbClr val="172033"/>
                </a:solidFill>
                <a:latin typeface="Aptos" pitchFamily="34" charset="0"/>
                <a:ea typeface="Aptos" pitchFamily="34" charset="-122"/>
                <a:cs typeface="Aptos" pitchFamily="34" charset="-120"/>
              </a:rPr>
              <a:t>AI usage limit</a:t>
            </a:r>
            <a:endParaRPr lang="en-US" sz="1630" dirty="0"/>
          </a:p>
        </p:txBody>
      </p:sp>
      <p:sp>
        <p:nvSpPr>
          <p:cNvPr id="15" name="Text 13"/>
          <p:cNvSpPr txBox="1"/>
          <p:nvPr/>
        </p:nvSpPr>
        <p:spPr>
          <a:xfrm>
            <a:off x="2715768" y="3291840"/>
            <a:ext cx="1499616" cy="713232"/>
          </a:xfrm>
          <a:prstGeom prst="rect">
            <a:avLst/>
          </a:prstGeom>
          <a:noFill/>
          <a:ln/>
        </p:spPr>
        <p:txBody>
          <a:bodyPr wrap="square" lIns="0" tIns="0" rIns="0" bIns="0" rtlCol="0" anchor="t">
            <a:normAutofit/>
          </a:bodyPr>
          <a:lstStyle/>
          <a:p>
            <a:pPr algn="ctr" indent="0" marL="0">
              <a:buNone/>
            </a:pPr>
            <a:r>
              <a:rPr lang="en-US" sz="1080" dirty="0">
                <a:solidFill>
                  <a:srgbClr val="667085"/>
                </a:solidFill>
                <a:latin typeface="Aptos" pitchFamily="34" charset="0"/>
                <a:ea typeface="Aptos" pitchFamily="34" charset="-122"/>
                <a:cs typeface="Aptos" pitchFamily="34" charset="-120"/>
              </a:rPr>
              <a:t>A clear cap based on agreed policy</a:t>
            </a:r>
            <a:endParaRPr lang="en-US" sz="1080" dirty="0"/>
          </a:p>
        </p:txBody>
      </p:sp>
      <p:sp>
        <p:nvSpPr>
          <p:cNvPr id="16" name="Shape 14"/>
          <p:cNvSpPr/>
          <p:nvPr/>
        </p:nvSpPr>
        <p:spPr>
          <a:xfrm>
            <a:off x="4407408" y="2999232"/>
            <a:ext cx="228600" cy="301752"/>
          </a:xfrm>
          <a:prstGeom prst="chevron">
            <a:avLst/>
          </a:prstGeom>
          <a:solidFill>
            <a:srgbClr val="BAC6D2"/>
          </a:solidFill>
          <a:ln w="12700">
            <a:solidFill>
              <a:srgbClr val="BAC6D2"/>
            </a:solidFill>
            <a:prstDash val="solid"/>
          </a:ln>
        </p:spPr>
      </p:sp>
      <p:sp>
        <p:nvSpPr>
          <p:cNvPr id="17" name="Shape 15"/>
          <p:cNvSpPr/>
          <p:nvPr/>
        </p:nvSpPr>
        <p:spPr>
          <a:xfrm>
            <a:off x="4672584" y="2011680"/>
            <a:ext cx="1810512" cy="2496312"/>
          </a:xfrm>
          <a:prstGeom prst="roundRect">
            <a:avLst>
              <a:gd name="adj" fmla="val 4040"/>
            </a:avLst>
          </a:prstGeom>
          <a:solidFill>
            <a:srgbClr val="FFFFFF"/>
          </a:solidFill>
          <a:ln w="10160">
            <a:solidFill>
              <a:srgbClr val="D8DEE7"/>
            </a:solidFill>
            <a:prstDash val="solid"/>
          </a:ln>
        </p:spPr>
      </p:sp>
      <p:sp>
        <p:nvSpPr>
          <p:cNvPr id="18" name="Text 16"/>
          <p:cNvSpPr txBox="1"/>
          <p:nvPr/>
        </p:nvSpPr>
        <p:spPr>
          <a:xfrm>
            <a:off x="4828032" y="2240280"/>
            <a:ext cx="1499616" cy="182880"/>
          </a:xfrm>
          <a:prstGeom prst="rect">
            <a:avLst/>
          </a:prstGeom>
          <a:noFill/>
          <a:ln/>
        </p:spPr>
        <p:txBody>
          <a:bodyPr wrap="square" lIns="0" tIns="0" rIns="0" bIns="0" rtlCol="0" anchor="ctr">
            <a:normAutofit/>
          </a:bodyPr>
          <a:lstStyle/>
          <a:p>
            <a:pPr algn="ctr" indent="0" marL="0">
              <a:buNone/>
            </a:pPr>
            <a:r>
              <a:rPr lang="en-US" sz="820" b="1" spc="70" kern="0" dirty="0">
                <a:solidFill>
                  <a:srgbClr val="007F80"/>
                </a:solidFill>
                <a:latin typeface="Aptos" pitchFamily="34" charset="0"/>
                <a:ea typeface="Aptos" pitchFamily="34" charset="-122"/>
                <a:cs typeface="Aptos" pitchFamily="34" charset="-120"/>
              </a:rPr>
              <a:t>DWI</a:t>
            </a:r>
            <a:endParaRPr lang="en-US" sz="820" dirty="0"/>
          </a:p>
        </p:txBody>
      </p:sp>
      <p:sp>
        <p:nvSpPr>
          <p:cNvPr id="19" name="Text 17"/>
          <p:cNvSpPr txBox="1"/>
          <p:nvPr/>
        </p:nvSpPr>
        <p:spPr>
          <a:xfrm>
            <a:off x="4828032" y="2670048"/>
            <a:ext cx="1499616" cy="411480"/>
          </a:xfrm>
          <a:prstGeom prst="rect">
            <a:avLst/>
          </a:prstGeom>
          <a:noFill/>
          <a:ln/>
        </p:spPr>
        <p:txBody>
          <a:bodyPr wrap="square" lIns="0" tIns="0" rIns="0" bIns="0" rtlCol="0" anchor="ctr">
            <a:normAutofit/>
          </a:bodyPr>
          <a:lstStyle/>
          <a:p>
            <a:pPr algn="ctr" indent="0" marL="0">
              <a:buNone/>
            </a:pPr>
            <a:r>
              <a:rPr lang="en-US" sz="1630" b="1" dirty="0">
                <a:solidFill>
                  <a:srgbClr val="172033"/>
                </a:solidFill>
                <a:latin typeface="Aptos" pitchFamily="34" charset="0"/>
                <a:ea typeface="Aptos" pitchFamily="34" charset="-122"/>
                <a:cs typeface="Aptos" pitchFamily="34" charset="-120"/>
              </a:rPr>
              <a:t>Prepare work</a:t>
            </a:r>
            <a:endParaRPr lang="en-US" sz="1630" dirty="0"/>
          </a:p>
        </p:txBody>
      </p:sp>
      <p:sp>
        <p:nvSpPr>
          <p:cNvPr id="20" name="Text 18"/>
          <p:cNvSpPr txBox="1"/>
          <p:nvPr/>
        </p:nvSpPr>
        <p:spPr>
          <a:xfrm>
            <a:off x="4828032" y="3291840"/>
            <a:ext cx="1499616" cy="713232"/>
          </a:xfrm>
          <a:prstGeom prst="rect">
            <a:avLst/>
          </a:prstGeom>
          <a:noFill/>
          <a:ln/>
        </p:spPr>
        <p:txBody>
          <a:bodyPr wrap="square" lIns="0" tIns="0" rIns="0" bIns="0" rtlCol="0" anchor="t">
            <a:normAutofit/>
          </a:bodyPr>
          <a:lstStyle/>
          <a:p>
            <a:pPr algn="ctr" indent="0" marL="0">
              <a:buNone/>
            </a:pPr>
            <a:r>
              <a:rPr lang="en-US" sz="1080" dirty="0">
                <a:solidFill>
                  <a:srgbClr val="667085"/>
                </a:solidFill>
                <a:latin typeface="Aptos" pitchFamily="34" charset="0"/>
                <a:ea typeface="Aptos" pitchFamily="34" charset="-122"/>
                <a:cs typeface="Aptos" pitchFamily="34" charset="-120"/>
              </a:rPr>
              <a:t>Use approved project facts within the limit</a:t>
            </a:r>
            <a:endParaRPr lang="en-US" sz="1080" dirty="0"/>
          </a:p>
        </p:txBody>
      </p:sp>
      <p:sp>
        <p:nvSpPr>
          <p:cNvPr id="21" name="Shape 19"/>
          <p:cNvSpPr/>
          <p:nvPr/>
        </p:nvSpPr>
        <p:spPr>
          <a:xfrm>
            <a:off x="6519672" y="2999232"/>
            <a:ext cx="228600" cy="301752"/>
          </a:xfrm>
          <a:prstGeom prst="chevron">
            <a:avLst/>
          </a:prstGeom>
          <a:solidFill>
            <a:srgbClr val="BAC6D2"/>
          </a:solidFill>
          <a:ln w="12700">
            <a:solidFill>
              <a:srgbClr val="BAC6D2"/>
            </a:solidFill>
            <a:prstDash val="solid"/>
          </a:ln>
        </p:spPr>
      </p:sp>
      <p:sp>
        <p:nvSpPr>
          <p:cNvPr id="22" name="Shape 20"/>
          <p:cNvSpPr/>
          <p:nvPr/>
        </p:nvSpPr>
        <p:spPr>
          <a:xfrm>
            <a:off x="6784848" y="2011680"/>
            <a:ext cx="1810512" cy="2496312"/>
          </a:xfrm>
          <a:prstGeom prst="roundRect">
            <a:avLst>
              <a:gd name="adj" fmla="val 4040"/>
            </a:avLst>
          </a:prstGeom>
          <a:solidFill>
            <a:srgbClr val="FFFFFF"/>
          </a:solidFill>
          <a:ln w="10160">
            <a:solidFill>
              <a:srgbClr val="D8DEE7"/>
            </a:solidFill>
            <a:prstDash val="solid"/>
          </a:ln>
        </p:spPr>
      </p:sp>
      <p:sp>
        <p:nvSpPr>
          <p:cNvPr id="23" name="Text 21"/>
          <p:cNvSpPr txBox="1"/>
          <p:nvPr/>
        </p:nvSpPr>
        <p:spPr>
          <a:xfrm>
            <a:off x="6940296" y="2240280"/>
            <a:ext cx="1499616" cy="182880"/>
          </a:xfrm>
          <a:prstGeom prst="rect">
            <a:avLst/>
          </a:prstGeom>
          <a:noFill/>
          <a:ln/>
        </p:spPr>
        <p:txBody>
          <a:bodyPr wrap="square" lIns="0" tIns="0" rIns="0" bIns="0" rtlCol="0" anchor="ctr">
            <a:normAutofit/>
          </a:bodyPr>
          <a:lstStyle/>
          <a:p>
            <a:pPr algn="ctr" indent="0" marL="0">
              <a:buNone/>
            </a:pPr>
            <a:r>
              <a:rPr lang="en-US" sz="820" b="1" spc="70" kern="0" dirty="0">
                <a:solidFill>
                  <a:srgbClr val="007F80"/>
                </a:solidFill>
                <a:latin typeface="Aptos" pitchFamily="34" charset="0"/>
                <a:ea typeface="Aptos" pitchFamily="34" charset="-122"/>
                <a:cs typeface="Aptos" pitchFamily="34" charset="-120"/>
              </a:rPr>
              <a:t>DEVELOPER</a:t>
            </a:r>
            <a:endParaRPr lang="en-US" sz="820" dirty="0"/>
          </a:p>
        </p:txBody>
      </p:sp>
      <p:sp>
        <p:nvSpPr>
          <p:cNvPr id="24" name="Text 22"/>
          <p:cNvSpPr txBox="1"/>
          <p:nvPr/>
        </p:nvSpPr>
        <p:spPr>
          <a:xfrm>
            <a:off x="6940296" y="2670048"/>
            <a:ext cx="1499616" cy="411480"/>
          </a:xfrm>
          <a:prstGeom prst="rect">
            <a:avLst/>
          </a:prstGeom>
          <a:noFill/>
          <a:ln/>
        </p:spPr>
        <p:txBody>
          <a:bodyPr wrap="square" lIns="0" tIns="0" rIns="0" bIns="0" rtlCol="0" anchor="ctr">
            <a:normAutofit/>
          </a:bodyPr>
          <a:lstStyle/>
          <a:p>
            <a:pPr algn="ctr" indent="0" marL="0">
              <a:buNone/>
            </a:pPr>
            <a:r>
              <a:rPr lang="en-US" sz="1630" b="1" dirty="0">
                <a:solidFill>
                  <a:srgbClr val="172033"/>
                </a:solidFill>
                <a:latin typeface="Aptos" pitchFamily="34" charset="0"/>
                <a:ea typeface="Aptos" pitchFamily="34" charset="-122"/>
                <a:cs typeface="Aptos" pitchFamily="34" charset="-120"/>
              </a:rPr>
              <a:t>Review</a:t>
            </a:r>
            <a:endParaRPr lang="en-US" sz="1630" dirty="0"/>
          </a:p>
        </p:txBody>
      </p:sp>
      <p:sp>
        <p:nvSpPr>
          <p:cNvPr id="25" name="Text 23"/>
          <p:cNvSpPr txBox="1"/>
          <p:nvPr/>
        </p:nvSpPr>
        <p:spPr>
          <a:xfrm>
            <a:off x="6940296" y="3291840"/>
            <a:ext cx="1499616" cy="713232"/>
          </a:xfrm>
          <a:prstGeom prst="rect">
            <a:avLst/>
          </a:prstGeom>
          <a:noFill/>
          <a:ln/>
        </p:spPr>
        <p:txBody>
          <a:bodyPr wrap="square" lIns="0" tIns="0" rIns="0" bIns="0" rtlCol="0" anchor="t">
            <a:normAutofit/>
          </a:bodyPr>
          <a:lstStyle/>
          <a:p>
            <a:pPr algn="ctr" indent="0" marL="0">
              <a:buNone/>
            </a:pPr>
            <a:r>
              <a:rPr lang="en-US" sz="1080" dirty="0">
                <a:solidFill>
                  <a:srgbClr val="667085"/>
                </a:solidFill>
                <a:latin typeface="Aptos" pitchFamily="34" charset="0"/>
                <a:ea typeface="Aptos" pitchFamily="34" charset="-122"/>
                <a:cs typeface="Aptos" pitchFamily="34" charset="-120"/>
              </a:rPr>
              <a:t>Accept, correct or reset</a:t>
            </a:r>
            <a:endParaRPr lang="en-US" sz="1080" dirty="0"/>
          </a:p>
        </p:txBody>
      </p:sp>
      <p:sp>
        <p:nvSpPr>
          <p:cNvPr id="26" name="Shape 24"/>
          <p:cNvSpPr/>
          <p:nvPr/>
        </p:nvSpPr>
        <p:spPr>
          <a:xfrm>
            <a:off x="8631936" y="2999232"/>
            <a:ext cx="228600" cy="301752"/>
          </a:xfrm>
          <a:prstGeom prst="chevron">
            <a:avLst/>
          </a:prstGeom>
          <a:solidFill>
            <a:srgbClr val="BAC6D2"/>
          </a:solidFill>
          <a:ln w="12700">
            <a:solidFill>
              <a:srgbClr val="BAC6D2"/>
            </a:solidFill>
            <a:prstDash val="solid"/>
          </a:ln>
        </p:spPr>
      </p:sp>
      <p:sp>
        <p:nvSpPr>
          <p:cNvPr id="27" name="Shape 25"/>
          <p:cNvSpPr/>
          <p:nvPr/>
        </p:nvSpPr>
        <p:spPr>
          <a:xfrm>
            <a:off x="8897112" y="2011680"/>
            <a:ext cx="1810512" cy="2496312"/>
          </a:xfrm>
          <a:prstGeom prst="roundRect">
            <a:avLst>
              <a:gd name="adj" fmla="val 4040"/>
            </a:avLst>
          </a:prstGeom>
          <a:solidFill>
            <a:srgbClr val="FFF3DE"/>
          </a:solidFill>
          <a:ln w="10160">
            <a:solidFill>
              <a:srgbClr val="F0D39D"/>
            </a:solidFill>
            <a:prstDash val="solid"/>
          </a:ln>
        </p:spPr>
      </p:sp>
      <p:sp>
        <p:nvSpPr>
          <p:cNvPr id="28" name="Text 26"/>
          <p:cNvSpPr txBox="1"/>
          <p:nvPr/>
        </p:nvSpPr>
        <p:spPr>
          <a:xfrm>
            <a:off x="9052560" y="2240280"/>
            <a:ext cx="1499616" cy="182880"/>
          </a:xfrm>
          <a:prstGeom prst="rect">
            <a:avLst/>
          </a:prstGeom>
          <a:noFill/>
          <a:ln/>
        </p:spPr>
        <p:txBody>
          <a:bodyPr wrap="square" lIns="0" tIns="0" rIns="0" bIns="0" rtlCol="0" anchor="ctr">
            <a:normAutofit/>
          </a:bodyPr>
          <a:lstStyle/>
          <a:p>
            <a:pPr algn="ctr" indent="0" marL="0">
              <a:buNone/>
            </a:pPr>
            <a:r>
              <a:rPr lang="en-US" sz="820" b="1" spc="70" kern="0" dirty="0">
                <a:solidFill>
                  <a:srgbClr val="82530D"/>
                </a:solidFill>
                <a:latin typeface="Aptos" pitchFamily="34" charset="0"/>
                <a:ea typeface="Aptos" pitchFamily="34" charset="-122"/>
                <a:cs typeface="Aptos" pitchFamily="34" charset="-120"/>
              </a:rPr>
              <a:t>SAFE FEEDBACK</a:t>
            </a:r>
            <a:endParaRPr lang="en-US" sz="820" dirty="0"/>
          </a:p>
        </p:txBody>
      </p:sp>
      <p:sp>
        <p:nvSpPr>
          <p:cNvPr id="29" name="Text 27"/>
          <p:cNvSpPr txBox="1"/>
          <p:nvPr/>
        </p:nvSpPr>
        <p:spPr>
          <a:xfrm>
            <a:off x="9052560" y="2670048"/>
            <a:ext cx="1499616" cy="411480"/>
          </a:xfrm>
          <a:prstGeom prst="rect">
            <a:avLst/>
          </a:prstGeom>
          <a:noFill/>
          <a:ln/>
        </p:spPr>
        <p:txBody>
          <a:bodyPr wrap="square" lIns="0" tIns="0" rIns="0" bIns="0" rtlCol="0" anchor="ctr">
            <a:normAutofit/>
          </a:bodyPr>
          <a:lstStyle/>
          <a:p>
            <a:pPr algn="ctr" indent="0" marL="0">
              <a:buNone/>
            </a:pPr>
            <a:r>
              <a:rPr lang="en-US" sz="1630" b="1" dirty="0">
                <a:solidFill>
                  <a:srgbClr val="172033"/>
                </a:solidFill>
                <a:latin typeface="Aptos" pitchFamily="34" charset="0"/>
                <a:ea typeface="Aptos" pitchFamily="34" charset="-122"/>
                <a:cs typeface="Aptos" pitchFamily="34" charset="-120"/>
              </a:rPr>
              <a:t>Outcome only</a:t>
            </a:r>
            <a:endParaRPr lang="en-US" sz="1630" dirty="0"/>
          </a:p>
        </p:txBody>
      </p:sp>
      <p:sp>
        <p:nvSpPr>
          <p:cNvPr id="30" name="Text 28"/>
          <p:cNvSpPr txBox="1"/>
          <p:nvPr/>
        </p:nvSpPr>
        <p:spPr>
          <a:xfrm>
            <a:off x="9052560" y="3291840"/>
            <a:ext cx="1499616" cy="713232"/>
          </a:xfrm>
          <a:prstGeom prst="rect">
            <a:avLst/>
          </a:prstGeom>
          <a:noFill/>
          <a:ln/>
        </p:spPr>
        <p:txBody>
          <a:bodyPr wrap="square" lIns="0" tIns="0" rIns="0" bIns="0" rtlCol="0" anchor="t">
            <a:normAutofit/>
          </a:bodyPr>
          <a:lstStyle/>
          <a:p>
            <a:pPr algn="ctr" indent="0" marL="0">
              <a:buNone/>
            </a:pPr>
            <a:r>
              <a:rPr lang="en-US" sz="1080" dirty="0">
                <a:solidFill>
                  <a:srgbClr val="667085"/>
                </a:solidFill>
                <a:latin typeface="Aptos" pitchFamily="34" charset="0"/>
                <a:ea typeface="Aptos" pitchFamily="34" charset="-122"/>
                <a:cs typeface="Aptos" pitchFamily="34" charset="-120"/>
              </a:rPr>
              <a:t>What helped or caused friction—without copying content</a:t>
            </a:r>
            <a:endParaRPr lang="en-US" sz="1080" dirty="0"/>
          </a:p>
        </p:txBody>
      </p:sp>
      <p:sp>
        <p:nvSpPr>
          <p:cNvPr id="31" name="Text 29"/>
          <p:cNvSpPr txBox="1"/>
          <p:nvPr/>
        </p:nvSpPr>
        <p:spPr>
          <a:xfrm>
            <a:off x="2286000" y="4709160"/>
            <a:ext cx="7178040" cy="301752"/>
          </a:xfrm>
          <a:prstGeom prst="rect">
            <a:avLst/>
          </a:prstGeom>
          <a:noFill/>
          <a:ln/>
        </p:spPr>
        <p:txBody>
          <a:bodyPr wrap="square" lIns="0" tIns="0" rIns="0" bIns="0" rtlCol="0" anchor="ctr">
            <a:normAutofit/>
          </a:bodyPr>
          <a:lstStyle/>
          <a:p>
            <a:pPr algn="ctr" indent="0" marL="0">
              <a:buNone/>
            </a:pPr>
            <a:r>
              <a:rPr lang="en-US" sz="1300" b="1" dirty="0">
                <a:solidFill>
                  <a:srgbClr val="007F80"/>
                </a:solidFill>
                <a:latin typeface="Aptos" pitchFamily="34" charset="0"/>
                <a:ea typeface="Aptos" pitchFamily="34" charset="-122"/>
                <a:cs typeface="Aptos" pitchFamily="34" charset="-120"/>
              </a:rPr>
              <a:t>Group-level insight can improve guidance, budgets and process—not score people.</a:t>
            </a:r>
            <a:endParaRPr lang="en-US" sz="1300" dirty="0"/>
          </a:p>
        </p:txBody>
      </p:sp>
      <p:sp>
        <p:nvSpPr>
          <p:cNvPr id="32" name="Shape 30"/>
          <p:cNvSpPr/>
          <p:nvPr/>
        </p:nvSpPr>
        <p:spPr>
          <a:xfrm>
            <a:off x="658368" y="5358384"/>
            <a:ext cx="10972800" cy="640080"/>
          </a:xfrm>
          <a:prstGeom prst="roundRect">
            <a:avLst>
              <a:gd name="adj" fmla="val 11429"/>
            </a:avLst>
          </a:prstGeom>
          <a:solidFill>
            <a:srgbClr val="163454"/>
          </a:solidFill>
          <a:ln w="10160">
            <a:solidFill>
              <a:srgbClr val="163454"/>
            </a:solidFill>
            <a:prstDash val="solid"/>
          </a:ln>
        </p:spPr>
      </p:sp>
      <p:sp>
        <p:nvSpPr>
          <p:cNvPr id="33" name="Text 31"/>
          <p:cNvSpPr txBox="1"/>
          <p:nvPr/>
        </p:nvSpPr>
        <p:spPr>
          <a:xfrm>
            <a:off x="932688" y="5513832"/>
            <a:ext cx="960120" cy="228600"/>
          </a:xfrm>
          <a:prstGeom prst="rect">
            <a:avLst/>
          </a:prstGeom>
          <a:noFill/>
          <a:ln/>
        </p:spPr>
        <p:txBody>
          <a:bodyPr wrap="square" lIns="0" tIns="0" rIns="0" bIns="0" rtlCol="0" anchor="ctr">
            <a:normAutofit/>
          </a:bodyPr>
          <a:lstStyle/>
          <a:p>
            <a:pPr algn="l" indent="0" marL="0">
              <a:buNone/>
            </a:pPr>
            <a:r>
              <a:rPr lang="en-US" sz="1150" b="1" dirty="0">
                <a:solidFill>
                  <a:srgbClr val="B9D85C"/>
                </a:solidFill>
                <a:latin typeface="Aptos" pitchFamily="34" charset="0"/>
                <a:ea typeface="Aptos" pitchFamily="34" charset="-122"/>
                <a:cs typeface="Aptos" pitchFamily="34" charset="-120"/>
              </a:rPr>
              <a:t>Guardrail</a:t>
            </a:r>
            <a:endParaRPr lang="en-US" sz="1150" dirty="0"/>
          </a:p>
        </p:txBody>
      </p:sp>
      <p:sp>
        <p:nvSpPr>
          <p:cNvPr id="34" name="Text 32"/>
          <p:cNvSpPr txBox="1"/>
          <p:nvPr/>
        </p:nvSpPr>
        <p:spPr>
          <a:xfrm>
            <a:off x="1965960" y="5477256"/>
            <a:ext cx="9217152" cy="310896"/>
          </a:xfrm>
          <a:prstGeom prst="rect">
            <a:avLst/>
          </a:prstGeom>
          <a:noFill/>
          <a:ln/>
        </p:spPr>
        <p:txBody>
          <a:bodyPr wrap="square" lIns="0" tIns="0" rIns="0" bIns="0" rtlCol="0" anchor="ctr">
            <a:normAutofit/>
          </a:bodyPr>
          <a:lstStyle/>
          <a:p>
            <a:pPr algn="ctr" indent="0" marL="0">
              <a:buNone/>
            </a:pPr>
            <a:r>
              <a:rPr lang="en-US" sz="1260" b="1" dirty="0">
                <a:solidFill>
                  <a:srgbClr val="FFFFFF"/>
                </a:solidFill>
                <a:latin typeface="Aptos" pitchFamily="34" charset="0"/>
                <a:ea typeface="Aptos" pitchFamily="34" charset="-122"/>
                <a:cs typeface="Aptos" pitchFamily="34" charset="-120"/>
              </a:rPr>
              <a:t>An AI usage limit never approves spending or external AI use. Feedback improves work; it does not monitor employees.</a:t>
            </a:r>
            <a:endParaRPr lang="en-US" sz="126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WHO THIS HELPS</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Useful decisions at every level</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Each level sees only the information needed for its decisions.</a:t>
            </a:r>
            <a:endParaRPr lang="en-US" sz="1350" dirty="0"/>
          </a:p>
        </p:txBody>
      </p:sp>
      <p:sp>
        <p:nvSpPr>
          <p:cNvPr id="5" name="Shape 3"/>
          <p:cNvSpPr/>
          <p:nvPr/>
        </p:nvSpPr>
        <p:spPr>
          <a:xfrm>
            <a:off x="640080" y="1746504"/>
            <a:ext cx="1554480" cy="438912"/>
          </a:xfrm>
          <a:prstGeom prst="rect">
            <a:avLst/>
          </a:prstGeom>
          <a:solidFill>
            <a:srgbClr val="163454"/>
          </a:solidFill>
          <a:ln w="10160">
            <a:solidFill>
              <a:srgbClr val="163454"/>
            </a:solidFill>
            <a:prstDash val="solid"/>
          </a:ln>
        </p:spPr>
      </p:sp>
      <p:sp>
        <p:nvSpPr>
          <p:cNvPr id="6" name="Text 4"/>
          <p:cNvSpPr txBox="1"/>
          <p:nvPr/>
        </p:nvSpPr>
        <p:spPr>
          <a:xfrm>
            <a:off x="768096" y="1847088"/>
            <a:ext cx="1298448" cy="201168"/>
          </a:xfrm>
          <a:prstGeom prst="rect">
            <a:avLst/>
          </a:prstGeom>
          <a:noFill/>
          <a:ln/>
        </p:spPr>
        <p:txBody>
          <a:bodyPr wrap="square" lIns="0" tIns="0" rIns="0" bIns="0" rtlCol="0" anchor="ctr">
            <a:normAutofit/>
          </a:bodyPr>
          <a:lstStyle/>
          <a:p>
            <a:pPr algn="l" indent="0" marL="0">
              <a:buNone/>
            </a:pPr>
            <a:r>
              <a:rPr lang="en-US" sz="900" b="1" spc="50" kern="0" dirty="0">
                <a:solidFill>
                  <a:srgbClr val="FFFFFF"/>
                </a:solidFill>
                <a:latin typeface="Aptos" pitchFamily="34" charset="0"/>
                <a:ea typeface="Aptos" pitchFamily="34" charset="-122"/>
                <a:cs typeface="Aptos" pitchFamily="34" charset="-120"/>
              </a:rPr>
              <a:t>WHO</a:t>
            </a:r>
            <a:endParaRPr lang="en-US" sz="900" dirty="0"/>
          </a:p>
        </p:txBody>
      </p:sp>
      <p:sp>
        <p:nvSpPr>
          <p:cNvPr id="7" name="Shape 5"/>
          <p:cNvSpPr/>
          <p:nvPr/>
        </p:nvSpPr>
        <p:spPr>
          <a:xfrm>
            <a:off x="2340864" y="1746504"/>
            <a:ext cx="2304288" cy="438912"/>
          </a:xfrm>
          <a:prstGeom prst="rect">
            <a:avLst/>
          </a:prstGeom>
          <a:solidFill>
            <a:srgbClr val="163454"/>
          </a:solidFill>
          <a:ln w="10160">
            <a:solidFill>
              <a:srgbClr val="163454"/>
            </a:solidFill>
            <a:prstDash val="solid"/>
          </a:ln>
        </p:spPr>
      </p:sp>
      <p:sp>
        <p:nvSpPr>
          <p:cNvPr id="8" name="Text 6"/>
          <p:cNvSpPr txBox="1"/>
          <p:nvPr/>
        </p:nvSpPr>
        <p:spPr>
          <a:xfrm>
            <a:off x="2468880" y="1847088"/>
            <a:ext cx="2048256" cy="201168"/>
          </a:xfrm>
          <a:prstGeom prst="rect">
            <a:avLst/>
          </a:prstGeom>
          <a:noFill/>
          <a:ln/>
        </p:spPr>
        <p:txBody>
          <a:bodyPr wrap="square" lIns="0" tIns="0" rIns="0" bIns="0" rtlCol="0" anchor="ctr">
            <a:normAutofit/>
          </a:bodyPr>
          <a:lstStyle/>
          <a:p>
            <a:pPr algn="l" indent="0" marL="0">
              <a:buNone/>
            </a:pPr>
            <a:r>
              <a:rPr lang="en-US" sz="900" b="1" spc="50" kern="0" dirty="0">
                <a:solidFill>
                  <a:srgbClr val="FFFFFF"/>
                </a:solidFill>
                <a:latin typeface="Aptos" pitchFamily="34" charset="0"/>
                <a:ea typeface="Aptos" pitchFamily="34" charset="-122"/>
                <a:cs typeface="Aptos" pitchFamily="34" charset="-120"/>
              </a:rPr>
              <a:t>GOAL</a:t>
            </a:r>
            <a:endParaRPr lang="en-US" sz="900" dirty="0"/>
          </a:p>
        </p:txBody>
      </p:sp>
      <p:sp>
        <p:nvSpPr>
          <p:cNvPr id="9" name="Shape 7"/>
          <p:cNvSpPr/>
          <p:nvPr/>
        </p:nvSpPr>
        <p:spPr>
          <a:xfrm>
            <a:off x="4809744" y="1746504"/>
            <a:ext cx="3264408" cy="438912"/>
          </a:xfrm>
          <a:prstGeom prst="rect">
            <a:avLst/>
          </a:prstGeom>
          <a:solidFill>
            <a:srgbClr val="163454"/>
          </a:solidFill>
          <a:ln w="10160">
            <a:solidFill>
              <a:srgbClr val="163454"/>
            </a:solidFill>
            <a:prstDash val="solid"/>
          </a:ln>
        </p:spPr>
      </p:sp>
      <p:sp>
        <p:nvSpPr>
          <p:cNvPr id="10" name="Text 8"/>
          <p:cNvSpPr txBox="1"/>
          <p:nvPr/>
        </p:nvSpPr>
        <p:spPr>
          <a:xfrm>
            <a:off x="4937760" y="1847088"/>
            <a:ext cx="3008376" cy="201168"/>
          </a:xfrm>
          <a:prstGeom prst="rect">
            <a:avLst/>
          </a:prstGeom>
          <a:noFill/>
          <a:ln/>
        </p:spPr>
        <p:txBody>
          <a:bodyPr wrap="square" lIns="0" tIns="0" rIns="0" bIns="0" rtlCol="0" anchor="ctr">
            <a:normAutofit/>
          </a:bodyPr>
          <a:lstStyle/>
          <a:p>
            <a:pPr algn="l" indent="0" marL="0">
              <a:buNone/>
            </a:pPr>
            <a:r>
              <a:rPr lang="en-US" sz="900" b="1" spc="50" kern="0" dirty="0">
                <a:solidFill>
                  <a:srgbClr val="FFFFFF"/>
                </a:solidFill>
                <a:latin typeface="Aptos" pitchFamily="34" charset="0"/>
                <a:ea typeface="Aptos" pitchFamily="34" charset="-122"/>
                <a:cs typeface="Aptos" pitchFamily="34" charset="-120"/>
              </a:rPr>
              <a:t>USEFUL INFORMATION</a:t>
            </a:r>
            <a:endParaRPr lang="en-US" sz="900" dirty="0"/>
          </a:p>
        </p:txBody>
      </p:sp>
      <p:sp>
        <p:nvSpPr>
          <p:cNvPr id="11" name="Shape 9"/>
          <p:cNvSpPr/>
          <p:nvPr/>
        </p:nvSpPr>
        <p:spPr>
          <a:xfrm>
            <a:off x="8257032" y="1746504"/>
            <a:ext cx="3364992" cy="438912"/>
          </a:xfrm>
          <a:prstGeom prst="rect">
            <a:avLst/>
          </a:prstGeom>
          <a:solidFill>
            <a:srgbClr val="163454"/>
          </a:solidFill>
          <a:ln w="10160">
            <a:solidFill>
              <a:srgbClr val="163454"/>
            </a:solidFill>
            <a:prstDash val="solid"/>
          </a:ln>
        </p:spPr>
      </p:sp>
      <p:sp>
        <p:nvSpPr>
          <p:cNvPr id="12" name="Text 10"/>
          <p:cNvSpPr txBox="1"/>
          <p:nvPr/>
        </p:nvSpPr>
        <p:spPr>
          <a:xfrm>
            <a:off x="8385048" y="1847088"/>
            <a:ext cx="3108960" cy="201168"/>
          </a:xfrm>
          <a:prstGeom prst="rect">
            <a:avLst/>
          </a:prstGeom>
          <a:noFill/>
          <a:ln/>
        </p:spPr>
        <p:txBody>
          <a:bodyPr wrap="square" lIns="0" tIns="0" rIns="0" bIns="0" rtlCol="0" anchor="ctr">
            <a:normAutofit/>
          </a:bodyPr>
          <a:lstStyle/>
          <a:p>
            <a:pPr algn="l" indent="0" marL="0">
              <a:buNone/>
            </a:pPr>
            <a:r>
              <a:rPr lang="en-US" sz="900" b="1" spc="50" kern="0" dirty="0">
                <a:solidFill>
                  <a:srgbClr val="FFFFFF"/>
                </a:solidFill>
                <a:latin typeface="Aptos" pitchFamily="34" charset="0"/>
                <a:ea typeface="Aptos" pitchFamily="34" charset="-122"/>
                <a:cs typeface="Aptos" pitchFamily="34" charset="-120"/>
              </a:rPr>
              <a:t>DECISION</a:t>
            </a:r>
            <a:endParaRPr lang="en-US" sz="900" dirty="0"/>
          </a:p>
        </p:txBody>
      </p:sp>
      <p:sp>
        <p:nvSpPr>
          <p:cNvPr id="13" name="Shape 11"/>
          <p:cNvSpPr/>
          <p:nvPr/>
        </p:nvSpPr>
        <p:spPr>
          <a:xfrm>
            <a:off x="640080" y="2249424"/>
            <a:ext cx="1554480" cy="768096"/>
          </a:xfrm>
          <a:prstGeom prst="rect">
            <a:avLst/>
          </a:prstGeom>
          <a:solidFill>
            <a:srgbClr val="FFFFFF"/>
          </a:solidFill>
          <a:ln w="10160">
            <a:solidFill>
              <a:srgbClr val="D8DEE7"/>
            </a:solidFill>
            <a:prstDash val="solid"/>
          </a:ln>
        </p:spPr>
      </p:sp>
      <p:sp>
        <p:nvSpPr>
          <p:cNvPr id="14" name="Shape 12"/>
          <p:cNvSpPr/>
          <p:nvPr/>
        </p:nvSpPr>
        <p:spPr>
          <a:xfrm>
            <a:off x="2340864" y="2249424"/>
            <a:ext cx="2304288" cy="768096"/>
          </a:xfrm>
          <a:prstGeom prst="rect">
            <a:avLst/>
          </a:prstGeom>
          <a:solidFill>
            <a:srgbClr val="FFFFFF"/>
          </a:solidFill>
          <a:ln w="10160">
            <a:solidFill>
              <a:srgbClr val="D8DEE7"/>
            </a:solidFill>
            <a:prstDash val="solid"/>
          </a:ln>
        </p:spPr>
      </p:sp>
      <p:sp>
        <p:nvSpPr>
          <p:cNvPr id="15" name="Shape 13"/>
          <p:cNvSpPr/>
          <p:nvPr/>
        </p:nvSpPr>
        <p:spPr>
          <a:xfrm>
            <a:off x="4809744" y="2249424"/>
            <a:ext cx="3264408" cy="768096"/>
          </a:xfrm>
          <a:prstGeom prst="rect">
            <a:avLst/>
          </a:prstGeom>
          <a:solidFill>
            <a:srgbClr val="FFFFFF"/>
          </a:solidFill>
          <a:ln w="10160">
            <a:solidFill>
              <a:srgbClr val="D8DEE7"/>
            </a:solidFill>
            <a:prstDash val="solid"/>
          </a:ln>
        </p:spPr>
      </p:sp>
      <p:sp>
        <p:nvSpPr>
          <p:cNvPr id="16" name="Shape 14"/>
          <p:cNvSpPr/>
          <p:nvPr/>
        </p:nvSpPr>
        <p:spPr>
          <a:xfrm>
            <a:off x="8257032" y="2249424"/>
            <a:ext cx="3364992" cy="768096"/>
          </a:xfrm>
          <a:prstGeom prst="rect">
            <a:avLst/>
          </a:prstGeom>
          <a:solidFill>
            <a:srgbClr val="FFFFFF"/>
          </a:solidFill>
          <a:ln w="10160">
            <a:solidFill>
              <a:srgbClr val="D8DEE7"/>
            </a:solidFill>
            <a:prstDash val="solid"/>
          </a:ln>
        </p:spPr>
      </p:sp>
      <p:sp>
        <p:nvSpPr>
          <p:cNvPr id="17" name="Text 15"/>
          <p:cNvSpPr txBox="1"/>
          <p:nvPr/>
        </p:nvSpPr>
        <p:spPr>
          <a:xfrm>
            <a:off x="777240" y="2414016"/>
            <a:ext cx="1280160" cy="365760"/>
          </a:xfrm>
          <a:prstGeom prst="rect">
            <a:avLst/>
          </a:prstGeom>
          <a:noFill/>
          <a:ln/>
        </p:spPr>
        <p:txBody>
          <a:bodyPr wrap="square" lIns="0" tIns="0" rIns="0" bIns="0" rtlCol="0" anchor="ctr">
            <a:normAutofit/>
          </a:bodyPr>
          <a:lstStyle/>
          <a:p>
            <a:pPr algn="l" indent="0" marL="0">
              <a:buNone/>
            </a:pPr>
            <a:r>
              <a:rPr lang="en-US" sz="980" b="1" dirty="0">
                <a:solidFill>
                  <a:srgbClr val="2D8A65"/>
                </a:solidFill>
                <a:latin typeface="Aptos" pitchFamily="34" charset="0"/>
                <a:ea typeface="Aptos" pitchFamily="34" charset="-122"/>
                <a:cs typeface="Aptos" pitchFamily="34" charset="-120"/>
              </a:rPr>
              <a:t>DEVELOPER</a:t>
            </a:r>
            <a:endParaRPr lang="en-US" sz="980" dirty="0"/>
          </a:p>
        </p:txBody>
      </p:sp>
      <p:sp>
        <p:nvSpPr>
          <p:cNvPr id="18" name="Text 16"/>
          <p:cNvSpPr txBox="1"/>
          <p:nvPr/>
        </p:nvSpPr>
        <p:spPr>
          <a:xfrm>
            <a:off x="2478024" y="2368296"/>
            <a:ext cx="2029968" cy="457200"/>
          </a:xfrm>
          <a:prstGeom prst="rect">
            <a:avLst/>
          </a:prstGeom>
          <a:noFill/>
          <a:ln/>
        </p:spPr>
        <p:txBody>
          <a:bodyPr wrap="square" lIns="0" tIns="0" rIns="0" bIns="0" rtlCol="0" anchor="ctr">
            <a:normAutofit/>
          </a:bodyPr>
          <a:lstStyle/>
          <a:p>
            <a:pPr algn="l" indent="0" marL="0">
              <a:buNone/>
            </a:pPr>
            <a:r>
              <a:rPr lang="en-US" sz="1260" b="1" dirty="0">
                <a:solidFill>
                  <a:srgbClr val="172033"/>
                </a:solidFill>
                <a:latin typeface="Aptos" pitchFamily="34" charset="0"/>
                <a:ea typeface="Aptos" pitchFamily="34" charset="-122"/>
                <a:cs typeface="Aptos" pitchFamily="34" charset="-120"/>
              </a:rPr>
              <a:t>Better day-to-day work</a:t>
            </a:r>
            <a:endParaRPr lang="en-US" sz="1260" dirty="0"/>
          </a:p>
        </p:txBody>
      </p:sp>
      <p:sp>
        <p:nvSpPr>
          <p:cNvPr id="19" name="Text 17"/>
          <p:cNvSpPr txBox="1"/>
          <p:nvPr/>
        </p:nvSpPr>
        <p:spPr>
          <a:xfrm>
            <a:off x="4946904" y="2340864"/>
            <a:ext cx="2990088"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Less rework, easier review, fewer missing facts</a:t>
            </a:r>
            <a:endParaRPr lang="en-US" sz="1080" dirty="0"/>
          </a:p>
        </p:txBody>
      </p:sp>
      <p:sp>
        <p:nvSpPr>
          <p:cNvPr id="20" name="Text 18"/>
          <p:cNvSpPr txBox="1"/>
          <p:nvPr/>
        </p:nvSpPr>
        <p:spPr>
          <a:xfrm>
            <a:off x="8394192" y="2340864"/>
            <a:ext cx="3090672"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Choose the workflow support that helps</a:t>
            </a:r>
            <a:endParaRPr lang="en-US" sz="1080" dirty="0"/>
          </a:p>
        </p:txBody>
      </p:sp>
      <p:sp>
        <p:nvSpPr>
          <p:cNvPr id="21" name="Shape 19"/>
          <p:cNvSpPr/>
          <p:nvPr/>
        </p:nvSpPr>
        <p:spPr>
          <a:xfrm>
            <a:off x="640080" y="3090672"/>
            <a:ext cx="1554480" cy="768096"/>
          </a:xfrm>
          <a:prstGeom prst="rect">
            <a:avLst/>
          </a:prstGeom>
          <a:solidFill>
            <a:srgbClr val="EDF3F8"/>
          </a:solidFill>
          <a:ln w="10160">
            <a:solidFill>
              <a:srgbClr val="D8DEE7"/>
            </a:solidFill>
            <a:prstDash val="solid"/>
          </a:ln>
        </p:spPr>
      </p:sp>
      <p:sp>
        <p:nvSpPr>
          <p:cNvPr id="22" name="Shape 20"/>
          <p:cNvSpPr/>
          <p:nvPr/>
        </p:nvSpPr>
        <p:spPr>
          <a:xfrm>
            <a:off x="2340864" y="3090672"/>
            <a:ext cx="2304288" cy="768096"/>
          </a:xfrm>
          <a:prstGeom prst="rect">
            <a:avLst/>
          </a:prstGeom>
          <a:solidFill>
            <a:srgbClr val="EDF3F8"/>
          </a:solidFill>
          <a:ln w="10160">
            <a:solidFill>
              <a:srgbClr val="D8DEE7"/>
            </a:solidFill>
            <a:prstDash val="solid"/>
          </a:ln>
        </p:spPr>
      </p:sp>
      <p:sp>
        <p:nvSpPr>
          <p:cNvPr id="23" name="Shape 21"/>
          <p:cNvSpPr/>
          <p:nvPr/>
        </p:nvSpPr>
        <p:spPr>
          <a:xfrm>
            <a:off x="4809744" y="3090672"/>
            <a:ext cx="3264408" cy="768096"/>
          </a:xfrm>
          <a:prstGeom prst="rect">
            <a:avLst/>
          </a:prstGeom>
          <a:solidFill>
            <a:srgbClr val="EDF3F8"/>
          </a:solidFill>
          <a:ln w="10160">
            <a:solidFill>
              <a:srgbClr val="D8DEE7"/>
            </a:solidFill>
            <a:prstDash val="solid"/>
          </a:ln>
        </p:spPr>
      </p:sp>
      <p:sp>
        <p:nvSpPr>
          <p:cNvPr id="24" name="Shape 22"/>
          <p:cNvSpPr/>
          <p:nvPr/>
        </p:nvSpPr>
        <p:spPr>
          <a:xfrm>
            <a:off x="8257032" y="3090672"/>
            <a:ext cx="3364992" cy="768096"/>
          </a:xfrm>
          <a:prstGeom prst="rect">
            <a:avLst/>
          </a:prstGeom>
          <a:solidFill>
            <a:srgbClr val="EDF3F8"/>
          </a:solidFill>
          <a:ln w="10160">
            <a:solidFill>
              <a:srgbClr val="D8DEE7"/>
            </a:solidFill>
            <a:prstDash val="solid"/>
          </a:ln>
        </p:spPr>
      </p:sp>
      <p:sp>
        <p:nvSpPr>
          <p:cNvPr id="25" name="Text 23"/>
          <p:cNvSpPr txBox="1"/>
          <p:nvPr/>
        </p:nvSpPr>
        <p:spPr>
          <a:xfrm>
            <a:off x="777240" y="3255264"/>
            <a:ext cx="1280160" cy="365760"/>
          </a:xfrm>
          <a:prstGeom prst="rect">
            <a:avLst/>
          </a:prstGeom>
          <a:noFill/>
          <a:ln/>
        </p:spPr>
        <p:txBody>
          <a:bodyPr wrap="square" lIns="0" tIns="0" rIns="0" bIns="0" rtlCol="0" anchor="ctr">
            <a:normAutofit/>
          </a:bodyPr>
          <a:lstStyle/>
          <a:p>
            <a:pPr algn="l" indent="0" marL="0">
              <a:buNone/>
            </a:pPr>
            <a:r>
              <a:rPr lang="en-US" sz="980" b="1" dirty="0">
                <a:solidFill>
                  <a:srgbClr val="007F80"/>
                </a:solidFill>
                <a:latin typeface="Aptos" pitchFamily="34" charset="0"/>
                <a:ea typeface="Aptos" pitchFamily="34" charset="-122"/>
                <a:cs typeface="Aptos" pitchFamily="34" charset="-120"/>
              </a:rPr>
              <a:t>TEAM LEADS</a:t>
            </a:r>
            <a:endParaRPr lang="en-US" sz="980" dirty="0"/>
          </a:p>
        </p:txBody>
      </p:sp>
      <p:sp>
        <p:nvSpPr>
          <p:cNvPr id="26" name="Text 24"/>
          <p:cNvSpPr txBox="1"/>
          <p:nvPr/>
        </p:nvSpPr>
        <p:spPr>
          <a:xfrm>
            <a:off x="2478024" y="3209544"/>
            <a:ext cx="2029968" cy="457200"/>
          </a:xfrm>
          <a:prstGeom prst="rect">
            <a:avLst/>
          </a:prstGeom>
          <a:noFill/>
          <a:ln/>
        </p:spPr>
        <p:txBody>
          <a:bodyPr wrap="square" lIns="0" tIns="0" rIns="0" bIns="0" rtlCol="0" anchor="ctr">
            <a:normAutofit/>
          </a:bodyPr>
          <a:lstStyle/>
          <a:p>
            <a:pPr algn="l" indent="0" marL="0">
              <a:buNone/>
            </a:pPr>
            <a:r>
              <a:rPr lang="en-US" sz="1260" b="1" dirty="0">
                <a:solidFill>
                  <a:srgbClr val="172033"/>
                </a:solidFill>
                <a:latin typeface="Aptos" pitchFamily="34" charset="0"/>
                <a:ea typeface="Aptos" pitchFamily="34" charset="-122"/>
                <a:cs typeface="Aptos" pitchFamily="34" charset="-120"/>
              </a:rPr>
              <a:t>More consistent delivery</a:t>
            </a:r>
            <a:endParaRPr lang="en-US" sz="1260" dirty="0"/>
          </a:p>
        </p:txBody>
      </p:sp>
      <p:sp>
        <p:nvSpPr>
          <p:cNvPr id="27" name="Text 25"/>
          <p:cNvSpPr txBox="1"/>
          <p:nvPr/>
        </p:nvSpPr>
        <p:spPr>
          <a:xfrm>
            <a:off x="4946904" y="3182112"/>
            <a:ext cx="2990088"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Shared gaps, handoff friction and rework patterns</a:t>
            </a:r>
            <a:endParaRPr lang="en-US" sz="1080" dirty="0"/>
          </a:p>
        </p:txBody>
      </p:sp>
      <p:sp>
        <p:nvSpPr>
          <p:cNvPr id="28" name="Text 26"/>
          <p:cNvSpPr txBox="1"/>
          <p:nvPr/>
        </p:nvSpPr>
        <p:spPr>
          <a:xfrm>
            <a:off x="8394192" y="3182112"/>
            <a:ext cx="3090672"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Improve team knowledge and practice</a:t>
            </a:r>
            <a:endParaRPr lang="en-US" sz="1080" dirty="0"/>
          </a:p>
        </p:txBody>
      </p:sp>
      <p:sp>
        <p:nvSpPr>
          <p:cNvPr id="29" name="Shape 27"/>
          <p:cNvSpPr/>
          <p:nvPr/>
        </p:nvSpPr>
        <p:spPr>
          <a:xfrm>
            <a:off x="640080" y="3931920"/>
            <a:ext cx="1554480" cy="768096"/>
          </a:xfrm>
          <a:prstGeom prst="rect">
            <a:avLst/>
          </a:prstGeom>
          <a:solidFill>
            <a:srgbClr val="FFFFFF"/>
          </a:solidFill>
          <a:ln w="10160">
            <a:solidFill>
              <a:srgbClr val="D8DEE7"/>
            </a:solidFill>
            <a:prstDash val="solid"/>
          </a:ln>
        </p:spPr>
      </p:sp>
      <p:sp>
        <p:nvSpPr>
          <p:cNvPr id="30" name="Shape 28"/>
          <p:cNvSpPr/>
          <p:nvPr/>
        </p:nvSpPr>
        <p:spPr>
          <a:xfrm>
            <a:off x="2340864" y="3931920"/>
            <a:ext cx="2304288" cy="768096"/>
          </a:xfrm>
          <a:prstGeom prst="rect">
            <a:avLst/>
          </a:prstGeom>
          <a:solidFill>
            <a:srgbClr val="FFFFFF"/>
          </a:solidFill>
          <a:ln w="10160">
            <a:solidFill>
              <a:srgbClr val="D8DEE7"/>
            </a:solidFill>
            <a:prstDash val="solid"/>
          </a:ln>
        </p:spPr>
      </p:sp>
      <p:sp>
        <p:nvSpPr>
          <p:cNvPr id="31" name="Shape 29"/>
          <p:cNvSpPr/>
          <p:nvPr/>
        </p:nvSpPr>
        <p:spPr>
          <a:xfrm>
            <a:off x="4809744" y="3931920"/>
            <a:ext cx="3264408" cy="768096"/>
          </a:xfrm>
          <a:prstGeom prst="rect">
            <a:avLst/>
          </a:prstGeom>
          <a:solidFill>
            <a:srgbClr val="FFFFFF"/>
          </a:solidFill>
          <a:ln w="10160">
            <a:solidFill>
              <a:srgbClr val="D8DEE7"/>
            </a:solidFill>
            <a:prstDash val="solid"/>
          </a:ln>
        </p:spPr>
      </p:sp>
      <p:sp>
        <p:nvSpPr>
          <p:cNvPr id="32" name="Shape 30"/>
          <p:cNvSpPr/>
          <p:nvPr/>
        </p:nvSpPr>
        <p:spPr>
          <a:xfrm>
            <a:off x="8257032" y="3931920"/>
            <a:ext cx="3364992" cy="768096"/>
          </a:xfrm>
          <a:prstGeom prst="rect">
            <a:avLst/>
          </a:prstGeom>
          <a:solidFill>
            <a:srgbClr val="FFFFFF"/>
          </a:solidFill>
          <a:ln w="10160">
            <a:solidFill>
              <a:srgbClr val="D8DEE7"/>
            </a:solidFill>
            <a:prstDash val="solid"/>
          </a:ln>
        </p:spPr>
      </p:sp>
      <p:sp>
        <p:nvSpPr>
          <p:cNvPr id="33" name="Text 31"/>
          <p:cNvSpPr txBox="1"/>
          <p:nvPr/>
        </p:nvSpPr>
        <p:spPr>
          <a:xfrm>
            <a:off x="777240" y="4096512"/>
            <a:ext cx="1280160" cy="365760"/>
          </a:xfrm>
          <a:prstGeom prst="rect">
            <a:avLst/>
          </a:prstGeom>
          <a:noFill/>
          <a:ln/>
        </p:spPr>
        <p:txBody>
          <a:bodyPr wrap="square" lIns="0" tIns="0" rIns="0" bIns="0" rtlCol="0" anchor="ctr">
            <a:normAutofit/>
          </a:bodyPr>
          <a:lstStyle/>
          <a:p>
            <a:pPr algn="l" indent="0" marL="0">
              <a:buNone/>
            </a:pPr>
            <a:r>
              <a:rPr lang="en-US" sz="980" b="1" dirty="0">
                <a:solidFill>
                  <a:srgbClr val="D9952A"/>
                </a:solidFill>
                <a:latin typeface="Aptos" pitchFamily="34" charset="0"/>
                <a:ea typeface="Aptos" pitchFamily="34" charset="-122"/>
                <a:cs typeface="Aptos" pitchFamily="34" charset="-120"/>
              </a:rPr>
              <a:t>DELIVERY OPERATIONS</a:t>
            </a:r>
            <a:endParaRPr lang="en-US" sz="980" dirty="0"/>
          </a:p>
        </p:txBody>
      </p:sp>
      <p:sp>
        <p:nvSpPr>
          <p:cNvPr id="34" name="Text 32"/>
          <p:cNvSpPr txBox="1"/>
          <p:nvPr/>
        </p:nvSpPr>
        <p:spPr>
          <a:xfrm>
            <a:off x="2478024" y="4050792"/>
            <a:ext cx="2029968" cy="457200"/>
          </a:xfrm>
          <a:prstGeom prst="rect">
            <a:avLst/>
          </a:prstGeom>
          <a:noFill/>
          <a:ln/>
        </p:spPr>
        <p:txBody>
          <a:bodyPr wrap="square" lIns="0" tIns="0" rIns="0" bIns="0" rtlCol="0" anchor="ctr">
            <a:normAutofit/>
          </a:bodyPr>
          <a:lstStyle/>
          <a:p>
            <a:pPr algn="l" indent="0" marL="0">
              <a:buNone/>
            </a:pPr>
            <a:r>
              <a:rPr lang="en-US" sz="1260" b="1" dirty="0">
                <a:solidFill>
                  <a:srgbClr val="172033"/>
                </a:solidFill>
                <a:latin typeface="Aptos" pitchFamily="34" charset="0"/>
                <a:ea typeface="Aptos" pitchFamily="34" charset="-122"/>
                <a:cs typeface="Aptos" pitchFamily="34" charset="-120"/>
              </a:rPr>
              <a:t>Smoother delivery flow</a:t>
            </a:r>
            <a:endParaRPr lang="en-US" sz="1260" dirty="0"/>
          </a:p>
        </p:txBody>
      </p:sp>
      <p:sp>
        <p:nvSpPr>
          <p:cNvPr id="35" name="Text 33"/>
          <p:cNvSpPr txBox="1"/>
          <p:nvPr/>
        </p:nvSpPr>
        <p:spPr>
          <a:xfrm>
            <a:off x="4946904" y="4023360"/>
            <a:ext cx="2990088"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Delays, fallback use and AI-limit adherence</a:t>
            </a:r>
            <a:endParaRPr lang="en-US" sz="1080" dirty="0"/>
          </a:p>
        </p:txBody>
      </p:sp>
      <p:sp>
        <p:nvSpPr>
          <p:cNvPr id="36" name="Text 34"/>
          <p:cNvSpPr txBox="1"/>
          <p:nvPr/>
        </p:nvSpPr>
        <p:spPr>
          <a:xfrm>
            <a:off x="8394192" y="4023360"/>
            <a:ext cx="3090672"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Prioritize process and platform fixes</a:t>
            </a:r>
            <a:endParaRPr lang="en-US" sz="1080" dirty="0"/>
          </a:p>
        </p:txBody>
      </p:sp>
      <p:sp>
        <p:nvSpPr>
          <p:cNvPr id="37" name="Shape 35"/>
          <p:cNvSpPr/>
          <p:nvPr/>
        </p:nvSpPr>
        <p:spPr>
          <a:xfrm>
            <a:off x="640080" y="4773168"/>
            <a:ext cx="1554480" cy="768096"/>
          </a:xfrm>
          <a:prstGeom prst="rect">
            <a:avLst/>
          </a:prstGeom>
          <a:solidFill>
            <a:srgbClr val="EDF3F8"/>
          </a:solidFill>
          <a:ln w="10160">
            <a:solidFill>
              <a:srgbClr val="D8DEE7"/>
            </a:solidFill>
            <a:prstDash val="solid"/>
          </a:ln>
        </p:spPr>
      </p:sp>
      <p:sp>
        <p:nvSpPr>
          <p:cNvPr id="38" name="Shape 36"/>
          <p:cNvSpPr/>
          <p:nvPr/>
        </p:nvSpPr>
        <p:spPr>
          <a:xfrm>
            <a:off x="2340864" y="4773168"/>
            <a:ext cx="2304288" cy="768096"/>
          </a:xfrm>
          <a:prstGeom prst="rect">
            <a:avLst/>
          </a:prstGeom>
          <a:solidFill>
            <a:srgbClr val="EDF3F8"/>
          </a:solidFill>
          <a:ln w="10160">
            <a:solidFill>
              <a:srgbClr val="D8DEE7"/>
            </a:solidFill>
            <a:prstDash val="solid"/>
          </a:ln>
        </p:spPr>
      </p:sp>
      <p:sp>
        <p:nvSpPr>
          <p:cNvPr id="39" name="Shape 37"/>
          <p:cNvSpPr/>
          <p:nvPr/>
        </p:nvSpPr>
        <p:spPr>
          <a:xfrm>
            <a:off x="4809744" y="4773168"/>
            <a:ext cx="3264408" cy="768096"/>
          </a:xfrm>
          <a:prstGeom prst="rect">
            <a:avLst/>
          </a:prstGeom>
          <a:solidFill>
            <a:srgbClr val="EDF3F8"/>
          </a:solidFill>
          <a:ln w="10160">
            <a:solidFill>
              <a:srgbClr val="D8DEE7"/>
            </a:solidFill>
            <a:prstDash val="solid"/>
          </a:ln>
        </p:spPr>
      </p:sp>
      <p:sp>
        <p:nvSpPr>
          <p:cNvPr id="40" name="Shape 38"/>
          <p:cNvSpPr/>
          <p:nvPr/>
        </p:nvSpPr>
        <p:spPr>
          <a:xfrm>
            <a:off x="8257032" y="4773168"/>
            <a:ext cx="3364992" cy="768096"/>
          </a:xfrm>
          <a:prstGeom prst="rect">
            <a:avLst/>
          </a:prstGeom>
          <a:solidFill>
            <a:srgbClr val="EDF3F8"/>
          </a:solidFill>
          <a:ln w="10160">
            <a:solidFill>
              <a:srgbClr val="D8DEE7"/>
            </a:solidFill>
            <a:prstDash val="solid"/>
          </a:ln>
        </p:spPr>
      </p:sp>
      <p:sp>
        <p:nvSpPr>
          <p:cNvPr id="41" name="Text 39"/>
          <p:cNvSpPr txBox="1"/>
          <p:nvPr/>
        </p:nvSpPr>
        <p:spPr>
          <a:xfrm>
            <a:off x="777240" y="4937760"/>
            <a:ext cx="1280160" cy="365760"/>
          </a:xfrm>
          <a:prstGeom prst="rect">
            <a:avLst/>
          </a:prstGeom>
          <a:noFill/>
          <a:ln/>
        </p:spPr>
        <p:txBody>
          <a:bodyPr wrap="square" lIns="0" tIns="0" rIns="0" bIns="0" rtlCol="0" anchor="ctr">
            <a:normAutofit/>
          </a:bodyPr>
          <a:lstStyle/>
          <a:p>
            <a:pPr algn="l" indent="0" marL="0">
              <a:buNone/>
            </a:pPr>
            <a:r>
              <a:rPr lang="en-US" sz="980" b="1" dirty="0">
                <a:solidFill>
                  <a:srgbClr val="163454"/>
                </a:solidFill>
                <a:latin typeface="Aptos" pitchFamily="34" charset="0"/>
                <a:ea typeface="Aptos" pitchFamily="34" charset="-122"/>
                <a:cs typeface="Aptos" pitchFamily="34" charset="-120"/>
              </a:rPr>
              <a:t>MANAGEMENT / AI CENTER OF EXCELLENCE</a:t>
            </a:r>
            <a:endParaRPr lang="en-US" sz="980" dirty="0"/>
          </a:p>
        </p:txBody>
      </p:sp>
      <p:sp>
        <p:nvSpPr>
          <p:cNvPr id="42" name="Text 40"/>
          <p:cNvSpPr txBox="1"/>
          <p:nvPr/>
        </p:nvSpPr>
        <p:spPr>
          <a:xfrm>
            <a:off x="2478024" y="4892040"/>
            <a:ext cx="2029968" cy="457200"/>
          </a:xfrm>
          <a:prstGeom prst="rect">
            <a:avLst/>
          </a:prstGeom>
          <a:noFill/>
          <a:ln/>
        </p:spPr>
        <p:txBody>
          <a:bodyPr wrap="square" lIns="0" tIns="0" rIns="0" bIns="0" rtlCol="0" anchor="ctr">
            <a:normAutofit/>
          </a:bodyPr>
          <a:lstStyle/>
          <a:p>
            <a:pPr algn="l" indent="0" marL="0">
              <a:buNone/>
            </a:pPr>
            <a:r>
              <a:rPr lang="en-US" sz="1260" b="1" dirty="0">
                <a:solidFill>
                  <a:srgbClr val="172033"/>
                </a:solidFill>
                <a:latin typeface="Aptos" pitchFamily="34" charset="0"/>
                <a:ea typeface="Aptos" pitchFamily="34" charset="-122"/>
                <a:cs typeface="Aptos" pitchFamily="34" charset="-120"/>
              </a:rPr>
              <a:t>Responsible adoption at scale</a:t>
            </a:r>
            <a:endParaRPr lang="en-US" sz="1260" dirty="0"/>
          </a:p>
        </p:txBody>
      </p:sp>
      <p:sp>
        <p:nvSpPr>
          <p:cNvPr id="43" name="Text 41"/>
          <p:cNvSpPr txBox="1"/>
          <p:nvPr/>
        </p:nvSpPr>
        <p:spPr>
          <a:xfrm>
            <a:off x="4946904" y="4864608"/>
            <a:ext cx="2990088"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Useful adoption, training needs and overall capacity</a:t>
            </a:r>
            <a:endParaRPr lang="en-US" sz="1080" dirty="0"/>
          </a:p>
        </p:txBody>
      </p:sp>
      <p:sp>
        <p:nvSpPr>
          <p:cNvPr id="44" name="Text 42"/>
          <p:cNvSpPr txBox="1"/>
          <p:nvPr/>
        </p:nvSpPr>
        <p:spPr>
          <a:xfrm>
            <a:off x="8394192" y="4864608"/>
            <a:ext cx="3090672"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Invest, expand, constrain or stop</a:t>
            </a:r>
            <a:endParaRPr lang="en-US" sz="1080" dirty="0"/>
          </a:p>
        </p:txBody>
      </p:sp>
      <p:sp>
        <p:nvSpPr>
          <p:cNvPr id="45" name="Shape 43"/>
          <p:cNvSpPr/>
          <p:nvPr/>
        </p:nvSpPr>
        <p:spPr>
          <a:xfrm>
            <a:off x="640080" y="5733288"/>
            <a:ext cx="10972800" cy="502920"/>
          </a:xfrm>
          <a:prstGeom prst="roundRect">
            <a:avLst>
              <a:gd name="adj" fmla="val 14545"/>
            </a:avLst>
          </a:prstGeom>
          <a:solidFill>
            <a:srgbClr val="FFF3DE"/>
          </a:solidFill>
          <a:ln w="10160">
            <a:solidFill>
              <a:srgbClr val="F0D39D"/>
            </a:solidFill>
            <a:prstDash val="solid"/>
          </a:ln>
        </p:spPr>
      </p:sp>
      <p:sp>
        <p:nvSpPr>
          <p:cNvPr id="46" name="Text 44"/>
          <p:cNvSpPr txBox="1"/>
          <p:nvPr/>
        </p:nvSpPr>
        <p:spPr>
          <a:xfrm>
            <a:off x="896112" y="5861304"/>
            <a:ext cx="1033272" cy="219456"/>
          </a:xfrm>
          <a:prstGeom prst="rect">
            <a:avLst/>
          </a:prstGeom>
          <a:noFill/>
          <a:ln/>
        </p:spPr>
        <p:txBody>
          <a:bodyPr wrap="square" lIns="0" tIns="0" rIns="0" bIns="0" rtlCol="0" anchor="ctr">
            <a:normAutofit/>
          </a:bodyPr>
          <a:lstStyle/>
          <a:p>
            <a:pPr algn="l" indent="0" marL="0">
              <a:buNone/>
            </a:pPr>
            <a:r>
              <a:rPr lang="en-US" sz="1150" b="1" dirty="0">
                <a:solidFill>
                  <a:srgbClr val="82530D"/>
                </a:solidFill>
                <a:latin typeface="Aptos" pitchFamily="34" charset="0"/>
                <a:ea typeface="Aptos" pitchFamily="34" charset="-122"/>
                <a:cs typeface="Aptos" pitchFamily="34" charset="-120"/>
              </a:rPr>
              <a:t>Reporting rule</a:t>
            </a:r>
            <a:endParaRPr lang="en-US" sz="1150" dirty="0"/>
          </a:p>
        </p:txBody>
      </p:sp>
      <p:sp>
        <p:nvSpPr>
          <p:cNvPr id="47" name="Text 45"/>
          <p:cNvSpPr txBox="1"/>
          <p:nvPr/>
        </p:nvSpPr>
        <p:spPr>
          <a:xfrm>
            <a:off x="2011680" y="5824728"/>
            <a:ext cx="9235440" cy="283464"/>
          </a:xfrm>
          <a:prstGeom prst="rect">
            <a:avLst/>
          </a:prstGeom>
          <a:noFill/>
          <a:ln/>
        </p:spPr>
        <p:txBody>
          <a:bodyPr wrap="square" lIns="0" tIns="0" rIns="0" bIns="0" rtlCol="0" anchor="ctr">
            <a:normAutofit/>
          </a:bodyPr>
          <a:lstStyle/>
          <a:p>
            <a:pPr algn="ctr" indent="0" marL="0">
              <a:buNone/>
            </a:pPr>
            <a:r>
              <a:rPr lang="en-US" sz="1190" b="1" dirty="0">
                <a:solidFill>
                  <a:srgbClr val="163454"/>
                </a:solidFill>
                <a:latin typeface="Aptos" pitchFamily="34" charset="0"/>
                <a:ea typeface="Aptos" pitchFamily="34" charset="-122"/>
                <a:cs typeface="Aptos" pitchFamily="34" charset="-120"/>
              </a:rPr>
              <a:t>Report by workflow or group. Never copy prompts, code or project content, rank people, or use feedback for performance scoring.</a:t>
            </a:r>
            <a:endParaRPr lang="en-US" sz="119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A PRACTICAL DECISION PATH</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Learn in stages before scaling</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The next decision is a controlled learning step—not a production or release commitment.</a:t>
            </a:r>
            <a:endParaRPr lang="en-US" sz="1350" dirty="0"/>
          </a:p>
        </p:txBody>
      </p:sp>
      <p:sp>
        <p:nvSpPr>
          <p:cNvPr id="5" name="Shape 3"/>
          <p:cNvSpPr/>
          <p:nvPr/>
        </p:nvSpPr>
        <p:spPr>
          <a:xfrm>
            <a:off x="630936" y="1783080"/>
            <a:ext cx="2569464" cy="2395728"/>
          </a:xfrm>
          <a:prstGeom prst="roundRect">
            <a:avLst>
              <a:gd name="adj" fmla="val 3053"/>
            </a:avLst>
          </a:prstGeom>
          <a:solidFill>
            <a:srgbClr val="FFFFFF"/>
          </a:solidFill>
          <a:ln w="10160">
            <a:solidFill>
              <a:srgbClr val="D8DEE7"/>
            </a:solidFill>
            <a:prstDash val="solid"/>
          </a:ln>
        </p:spPr>
      </p:sp>
      <p:sp>
        <p:nvSpPr>
          <p:cNvPr id="6" name="Shape 4"/>
          <p:cNvSpPr/>
          <p:nvPr/>
        </p:nvSpPr>
        <p:spPr>
          <a:xfrm>
            <a:off x="630936" y="1783080"/>
            <a:ext cx="73152" cy="2395728"/>
          </a:xfrm>
          <a:prstGeom prst="rect">
            <a:avLst/>
          </a:prstGeom>
          <a:solidFill>
            <a:srgbClr val="2D8A65"/>
          </a:solidFill>
          <a:ln w="12700">
            <a:solidFill>
              <a:srgbClr val="2D8A65"/>
            </a:solidFill>
            <a:prstDash val="solid"/>
          </a:ln>
        </p:spPr>
      </p:sp>
      <p:sp>
        <p:nvSpPr>
          <p:cNvPr id="7" name="Text 5"/>
          <p:cNvSpPr txBox="1"/>
          <p:nvPr/>
        </p:nvSpPr>
        <p:spPr>
          <a:xfrm>
            <a:off x="877824" y="1965960"/>
            <a:ext cx="2112264" cy="201168"/>
          </a:xfrm>
          <a:prstGeom prst="rect">
            <a:avLst/>
          </a:prstGeom>
          <a:noFill/>
          <a:ln/>
        </p:spPr>
        <p:txBody>
          <a:bodyPr wrap="square" lIns="0" tIns="0" rIns="0" bIns="0" rtlCol="0" anchor="ctr">
            <a:normAutofit/>
          </a:bodyPr>
          <a:lstStyle/>
          <a:p>
            <a:pPr algn="l" indent="0" marL="0">
              <a:buNone/>
            </a:pPr>
            <a:r>
              <a:rPr lang="en-US" sz="880" b="1" spc="70" kern="0" dirty="0">
                <a:solidFill>
                  <a:srgbClr val="2D8A65"/>
                </a:solidFill>
                <a:latin typeface="Aptos" pitchFamily="34" charset="0"/>
                <a:ea typeface="Aptos" pitchFamily="34" charset="-122"/>
                <a:cs typeface="Aptos" pitchFamily="34" charset="-120"/>
              </a:rPr>
              <a:t>TODAY</a:t>
            </a:r>
            <a:endParaRPr lang="en-US" sz="880" dirty="0"/>
          </a:p>
        </p:txBody>
      </p:sp>
      <p:sp>
        <p:nvSpPr>
          <p:cNvPr id="8" name="Text 6"/>
          <p:cNvSpPr txBox="1"/>
          <p:nvPr/>
        </p:nvSpPr>
        <p:spPr>
          <a:xfrm>
            <a:off x="877824" y="2249424"/>
            <a:ext cx="2093976"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Try the local demo</a:t>
            </a:r>
            <a:endParaRPr lang="en-US" sz="1650" dirty="0"/>
          </a:p>
        </p:txBody>
      </p:sp>
      <p:sp>
        <p:nvSpPr>
          <p:cNvPr id="9" name="Text 7"/>
          <p:cNvSpPr txBox="1"/>
          <p:nvPr/>
        </p:nvSpPr>
        <p:spPr>
          <a:xfrm>
            <a:off x="877824" y="2660904"/>
            <a:ext cx="2093976" cy="1353312"/>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Use representative work and assess clarity, reuse and developer control.</a:t>
            </a:r>
            <a:endParaRPr lang="en-US" sz="1180" dirty="0"/>
          </a:p>
        </p:txBody>
      </p:sp>
      <p:sp>
        <p:nvSpPr>
          <p:cNvPr id="10" name="Shape 8"/>
          <p:cNvSpPr/>
          <p:nvPr/>
        </p:nvSpPr>
        <p:spPr>
          <a:xfrm>
            <a:off x="3447288" y="1783080"/>
            <a:ext cx="2569464" cy="2395728"/>
          </a:xfrm>
          <a:prstGeom prst="roundRect">
            <a:avLst>
              <a:gd name="adj" fmla="val 3053"/>
            </a:avLst>
          </a:prstGeom>
          <a:solidFill>
            <a:srgbClr val="FFFFFF"/>
          </a:solidFill>
          <a:ln w="10160">
            <a:solidFill>
              <a:srgbClr val="D8DEE7"/>
            </a:solidFill>
            <a:prstDash val="solid"/>
          </a:ln>
        </p:spPr>
      </p:sp>
      <p:sp>
        <p:nvSpPr>
          <p:cNvPr id="11" name="Shape 9"/>
          <p:cNvSpPr/>
          <p:nvPr/>
        </p:nvSpPr>
        <p:spPr>
          <a:xfrm>
            <a:off x="3447288" y="1783080"/>
            <a:ext cx="73152" cy="2395728"/>
          </a:xfrm>
          <a:prstGeom prst="rect">
            <a:avLst/>
          </a:prstGeom>
          <a:solidFill>
            <a:srgbClr val="007F80"/>
          </a:solidFill>
          <a:ln w="12700">
            <a:solidFill>
              <a:srgbClr val="007F80"/>
            </a:solidFill>
            <a:prstDash val="solid"/>
          </a:ln>
        </p:spPr>
      </p:sp>
      <p:sp>
        <p:nvSpPr>
          <p:cNvPr id="12" name="Text 10"/>
          <p:cNvSpPr txBox="1"/>
          <p:nvPr/>
        </p:nvSpPr>
        <p:spPr>
          <a:xfrm>
            <a:off x="3694176" y="1965960"/>
            <a:ext cx="2112264" cy="201168"/>
          </a:xfrm>
          <a:prstGeom prst="rect">
            <a:avLst/>
          </a:prstGeom>
          <a:noFill/>
          <a:ln/>
        </p:spPr>
        <p:txBody>
          <a:bodyPr wrap="square" lIns="0" tIns="0" rIns="0" bIns="0" rtlCol="0" anchor="ctr">
            <a:normAutofit/>
          </a:bodyPr>
          <a:lstStyle/>
          <a:p>
            <a:pPr algn="l" indent="0" marL="0">
              <a:buNone/>
            </a:pPr>
            <a:r>
              <a:rPr lang="en-US" sz="880" b="1" spc="70" kern="0" dirty="0">
                <a:solidFill>
                  <a:srgbClr val="007F80"/>
                </a:solidFill>
                <a:latin typeface="Aptos" pitchFamily="34" charset="0"/>
                <a:ea typeface="Aptos" pitchFamily="34" charset="-122"/>
                <a:cs typeface="Aptos" pitchFamily="34" charset="-120"/>
              </a:rPr>
              <a:t>NEXT</a:t>
            </a:r>
            <a:endParaRPr lang="en-US" sz="880" dirty="0"/>
          </a:p>
        </p:txBody>
      </p:sp>
      <p:sp>
        <p:nvSpPr>
          <p:cNvPr id="13" name="Text 11"/>
          <p:cNvSpPr txBox="1"/>
          <p:nvPr/>
        </p:nvSpPr>
        <p:spPr>
          <a:xfrm>
            <a:off x="3694176" y="2249424"/>
            <a:ext cx="2093976"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Finish the core experience</a:t>
            </a:r>
            <a:endParaRPr lang="en-US" sz="1650" dirty="0"/>
          </a:p>
        </p:txBody>
      </p:sp>
      <p:sp>
        <p:nvSpPr>
          <p:cNvPr id="14" name="Text 12"/>
          <p:cNvSpPr txBox="1"/>
          <p:nvPr/>
        </p:nvSpPr>
        <p:spPr>
          <a:xfrm>
            <a:off x="3694176" y="2660904"/>
            <a:ext cx="2093976" cy="1353312"/>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Complete guided clarification and repeat the restart check on this version.</a:t>
            </a:r>
            <a:endParaRPr lang="en-US" sz="1180" dirty="0"/>
          </a:p>
        </p:txBody>
      </p:sp>
      <p:sp>
        <p:nvSpPr>
          <p:cNvPr id="15" name="Shape 13"/>
          <p:cNvSpPr/>
          <p:nvPr/>
        </p:nvSpPr>
        <p:spPr>
          <a:xfrm>
            <a:off x="6263640" y="1783080"/>
            <a:ext cx="2569464" cy="2395728"/>
          </a:xfrm>
          <a:prstGeom prst="roundRect">
            <a:avLst>
              <a:gd name="adj" fmla="val 3053"/>
            </a:avLst>
          </a:prstGeom>
          <a:solidFill>
            <a:srgbClr val="FFFFFF"/>
          </a:solidFill>
          <a:ln w="10160">
            <a:solidFill>
              <a:srgbClr val="D8DEE7"/>
            </a:solidFill>
            <a:prstDash val="solid"/>
          </a:ln>
        </p:spPr>
      </p:sp>
      <p:sp>
        <p:nvSpPr>
          <p:cNvPr id="16" name="Shape 14"/>
          <p:cNvSpPr/>
          <p:nvPr/>
        </p:nvSpPr>
        <p:spPr>
          <a:xfrm>
            <a:off x="6263640" y="1783080"/>
            <a:ext cx="73152" cy="2395728"/>
          </a:xfrm>
          <a:prstGeom prst="rect">
            <a:avLst/>
          </a:prstGeom>
          <a:solidFill>
            <a:srgbClr val="D9952A"/>
          </a:solidFill>
          <a:ln w="12700">
            <a:solidFill>
              <a:srgbClr val="D9952A"/>
            </a:solidFill>
            <a:prstDash val="solid"/>
          </a:ln>
        </p:spPr>
      </p:sp>
      <p:sp>
        <p:nvSpPr>
          <p:cNvPr id="17" name="Text 15"/>
          <p:cNvSpPr txBox="1"/>
          <p:nvPr/>
        </p:nvSpPr>
        <p:spPr>
          <a:xfrm>
            <a:off x="6510528" y="1965960"/>
            <a:ext cx="2112264" cy="201168"/>
          </a:xfrm>
          <a:prstGeom prst="rect">
            <a:avLst/>
          </a:prstGeom>
          <a:noFill/>
          <a:ln/>
        </p:spPr>
        <p:txBody>
          <a:bodyPr wrap="square" lIns="0" tIns="0" rIns="0" bIns="0" rtlCol="0" anchor="ctr">
            <a:normAutofit/>
          </a:bodyPr>
          <a:lstStyle/>
          <a:p>
            <a:pPr algn="l" indent="0" marL="0">
              <a:buNone/>
            </a:pPr>
            <a:r>
              <a:rPr lang="en-US" sz="880" b="1" spc="70" kern="0" dirty="0">
                <a:solidFill>
                  <a:srgbClr val="D9952A"/>
                </a:solidFill>
                <a:latin typeface="Aptos" pitchFamily="34" charset="0"/>
                <a:ea typeface="Aptos" pitchFamily="34" charset="-122"/>
                <a:cs typeface="Aptos" pitchFamily="34" charset="-120"/>
              </a:rPr>
              <a:t>DESIGN</a:t>
            </a:r>
            <a:endParaRPr lang="en-US" sz="880" dirty="0"/>
          </a:p>
        </p:txBody>
      </p:sp>
      <p:sp>
        <p:nvSpPr>
          <p:cNvPr id="18" name="Text 16"/>
          <p:cNvSpPr txBox="1"/>
          <p:nvPr/>
        </p:nvSpPr>
        <p:spPr>
          <a:xfrm>
            <a:off x="6510528" y="2249424"/>
            <a:ext cx="2093976"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Agree the guardrails</a:t>
            </a:r>
            <a:endParaRPr lang="en-US" sz="1650" dirty="0"/>
          </a:p>
        </p:txBody>
      </p:sp>
      <p:sp>
        <p:nvSpPr>
          <p:cNvPr id="19" name="Text 17"/>
          <p:cNvSpPr txBox="1"/>
          <p:nvPr/>
        </p:nvSpPr>
        <p:spPr>
          <a:xfrm>
            <a:off x="6510528" y="2660904"/>
            <a:ext cx="2093976" cy="1353312"/>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Define project-management data, AI limits, privacy rules and success measures.</a:t>
            </a:r>
            <a:endParaRPr lang="en-US" sz="1180" dirty="0"/>
          </a:p>
        </p:txBody>
      </p:sp>
      <p:sp>
        <p:nvSpPr>
          <p:cNvPr id="20" name="Shape 18"/>
          <p:cNvSpPr/>
          <p:nvPr/>
        </p:nvSpPr>
        <p:spPr>
          <a:xfrm>
            <a:off x="9079992" y="1783080"/>
            <a:ext cx="2569464" cy="2395728"/>
          </a:xfrm>
          <a:prstGeom prst="roundRect">
            <a:avLst>
              <a:gd name="adj" fmla="val 3053"/>
            </a:avLst>
          </a:prstGeom>
          <a:solidFill>
            <a:srgbClr val="FFFFFF"/>
          </a:solidFill>
          <a:ln w="10160">
            <a:solidFill>
              <a:srgbClr val="D8DEE7"/>
            </a:solidFill>
            <a:prstDash val="solid"/>
          </a:ln>
        </p:spPr>
      </p:sp>
      <p:sp>
        <p:nvSpPr>
          <p:cNvPr id="21" name="Shape 19"/>
          <p:cNvSpPr/>
          <p:nvPr/>
        </p:nvSpPr>
        <p:spPr>
          <a:xfrm>
            <a:off x="9079992" y="1783080"/>
            <a:ext cx="73152" cy="2395728"/>
          </a:xfrm>
          <a:prstGeom prst="rect">
            <a:avLst/>
          </a:prstGeom>
          <a:solidFill>
            <a:srgbClr val="163454"/>
          </a:solidFill>
          <a:ln w="12700">
            <a:solidFill>
              <a:srgbClr val="163454"/>
            </a:solidFill>
            <a:prstDash val="solid"/>
          </a:ln>
        </p:spPr>
      </p:sp>
      <p:sp>
        <p:nvSpPr>
          <p:cNvPr id="22" name="Text 20"/>
          <p:cNvSpPr txBox="1"/>
          <p:nvPr/>
        </p:nvSpPr>
        <p:spPr>
          <a:xfrm>
            <a:off x="9326880" y="1965960"/>
            <a:ext cx="2112264" cy="201168"/>
          </a:xfrm>
          <a:prstGeom prst="rect">
            <a:avLst/>
          </a:prstGeom>
          <a:noFill/>
          <a:ln/>
        </p:spPr>
        <p:txBody>
          <a:bodyPr wrap="square" lIns="0" tIns="0" rIns="0" bIns="0" rtlCol="0" anchor="ctr">
            <a:normAutofit/>
          </a:bodyPr>
          <a:lstStyle/>
          <a:p>
            <a:pPr algn="l" indent="0" marL="0">
              <a:buNone/>
            </a:pPr>
            <a:r>
              <a:rPr lang="en-US" sz="880" b="1" spc="70" kern="0" dirty="0">
                <a:solidFill>
                  <a:srgbClr val="163454"/>
                </a:solidFill>
                <a:latin typeface="Aptos" pitchFamily="34" charset="0"/>
                <a:ea typeface="Aptos" pitchFamily="34" charset="-122"/>
                <a:cs typeface="Aptos" pitchFamily="34" charset="-120"/>
              </a:rPr>
              <a:t>PILOT</a:t>
            </a:r>
            <a:endParaRPr lang="en-US" sz="880" dirty="0"/>
          </a:p>
        </p:txBody>
      </p:sp>
      <p:sp>
        <p:nvSpPr>
          <p:cNvPr id="23" name="Text 21"/>
          <p:cNvSpPr txBox="1"/>
          <p:nvPr/>
        </p:nvSpPr>
        <p:spPr>
          <a:xfrm>
            <a:off x="9326880" y="2249424"/>
            <a:ext cx="2093976"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Test one workflow</a:t>
            </a:r>
            <a:endParaRPr lang="en-US" sz="1650" dirty="0"/>
          </a:p>
        </p:txBody>
      </p:sp>
      <p:sp>
        <p:nvSpPr>
          <p:cNvPr id="24" name="Text 22"/>
          <p:cNvSpPr txBox="1"/>
          <p:nvPr/>
        </p:nvSpPr>
        <p:spPr>
          <a:xfrm>
            <a:off x="9326880" y="2660904"/>
            <a:ext cx="2093976" cy="1353312"/>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Run a dry-run first, then consider one small controlled pilot.</a:t>
            </a:r>
            <a:endParaRPr lang="en-US" sz="1180" dirty="0"/>
          </a:p>
        </p:txBody>
      </p:sp>
      <p:sp>
        <p:nvSpPr>
          <p:cNvPr id="25" name="Shape 23"/>
          <p:cNvSpPr/>
          <p:nvPr/>
        </p:nvSpPr>
        <p:spPr>
          <a:xfrm>
            <a:off x="640080" y="4489704"/>
            <a:ext cx="10981944" cy="1197864"/>
          </a:xfrm>
          <a:prstGeom prst="roundRect">
            <a:avLst>
              <a:gd name="adj" fmla="val 6107"/>
            </a:avLst>
          </a:prstGeom>
          <a:solidFill>
            <a:srgbClr val="163454"/>
          </a:solidFill>
          <a:ln w="10160">
            <a:solidFill>
              <a:srgbClr val="163454"/>
            </a:solidFill>
            <a:prstDash val="solid"/>
          </a:ln>
        </p:spPr>
      </p:sp>
      <p:sp>
        <p:nvSpPr>
          <p:cNvPr id="26" name="Text 24"/>
          <p:cNvSpPr txBox="1"/>
          <p:nvPr/>
        </p:nvSpPr>
        <p:spPr>
          <a:xfrm>
            <a:off x="932688" y="4718304"/>
            <a:ext cx="2148840" cy="201168"/>
          </a:xfrm>
          <a:prstGeom prst="rect">
            <a:avLst/>
          </a:prstGeom>
          <a:noFill/>
          <a:ln/>
        </p:spPr>
        <p:txBody>
          <a:bodyPr wrap="square" lIns="0" tIns="0" rIns="0" bIns="0" rtlCol="0" anchor="ctr">
            <a:normAutofit/>
          </a:bodyPr>
          <a:lstStyle/>
          <a:p>
            <a:pPr algn="l" indent="0" marL="0">
              <a:buNone/>
            </a:pPr>
            <a:r>
              <a:rPr lang="en-US" sz="940" b="1" spc="100" kern="0" dirty="0">
                <a:solidFill>
                  <a:srgbClr val="9DE0E4"/>
                </a:solidFill>
                <a:latin typeface="Aptos" pitchFamily="34" charset="0"/>
                <a:ea typeface="Aptos" pitchFamily="34" charset="-122"/>
                <a:cs typeface="Aptos" pitchFamily="34" charset="-120"/>
              </a:rPr>
              <a:t>MANAGEMENT QUESTION</a:t>
            </a:r>
            <a:endParaRPr lang="en-US" sz="940" dirty="0"/>
          </a:p>
        </p:txBody>
      </p:sp>
      <p:sp>
        <p:nvSpPr>
          <p:cNvPr id="27" name="Text 25"/>
          <p:cNvSpPr txBox="1"/>
          <p:nvPr/>
        </p:nvSpPr>
        <p:spPr>
          <a:xfrm>
            <a:off x="932688" y="5038344"/>
            <a:ext cx="10076688" cy="420624"/>
          </a:xfrm>
          <a:prstGeom prst="rect">
            <a:avLst/>
          </a:prstGeom>
          <a:noFill/>
          <a:ln/>
        </p:spPr>
        <p:txBody>
          <a:bodyPr wrap="square" lIns="0" tIns="0" rIns="0" bIns="0" rtlCol="0" anchor="ctr">
            <a:normAutofit/>
          </a:bodyPr>
          <a:lstStyle/>
          <a:p>
            <a:pPr algn="l" indent="0" marL="0">
              <a:buNone/>
            </a:pPr>
            <a:r>
              <a:rPr lang="en-US" sz="1920" b="1" dirty="0">
                <a:solidFill>
                  <a:srgbClr val="FFFFFF"/>
                </a:solidFill>
                <a:latin typeface="Aptos" pitchFamily="34" charset="0"/>
                <a:ea typeface="Aptos" pitchFamily="34" charset="-122"/>
                <a:cs typeface="Aptos" pitchFamily="34" charset="-120"/>
              </a:rPr>
              <a:t>Is the current workflow useful enough to justify a small, controlled pilot of the future model?</a:t>
            </a:r>
            <a:endParaRPr lang="en-US" sz="1920" dirty="0"/>
          </a:p>
        </p:txBody>
      </p:sp>
      <p:sp>
        <p:nvSpPr>
          <p:cNvPr id="28" name="Text 26"/>
          <p:cNvSpPr txBox="1"/>
          <p:nvPr/>
        </p:nvSpPr>
        <p:spPr>
          <a:xfrm>
            <a:off x="658368" y="5961888"/>
            <a:ext cx="10954512" cy="256032"/>
          </a:xfrm>
          <a:prstGeom prst="rect">
            <a:avLst/>
          </a:prstGeom>
          <a:noFill/>
          <a:ln/>
        </p:spPr>
        <p:txBody>
          <a:bodyPr wrap="square" lIns="0" tIns="0" rIns="0" bIns="0" rtlCol="0" anchor="ctr">
            <a:normAutofit/>
          </a:bodyPr>
          <a:lstStyle/>
          <a:p>
            <a:pPr algn="ctr" indent="0" marL="0">
              <a:buNone/>
            </a:pPr>
            <a:r>
              <a:rPr lang="en-US" sz="1250" b="1" dirty="0">
                <a:solidFill>
                  <a:srgbClr val="007F80"/>
                </a:solidFill>
                <a:latin typeface="Aptos" pitchFamily="34" charset="0"/>
                <a:ea typeface="Aptos" pitchFamily="34" charset="-122"/>
                <a:cs typeface="Aptos" pitchFamily="34" charset="-120"/>
              </a:rPr>
              <a:t>Phases 5 and 6 local checks passed. Phase 4 live external-AI quality testing remains blocked.</a:t>
            </a:r>
            <a:endParaRPr lang="en-US" sz="125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DWI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DWI — A Safer, More Consistent Way to Use AI</dc:title>
  <dc:subject>DWI management proof of concept and future direction in plain language</dc:subject>
  <dc:creator>DWI</dc:creator>
  <cp:lastModifiedBy>DWI</cp:lastModifiedBy>
  <cp:revision>1</cp:revision>
  <dcterms:created xsi:type="dcterms:W3CDTF">2026-09-01T07:08:57Z</dcterms:created>
  <dcterms:modified xsi:type="dcterms:W3CDTF">2026-09-01T07:08:57Z</dcterms:modified>
</cp:coreProperties>
</file>