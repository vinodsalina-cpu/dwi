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DWI is a working proof of concept for a safer and more consistent way to prepare AI-assisted work.
Keep today and tomorrow separate: the current product uses approved project knowledge and human review; project-management links, adaptive AI allowances and management feedback are future ideas.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issue is broader than the wording of a prompt. Delivery groups need one understandable way to bring project facts, the task, review, limits and feedback together.
The current proof of concept covers project knowledge through human review. Adaptive, governed AI allowances and shared outcome feedback are future steps.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current product in four simple steps: reuse project facts, describe the work, spot what is missing, then check and save.
DWI can show important missing information today. Asking one short question and safely applying the answer is not complete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generic answer can look polished while missing local deployment or rollback constraints.
The current proof of concept uses approved project facts and calls out important missing information. The next step is to ask one short question and safely apply or skip the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Spend time on the outcome: less briefing, fewer avoidable omissions, lower cognitive load and clearer review.
Human control is part of the value. The structured workflow, safety controls, recovery, packaging and GitHub-hosted engineering checks are demonstrated.
Phase 4 exposed a clear decision-governance failure: unapproved token ceilings became decisive execution policy. Live-AI quality remains unmeasured because the comparison never began.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Demonstrate only current behavior: reviewed project facts, clear task details, visible sources and assumptions, a local draft, save, and reset of the current task.
Name the unfinished step directly: DWI can show important missing information, but the guided question-and-answer step is not complete.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future idea, not something built today. A project-management system could supply a small set of approved task details such as priority, type, risk and timing.
Agreed rules could create a planned allowance from fixed route overhead, task and project needs, sprint capacity, expected output and reserve.
A declarative file may record an approved rule; it cannot create approval. An imperative policy check must validate provenance and reject missing authority before execution.
Adaptive means planned for the work inside hard privacy, spending and call limits—not a number DWI can raise after seeing a result.
Outcome-only feedback should be grouped and privacy-safe. It must not copy prompts, generated work, code, project content or employee names.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developer level, improve day-to-day work. Delivery leads need shared gaps and handoff patterns. Delivery operations need delays and limit adherence. Management and the AI Center of Excellence need useful adoption and capacity information.
Report only by workflow or group. Never copy prompts, code or project content, and never rank people or turn feedback into a performance score.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management to evaluate usefulness and support a staged learning plan, not to declare production readiness.
The sponsor estimates that the consolidated product and report make a focused management proof of concept possible in roughly four days rather than restarting a four-month discovery exercise. This is a planning estimate, not a production-delivery promise.
The sequence is simple: run the management POC, audit every pivotal decision, build an approval-led policy mechanism, prove it in dry-run mode, and only then consider a separately authorized comparison or pilot.
The structured workflow and engineering controls passed locally and in exact-commit GitHub CI.
Phase 4 exposed a clear governance failure. The owner approved calls, no retries and monetary ceilings; the contract prepared by the AI assistant added token ceilings without explicit owner approval, and the 12,000 ceiling became decisive.
The token check happened after the response, so it could stop later calls but not the first call’s use. The dollar ceilings were recorded, but available pricing and billing data could not enforce or prove actual cost.
The fail-closed stop and evidence preservation worked. Phase 4 remains deliberately frozen, and quality remains unmeasured because no business task or quality comparison ran.
The future mechanism must be imperative in decision: verify owner approval and rule provenance, calculate an adaptive allowance from approved inputs, explain it, and stop before an external call when authority is missing.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WI">
    <p:bg>
      <p:bgPr>
        <a:solidFill>
          <a:srgbClr val="F7F9FB"/>
        </a:solidFill>
      </p:bgPr>
    </p:bg>
    <p:spTree>
      <p:nvGrpSpPr>
        <p:cNvPr id="1" name=""/>
        <p:cNvGrpSpPr/>
        <p:nvPr/>
      </p:nvGrpSpPr>
      <p:grpSpPr>
        <a:xfrm>
          <a:off x="0" y="0"/>
          <a:ext cx="0" cy="0"/>
          <a:chOff x="0" y="0"/>
          <a:chExt cx="0" cy="0"/>
        </a:xfrm>
      </p:grpSpPr>
      <p:sp>
        <p:nvSpPr>
          <p:cNvPr id="2" name="Shape 0"/>
          <p:cNvSpPr/>
          <p:nvPr/>
        </p:nvSpPr>
        <p:spPr>
          <a:xfrm>
            <a:off x="530352" y="6437376"/>
            <a:ext cx="11082528" cy="0"/>
          </a:xfrm>
          <a:prstGeom prst="line">
            <a:avLst/>
          </a:prstGeom>
          <a:noFill/>
          <a:ln w="8890">
            <a:solidFill>
              <a:srgbClr val="D8DEE7"/>
            </a:solidFill>
            <a:prstDash val="solid"/>
          </a:ln>
        </p:spPr>
      </p:sp>
      <p:sp>
        <p:nvSpPr>
          <p:cNvPr id="3" name="Text 1"/>
          <p:cNvSpPr/>
          <p:nvPr/>
        </p:nvSpPr>
        <p:spPr>
          <a:xfrm>
            <a:off x="585216" y="6492240"/>
            <a:ext cx="5212080" cy="146304"/>
          </a:xfrm>
          <a:prstGeom prst="rect">
            <a:avLst/>
          </a:prstGeom>
          <a:noFill/>
          <a:ln/>
        </p:spPr>
        <p:txBody>
          <a:bodyPr wrap="square" lIns="0" tIns="0" rIns="0" bIns="0" rtlCol="0" anchor="ctr"/>
          <a:lstStyle/>
          <a:p>
            <a:pPr indent="0" marL="0">
              <a:buNone/>
            </a:pPr>
            <a:r>
              <a:rPr lang="en-US" sz="780" b="1" spc="70" kern="0" dirty="0">
                <a:solidFill>
                  <a:srgbClr val="667085"/>
                </a:solidFill>
                <a:latin typeface="Aptos" pitchFamily="34" charset="0"/>
                <a:ea typeface="Aptos" pitchFamily="34" charset="-122"/>
                <a:cs typeface="Aptos" pitchFamily="34" charset="-120"/>
              </a:rPr>
              <a:t>DWI  •  MANAGEMENT DEMO IN PLAIN LANGUAGE</a:t>
            </a:r>
            <a:endParaRPr lang="en-US" sz="780" dirty="0"/>
          </a:p>
        </p:txBody>
      </p:sp>
      <p:sp>
        <p:nvSpPr>
          <p:cNvPr id="4" name="Text 2"/>
          <p:cNvSpPr/>
          <p:nvPr/>
        </p:nvSpPr>
        <p:spPr>
          <a:xfrm>
            <a:off x="9802368" y="6492240"/>
            <a:ext cx="1755648" cy="146304"/>
          </a:xfrm>
          <a:prstGeom prst="rect">
            <a:avLst/>
          </a:prstGeom>
          <a:noFill/>
          <a:ln/>
        </p:spPr>
        <p:txBody>
          <a:bodyPr wrap="square" lIns="0" tIns="0" rIns="0" bIns="0" rtlCol="0" anchor="ctr"/>
          <a:lstStyle/>
          <a:p>
            <a:pPr algn="r" indent="0" marL="0">
              <a:buNone/>
            </a:pPr>
            <a:r>
              <a:rPr lang="en-US" sz="780" dirty="0">
                <a:solidFill>
                  <a:srgbClr val="667085"/>
                </a:solidFill>
                <a:latin typeface="Aptos" pitchFamily="34" charset="0"/>
                <a:ea typeface="Aptos" pitchFamily="34" charset="-122"/>
                <a:cs typeface="Aptos" pitchFamily="34" charset="-120"/>
              </a:rPr>
              <a:t>01 SEP 2026</a:t>
            </a:r>
            <a:endParaRPr lang="en-US" sz="780" dirty="0"/>
          </a:p>
        </p:txBody>
      </p:sp>
      <p:sp>
        <p:nvSpPr>
          <p:cNvPr id="25" name="Slide Number Placeholder 0"/>
          <p:cNvSpPr>
            <a:spLocks noGrp="1"/>
          </p:cNvSpPr>
          <p:nvPr>
            <p:ph type="sldNum" sz="quarter" idx="4294967295"/>
          </p:nvPr>
        </p:nvSpPr>
        <p:spPr>
          <a:xfrm>
            <a:off x="11658600" y="6492240"/>
            <a:ext cx="800000" cy="300000"/>
          </a:xfrm>
          <a:prstGeom prst="rect">
            <a:avLst/>
          </a:prstGeom>
          <a:extLst>
            <a:ext uri="{C572A759-6A51-4108-AA02-DFA0A04FC94B}">
              <ma14:wrappingTextBoxFlag xmlns:ma14="http://schemas.microsoft.com/office/mac/drawingml/2011/main" val="0"/>
            </a:ext>
          </a:extLst>
        </p:spPr>
        <p:txBody>
          <a:bodyPr/>
          <a:lstStyle>
            <a:lvl1pPr>
              <a:defRPr sz="780">
                <a:solidFill>
                  <a:srgbClr val="667085"/>
                </a:solidFill>
                <a:latin typeface="Aptos"/>
                <a:ea typeface="Aptos"/>
                <a:cs typeface="Aptos"/>
              </a:defRPr>
            </a:lvl1pPr>
          </a:lstStyle>
          <a:p>
            <a:pPr algn="l"/>
            <a:fld id="{F7021451-1387-4CA6-816F-3879F97B5CBC}" type="slidenum">
              <a:rPr b="0" lang="en-US"/>
              <a:t>1002</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658600" y="6492240"/>
            <a:ext cx="800000" cy="300000"/>
          </a:xfrm>
          <a:prstGeom prst="rect">
            <a:avLst/>
          </a:prstGeom>
          <a:extLst>
            <a:ext uri="{C572A759-6A51-4108-AA02-DFA0A04FC94B}">
              <ma14:wrappingTextBoxFlag xmlns:ma14="http://schemas.microsoft.com/office/mac/drawingml/2011/main" val="0"/>
            </a:ext>
          </a:extLst>
        </p:spPr>
        <p:txBody>
          <a:bodyPr/>
          <a:lstStyle>
            <a:lvl1pPr>
              <a:defRPr sz="780">
                <a:solidFill>
                  <a:srgbClr val="667085"/>
                </a:solidFill>
                <a:latin typeface="Aptos"/>
                <a:ea typeface="Aptos"/>
                <a:cs typeface="Aptos"/>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253D"/>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E253D"/>
          </a:solidFill>
          <a:ln w="12700">
            <a:solidFill>
              <a:srgbClr val="0E253D"/>
            </a:solidFill>
            <a:prstDash val="solid"/>
          </a:ln>
        </p:spPr>
      </p:sp>
      <p:sp>
        <p:nvSpPr>
          <p:cNvPr id="3" name="Shape 1"/>
          <p:cNvSpPr/>
          <p:nvPr/>
        </p:nvSpPr>
        <p:spPr>
          <a:xfrm rot="1080000">
            <a:off x="7498080" y="-1051560"/>
            <a:ext cx="6126480" cy="6126480"/>
          </a:xfrm>
          <a:prstGeom prst="arc">
            <a:avLst/>
          </a:prstGeom>
          <a:solidFill>
            <a:srgbClr val="007F80">
              <a:alpha val="84000"/>
            </a:srgbClr>
          </a:solidFill>
          <a:ln w="12700">
            <a:solidFill>
              <a:srgbClr val="007F80">
                <a:alpha val="0"/>
              </a:srgbClr>
            </a:solidFill>
            <a:prstDash val="solid"/>
          </a:ln>
        </p:spPr>
      </p:sp>
      <p:sp>
        <p:nvSpPr>
          <p:cNvPr id="4" name="Shape 2"/>
          <p:cNvSpPr/>
          <p:nvPr/>
        </p:nvSpPr>
        <p:spPr>
          <a:xfrm rot="12300000">
            <a:off x="8503920" y="1353312"/>
            <a:ext cx="4389120" cy="4389120"/>
          </a:xfrm>
          <a:prstGeom prst="arc">
            <a:avLst/>
          </a:prstGeom>
          <a:solidFill>
            <a:srgbClr val="21A7B7">
              <a:alpha val="60000"/>
            </a:srgbClr>
          </a:solidFill>
          <a:ln w="12700">
            <a:solidFill>
              <a:srgbClr val="21A7B7">
                <a:alpha val="0"/>
              </a:srgbClr>
            </a:solidFill>
            <a:prstDash val="solid"/>
          </a:ln>
        </p:spPr>
      </p:sp>
      <p:sp>
        <p:nvSpPr>
          <p:cNvPr id="5" name="Shape 3"/>
          <p:cNvSpPr/>
          <p:nvPr/>
        </p:nvSpPr>
        <p:spPr>
          <a:xfrm>
            <a:off x="676656" y="603504"/>
            <a:ext cx="3794760" cy="292608"/>
          </a:xfrm>
          <a:prstGeom prst="roundRect">
            <a:avLst>
              <a:gd name="adj" fmla="val 50000"/>
            </a:avLst>
          </a:prstGeom>
          <a:solidFill>
            <a:srgbClr val="29475F"/>
          </a:solidFill>
          <a:ln w="12700">
            <a:solidFill>
              <a:srgbClr val="29475F"/>
            </a:solidFill>
            <a:prstDash val="solid"/>
          </a:ln>
        </p:spPr>
      </p:sp>
      <p:sp>
        <p:nvSpPr>
          <p:cNvPr id="6" name="Text 4"/>
          <p:cNvSpPr txBox="1"/>
          <p:nvPr/>
        </p:nvSpPr>
        <p:spPr>
          <a:xfrm>
            <a:off x="740664" y="621792"/>
            <a:ext cx="3666744" cy="228600"/>
          </a:xfrm>
          <a:prstGeom prst="rect">
            <a:avLst/>
          </a:prstGeom>
          <a:noFill/>
          <a:ln/>
        </p:spPr>
        <p:txBody>
          <a:bodyPr wrap="square" lIns="0" tIns="0" rIns="0" bIns="0" rtlCol="0" anchor="ctr">
            <a:normAutofit/>
          </a:bodyPr>
          <a:lstStyle/>
          <a:p>
            <a:pPr algn="ctr" indent="0" marL="0">
              <a:buNone/>
            </a:pPr>
            <a:r>
              <a:rPr lang="en-US" sz="920" b="1" spc="40" kern="0" dirty="0">
                <a:solidFill>
                  <a:srgbClr val="B9D85C"/>
                </a:solidFill>
                <a:latin typeface="Aptos" pitchFamily="34" charset="0"/>
                <a:ea typeface="Aptos" pitchFamily="34" charset="-122"/>
                <a:cs typeface="Aptos" pitchFamily="34" charset="-120"/>
              </a:rPr>
              <a:t>WORKING PROOF OF CONCEPT + FUTURE DIRECTION</a:t>
            </a:r>
            <a:endParaRPr lang="en-US" sz="920" dirty="0"/>
          </a:p>
        </p:txBody>
      </p:sp>
      <p:sp>
        <p:nvSpPr>
          <p:cNvPr id="7" name="Text 5"/>
          <p:cNvSpPr txBox="1"/>
          <p:nvPr/>
        </p:nvSpPr>
        <p:spPr>
          <a:xfrm>
            <a:off x="676656" y="1353312"/>
            <a:ext cx="7315200" cy="1426464"/>
          </a:xfrm>
          <a:prstGeom prst="rect">
            <a:avLst/>
          </a:prstGeom>
          <a:noFill/>
          <a:ln/>
        </p:spPr>
        <p:txBody>
          <a:bodyPr wrap="square" lIns="0" tIns="0" rIns="0" bIns="0" rtlCol="0" anchor="t">
            <a:normAutofit/>
          </a:bodyPr>
          <a:lstStyle/>
          <a:p>
            <a:pPr algn="l" indent="0" marL="0">
              <a:buNone/>
            </a:pPr>
            <a:r>
              <a:rPr lang="en-US" sz="3350" b="1" dirty="0">
                <a:solidFill>
                  <a:srgbClr val="FFFFFF"/>
                </a:solidFill>
                <a:latin typeface="Aptos" pitchFamily="34" charset="0"/>
                <a:ea typeface="Aptos" pitchFamily="34" charset="-122"/>
                <a:cs typeface="Aptos" pitchFamily="34" charset="-120"/>
              </a:rPr>
              <a:t>A safer, more consistent way to use AI</a:t>
            </a:r>
            <a:endParaRPr lang="en-US" sz="3350" dirty="0"/>
          </a:p>
          <a:p>
            <a:pPr algn="l" indent="0" marL="0">
              <a:buNone/>
            </a:pPr>
            <a:r>
              <a:rPr lang="en-US" sz="3350" b="1" dirty="0">
                <a:solidFill>
                  <a:srgbClr val="FFFFFF"/>
                </a:solidFill>
                <a:latin typeface="Aptos" pitchFamily="34" charset="0"/>
                <a:ea typeface="Aptos" pitchFamily="34" charset="-122"/>
                <a:cs typeface="Aptos" pitchFamily="34" charset="-120"/>
              </a:rPr>
              <a:t>across software delivery</a:t>
            </a:r>
            <a:endParaRPr lang="en-US" sz="3350" dirty="0"/>
          </a:p>
        </p:txBody>
      </p:sp>
      <p:sp>
        <p:nvSpPr>
          <p:cNvPr id="8" name="Text 6"/>
          <p:cNvSpPr txBox="1"/>
          <p:nvPr/>
        </p:nvSpPr>
        <p:spPr>
          <a:xfrm>
            <a:off x="694944" y="3090672"/>
            <a:ext cx="7040880" cy="1298448"/>
          </a:xfrm>
          <a:prstGeom prst="rect">
            <a:avLst/>
          </a:prstGeom>
          <a:noFill/>
          <a:ln/>
        </p:spPr>
        <p:txBody>
          <a:bodyPr wrap="square" lIns="0" tIns="0" rIns="0" bIns="0" rtlCol="0" anchor="t">
            <a:normAutofit/>
          </a:bodyPr>
          <a:lstStyle/>
          <a:p>
            <a:pPr algn="l" indent="0" marL="0">
              <a:buNone/>
            </a:pPr>
            <a:r>
              <a:rPr lang="en-US" sz="1620" dirty="0">
                <a:solidFill>
                  <a:srgbClr val="C1EBEE"/>
                </a:solidFill>
                <a:latin typeface="Aptos" pitchFamily="34" charset="0"/>
                <a:ea typeface="Aptos" pitchFamily="34" charset="-122"/>
                <a:cs typeface="Aptos" pitchFamily="34" charset="-120"/>
              </a:rPr>
              <a:t>Today: approved project knowledge, clear task inputs and human review.</a:t>
            </a:r>
            <a:endParaRPr lang="en-US" sz="1620" dirty="0"/>
          </a:p>
          <a:p>
            <a:pPr algn="l" indent="0" marL="0">
              <a:buNone/>
            </a:pPr>
            <a:r>
              <a:rPr lang="en-US" sz="1620" dirty="0">
                <a:solidFill>
                  <a:srgbClr val="C1EBEE"/>
                </a:solidFill>
                <a:latin typeface="Aptos" pitchFamily="34" charset="0"/>
                <a:ea typeface="Aptos" pitchFamily="34" charset="-122"/>
                <a:cs typeface="Aptos" pitchFamily="34" charset="-120"/>
              </a:rPr>
              <a:t>Phase 4: clear decision-governance failure—an unapproved limit governed the run; quality remains unmeasured.</a:t>
            </a:r>
            <a:endParaRPr lang="en-US" sz="1620" dirty="0"/>
          </a:p>
          <a:p>
            <a:pPr algn="l" indent="0" marL="0">
              <a:buNone/>
            </a:pPr>
            <a:r>
              <a:rPr lang="en-US" sz="1620" dirty="0">
                <a:solidFill>
                  <a:srgbClr val="C1EBEE"/>
                </a:solidFill>
                <a:latin typeface="Aptos" pitchFamily="34" charset="0"/>
                <a:ea typeface="Aptos" pitchFamily="34" charset="-122"/>
                <a:cs typeface="Aptos" pitchFamily="34" charset="-120"/>
              </a:rPr>
              <a:t>Future: approval-led AI allowances and privacy-safe feedback.</a:t>
            </a:r>
            <a:endParaRPr lang="en-US" sz="1620" dirty="0"/>
          </a:p>
        </p:txBody>
      </p:sp>
      <p:sp>
        <p:nvSpPr>
          <p:cNvPr id="9" name="Text 7"/>
          <p:cNvSpPr txBox="1"/>
          <p:nvPr/>
        </p:nvSpPr>
        <p:spPr>
          <a:xfrm>
            <a:off x="694944" y="5961888"/>
            <a:ext cx="2743200" cy="237744"/>
          </a:xfrm>
          <a:prstGeom prst="rect">
            <a:avLst/>
          </a:prstGeom>
          <a:noFill/>
          <a:ln/>
        </p:spPr>
        <p:txBody>
          <a:bodyPr wrap="square" lIns="0" tIns="0" rIns="0" bIns="0" rtlCol="0" anchor="ctr">
            <a:normAutofit/>
          </a:bodyPr>
          <a:lstStyle/>
          <a:p>
            <a:pPr algn="l" indent="0" marL="0">
              <a:buNone/>
            </a:pPr>
            <a:r>
              <a:rPr lang="en-US" sz="1000" b="1" spc="110" kern="0" dirty="0">
                <a:solidFill>
                  <a:srgbClr val="9EB4C5"/>
                </a:solidFill>
                <a:latin typeface="Aptos" pitchFamily="34" charset="0"/>
                <a:ea typeface="Aptos" pitchFamily="34" charset="-122"/>
                <a:cs typeface="Aptos" pitchFamily="34" charset="-120"/>
              </a:rPr>
              <a:t>DWI PROMPT OPTIMIZER</a:t>
            </a:r>
            <a:endParaRPr lang="en-US" sz="1000" dirty="0"/>
          </a:p>
        </p:txBody>
      </p:sp>
      <p:sp>
        <p:nvSpPr>
          <p:cNvPr id="10" name="Text 8"/>
          <p:cNvSpPr txBox="1"/>
          <p:nvPr/>
        </p:nvSpPr>
        <p:spPr>
          <a:xfrm>
            <a:off x="8641080" y="5961888"/>
            <a:ext cx="2743200" cy="237744"/>
          </a:xfrm>
          <a:prstGeom prst="rect">
            <a:avLst/>
          </a:prstGeom>
          <a:noFill/>
          <a:ln/>
        </p:spPr>
        <p:txBody>
          <a:bodyPr wrap="square" lIns="0" tIns="0" rIns="0" bIns="0" rtlCol="0" anchor="ctr">
            <a:normAutofit/>
          </a:bodyPr>
          <a:lstStyle/>
          <a:p>
            <a:pPr algn="r" indent="0" marL="0">
              <a:buNone/>
            </a:pPr>
            <a:r>
              <a:rPr lang="en-US" sz="1000" b="1" spc="90" kern="0" dirty="0">
                <a:solidFill>
                  <a:srgbClr val="9EB4C5"/>
                </a:solidFill>
                <a:latin typeface="Aptos" pitchFamily="34" charset="0"/>
                <a:ea typeface="Aptos" pitchFamily="34" charset="-122"/>
                <a:cs typeface="Aptos" pitchFamily="34" charset="-120"/>
              </a:rPr>
              <a:t>MANAGEMENT BRIEF  •  FINAL</a:t>
            </a:r>
            <a:endParaRPr lang="en-US" sz="1000" dirty="0"/>
          </a:p>
        </p:txBody>
      </p:sp>
      <p:sp>
        <p:nvSpPr>
          <p:cNvPr id="25" name="Slide Number Placeholder 0"/>
          <p:cNvSpPr>
            <a:spLocks noGrp="1"/>
          </p:cNvSpPr>
          <p:nvPr>
            <p:ph type="sldNum" sz="quarter" idx="4294967295"/>
          </p:nvPr>
        </p:nvSpPr>
        <p:spPr>
          <a:xfrm>
            <a:off x="11658600" y="6492240"/>
            <a:ext cx="800000" cy="300000"/>
          </a:xfrm>
          <a:prstGeom prst="rect">
            <a:avLst/>
          </a:prstGeom>
          <a:extLst>
            <a:ext uri="{C572A759-6A51-4108-AA02-DFA0A04FC94B}">
              <ma14:wrappingTextBoxFlag xmlns:ma14="http://schemas.microsoft.com/office/mac/drawingml/2011/main" val="0"/>
            </a:ext>
          </a:extLst>
        </p:spPr>
        <p:txBody>
          <a:bodyPr/>
          <a:lstStyle>
            <a:lvl1pPr>
              <a:defRPr sz="780">
                <a:solidFill>
                  <a:srgbClr val="667085"/>
                </a:solidFill>
                <a:latin typeface="Aptos"/>
                <a:ea typeface="Aptos"/>
                <a:cs typeface="Aptos"/>
              </a:defRPr>
            </a:lvl1pPr>
          </a:lstStyle>
          <a:p>
            <a:pPr algn="l"/>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603504" y="310896"/>
            <a:ext cx="5120640" cy="219456"/>
          </a:xfrm>
          <a:prstGeom prst="rect">
            <a:avLst/>
          </a:prstGeom>
          <a:noFill/>
          <a:ln/>
        </p:spPr>
        <p:txBody>
          <a:bodyPr wrap="square" lIns="0" tIns="0" rIns="0" bIns="0" rtlCol="0" anchor="ctr">
            <a:normAutofit/>
          </a:bodyPr>
          <a:lstStyle/>
          <a:p>
            <a:pPr algn="l" indent="0" marL="0">
              <a:buNone/>
            </a:pPr>
            <a:r>
              <a:rPr lang="en-US" sz="950" b="1" spc="120" kern="0" dirty="0">
                <a:solidFill>
                  <a:srgbClr val="007F80"/>
                </a:solidFill>
                <a:latin typeface="Aptos" pitchFamily="34" charset="0"/>
                <a:ea typeface="Aptos" pitchFamily="34" charset="-122"/>
                <a:cs typeface="Aptos" pitchFamily="34" charset="-120"/>
              </a:rPr>
              <a:t>THE MANAGEMENT CHALLENGE</a:t>
            </a:r>
            <a:endParaRPr lang="en-US" sz="950" dirty="0"/>
          </a:p>
        </p:txBody>
      </p:sp>
      <p:sp>
        <p:nvSpPr>
          <p:cNvPr id="3" name="Text 1"/>
          <p:cNvSpPr txBox="1"/>
          <p:nvPr/>
        </p:nvSpPr>
        <p:spPr>
          <a:xfrm>
            <a:off x="603504" y="603504"/>
            <a:ext cx="10972800" cy="548640"/>
          </a:xfrm>
          <a:prstGeom prst="rect">
            <a:avLst/>
          </a:prstGeom>
          <a:noFill/>
          <a:ln/>
        </p:spPr>
        <p:txBody>
          <a:bodyPr wrap="square" lIns="0" tIns="0" rIns="0" bIns="0" rtlCol="0" anchor="ctr">
            <a:normAutofit/>
          </a:bodyPr>
          <a:lstStyle/>
          <a:p>
            <a:pPr algn="l" indent="0" marL="0">
              <a:buNone/>
            </a:pPr>
            <a:r>
              <a:rPr lang="en-US" sz="2750" b="1" dirty="0">
                <a:solidFill>
                  <a:srgbClr val="172033"/>
                </a:solidFill>
                <a:latin typeface="Aptos" pitchFamily="34" charset="0"/>
                <a:ea typeface="Aptos" pitchFamily="34" charset="-122"/>
                <a:cs typeface="Aptos" pitchFamily="34" charset="-120"/>
              </a:rPr>
              <a:t>AI use is growing faster than shared ways of working</a:t>
            </a:r>
            <a:endParaRPr lang="en-US" sz="2750" dirty="0"/>
          </a:p>
        </p:txBody>
      </p:sp>
      <p:sp>
        <p:nvSpPr>
          <p:cNvPr id="4" name="Text 2"/>
          <p:cNvSpPr txBox="1"/>
          <p:nvPr/>
        </p:nvSpPr>
        <p:spPr>
          <a:xfrm>
            <a:off x="603504" y="1170432"/>
            <a:ext cx="10927080" cy="365760"/>
          </a:xfrm>
          <a:prstGeom prst="rect">
            <a:avLst/>
          </a:prstGeom>
          <a:noFill/>
          <a:ln/>
        </p:spPr>
        <p:txBody>
          <a:bodyPr wrap="square" lIns="0" tIns="0" rIns="0" bIns="0" rtlCol="0" anchor="ctr">
            <a:normAutofit/>
          </a:bodyPr>
          <a:lstStyle/>
          <a:p>
            <a:pPr algn="l" indent="0" marL="0">
              <a:buNone/>
            </a:pPr>
            <a:r>
              <a:rPr lang="en-US" sz="1350" dirty="0">
                <a:solidFill>
                  <a:srgbClr val="667085"/>
                </a:solidFill>
                <a:latin typeface="Aptos" pitchFamily="34" charset="0"/>
                <a:ea typeface="Aptos" pitchFamily="34" charset="-122"/>
                <a:cs typeface="Aptos" pitchFamily="34" charset="-120"/>
              </a:rPr>
              <a:t>Without a common approach, delivery groups repeat background information, get uneven results and lack feedback leaders can act on.</a:t>
            </a:r>
            <a:endParaRPr lang="en-US" sz="1350" dirty="0"/>
          </a:p>
        </p:txBody>
      </p:sp>
      <p:sp>
        <p:nvSpPr>
          <p:cNvPr id="5" name="Shape 3"/>
          <p:cNvSpPr/>
          <p:nvPr/>
        </p:nvSpPr>
        <p:spPr>
          <a:xfrm>
            <a:off x="640080" y="1773936"/>
            <a:ext cx="5276088" cy="1536192"/>
          </a:xfrm>
          <a:prstGeom prst="roundRect">
            <a:avLst>
              <a:gd name="adj" fmla="val 4762"/>
            </a:avLst>
          </a:prstGeom>
          <a:solidFill>
            <a:srgbClr val="FFFFFF"/>
          </a:solidFill>
          <a:ln w="10160">
            <a:solidFill>
              <a:srgbClr val="D8DEE7"/>
            </a:solidFill>
            <a:prstDash val="solid"/>
          </a:ln>
        </p:spPr>
      </p:sp>
      <p:sp>
        <p:nvSpPr>
          <p:cNvPr id="6" name="Shape 4"/>
          <p:cNvSpPr/>
          <p:nvPr/>
        </p:nvSpPr>
        <p:spPr>
          <a:xfrm>
            <a:off x="640080" y="1773936"/>
            <a:ext cx="73152" cy="1536192"/>
          </a:xfrm>
          <a:prstGeom prst="rect">
            <a:avLst/>
          </a:prstGeom>
          <a:solidFill>
            <a:srgbClr val="007F80"/>
          </a:solidFill>
          <a:ln w="12700">
            <a:solidFill>
              <a:srgbClr val="007F80"/>
            </a:solidFill>
            <a:prstDash val="solid"/>
          </a:ln>
        </p:spPr>
      </p:sp>
      <p:sp>
        <p:nvSpPr>
          <p:cNvPr id="7" name="Text 5"/>
          <p:cNvSpPr txBox="1"/>
          <p:nvPr/>
        </p:nvSpPr>
        <p:spPr>
          <a:xfrm>
            <a:off x="886968" y="1956816"/>
            <a:ext cx="4818888" cy="201168"/>
          </a:xfrm>
          <a:prstGeom prst="rect">
            <a:avLst/>
          </a:prstGeom>
          <a:noFill/>
          <a:ln/>
        </p:spPr>
        <p:txBody>
          <a:bodyPr wrap="square" lIns="0" tIns="0" rIns="0" bIns="0" rtlCol="0" anchor="ctr">
            <a:normAutofit/>
          </a:bodyPr>
          <a:lstStyle/>
          <a:p>
            <a:pPr algn="l" indent="0" marL="0">
              <a:buNone/>
            </a:pPr>
            <a:r>
              <a:rPr lang="en-US" sz="880" b="1" spc="70" kern="0" dirty="0">
                <a:solidFill>
                  <a:srgbClr val="007F80"/>
                </a:solidFill>
                <a:latin typeface="Aptos" pitchFamily="34" charset="0"/>
                <a:ea typeface="Aptos" pitchFamily="34" charset="-122"/>
                <a:cs typeface="Aptos" pitchFamily="34" charset="-120"/>
              </a:rPr>
              <a:t>CONTEXT</a:t>
            </a:r>
            <a:endParaRPr lang="en-US" sz="880" dirty="0"/>
          </a:p>
        </p:txBody>
      </p:sp>
      <p:sp>
        <p:nvSpPr>
          <p:cNvPr id="8" name="Text 6"/>
          <p:cNvSpPr txBox="1"/>
          <p:nvPr/>
        </p:nvSpPr>
        <p:spPr>
          <a:xfrm>
            <a:off x="886968" y="2240280"/>
            <a:ext cx="4800600" cy="338328"/>
          </a:xfrm>
          <a:prstGeom prst="rect">
            <a:avLst/>
          </a:prstGeom>
          <a:noFill/>
          <a:ln/>
        </p:spPr>
        <p:txBody>
          <a:bodyPr wrap="square" lIns="0" tIns="0" rIns="0" bIns="0" rtlCol="0" anchor="ctr">
            <a:normAutofit/>
          </a:bodyPr>
          <a:lstStyle/>
          <a:p>
            <a:pPr algn="l" indent="0" marL="0">
              <a:buNone/>
            </a:pPr>
            <a:r>
              <a:rPr lang="en-US" sz="1650" b="1" dirty="0">
                <a:solidFill>
                  <a:srgbClr val="172033"/>
                </a:solidFill>
                <a:latin typeface="Aptos" pitchFamily="34" charset="0"/>
                <a:ea typeface="Aptos" pitchFamily="34" charset="-122"/>
                <a:cs typeface="Aptos" pitchFamily="34" charset="-120"/>
              </a:rPr>
              <a:t>Repeated setup</a:t>
            </a:r>
            <a:endParaRPr lang="en-US" sz="1650" dirty="0"/>
          </a:p>
        </p:txBody>
      </p:sp>
      <p:sp>
        <p:nvSpPr>
          <p:cNvPr id="9" name="Text 7"/>
          <p:cNvSpPr txBox="1"/>
          <p:nvPr/>
        </p:nvSpPr>
        <p:spPr>
          <a:xfrm>
            <a:off x="886968" y="2651760"/>
            <a:ext cx="4800600" cy="493776"/>
          </a:xfrm>
          <a:prstGeom prst="rect">
            <a:avLst/>
          </a:prstGeom>
          <a:noFill/>
          <a:ln/>
        </p:spPr>
        <p:txBody>
          <a:bodyPr wrap="square" lIns="0" tIns="0" rIns="0" bIns="0" rtlCol="0" anchor="t">
            <a:normAutofit/>
          </a:bodyPr>
          <a:lstStyle/>
          <a:p>
            <a:pPr algn="l" indent="0" marL="0">
              <a:buNone/>
            </a:pPr>
            <a:r>
              <a:rPr lang="en-US" sz="1180" dirty="0">
                <a:solidFill>
                  <a:srgbClr val="667085"/>
                </a:solidFill>
                <a:latin typeface="Aptos" pitchFamily="34" charset="0"/>
                <a:ea typeface="Aptos" pitchFamily="34" charset="-122"/>
                <a:cs typeface="Aptos" pitchFamily="34" charset="-120"/>
              </a:rPr>
              <a:t>Developers explain the same project background again for every task and tool.</a:t>
            </a:r>
            <a:endParaRPr lang="en-US" sz="1180" dirty="0"/>
          </a:p>
        </p:txBody>
      </p:sp>
      <p:sp>
        <p:nvSpPr>
          <p:cNvPr id="10" name="Shape 8"/>
          <p:cNvSpPr/>
          <p:nvPr/>
        </p:nvSpPr>
        <p:spPr>
          <a:xfrm>
            <a:off x="6236208" y="1773936"/>
            <a:ext cx="5276088" cy="1536192"/>
          </a:xfrm>
          <a:prstGeom prst="roundRect">
            <a:avLst>
              <a:gd name="adj" fmla="val 4762"/>
            </a:avLst>
          </a:prstGeom>
          <a:solidFill>
            <a:srgbClr val="FFFFFF"/>
          </a:solidFill>
          <a:ln w="10160">
            <a:solidFill>
              <a:srgbClr val="D8DEE7"/>
            </a:solidFill>
            <a:prstDash val="solid"/>
          </a:ln>
        </p:spPr>
      </p:sp>
      <p:sp>
        <p:nvSpPr>
          <p:cNvPr id="11" name="Shape 9"/>
          <p:cNvSpPr/>
          <p:nvPr/>
        </p:nvSpPr>
        <p:spPr>
          <a:xfrm>
            <a:off x="6236208" y="1773936"/>
            <a:ext cx="73152" cy="1536192"/>
          </a:xfrm>
          <a:prstGeom prst="rect">
            <a:avLst/>
          </a:prstGeom>
          <a:solidFill>
            <a:srgbClr val="B94A48"/>
          </a:solidFill>
          <a:ln w="12700">
            <a:solidFill>
              <a:srgbClr val="B94A48"/>
            </a:solidFill>
            <a:prstDash val="solid"/>
          </a:ln>
        </p:spPr>
      </p:sp>
      <p:sp>
        <p:nvSpPr>
          <p:cNvPr id="12" name="Text 10"/>
          <p:cNvSpPr txBox="1"/>
          <p:nvPr/>
        </p:nvSpPr>
        <p:spPr>
          <a:xfrm>
            <a:off x="6483096" y="1956816"/>
            <a:ext cx="4818888" cy="201168"/>
          </a:xfrm>
          <a:prstGeom prst="rect">
            <a:avLst/>
          </a:prstGeom>
          <a:noFill/>
          <a:ln/>
        </p:spPr>
        <p:txBody>
          <a:bodyPr wrap="square" lIns="0" tIns="0" rIns="0" bIns="0" rtlCol="0" anchor="ctr">
            <a:normAutofit/>
          </a:bodyPr>
          <a:lstStyle/>
          <a:p>
            <a:pPr algn="l" indent="0" marL="0">
              <a:buNone/>
            </a:pPr>
            <a:r>
              <a:rPr lang="en-US" sz="880" b="1" spc="70" kern="0" dirty="0">
                <a:solidFill>
                  <a:srgbClr val="B94A48"/>
                </a:solidFill>
                <a:latin typeface="Aptos" pitchFamily="34" charset="0"/>
                <a:ea typeface="Aptos" pitchFamily="34" charset="-122"/>
                <a:cs typeface="Aptos" pitchFamily="34" charset="-120"/>
              </a:rPr>
              <a:t>QUALITY</a:t>
            </a:r>
            <a:endParaRPr lang="en-US" sz="880" dirty="0"/>
          </a:p>
        </p:txBody>
      </p:sp>
      <p:sp>
        <p:nvSpPr>
          <p:cNvPr id="13" name="Text 11"/>
          <p:cNvSpPr txBox="1"/>
          <p:nvPr/>
        </p:nvSpPr>
        <p:spPr>
          <a:xfrm>
            <a:off x="6483096" y="2240280"/>
            <a:ext cx="4800600" cy="338328"/>
          </a:xfrm>
          <a:prstGeom prst="rect">
            <a:avLst/>
          </a:prstGeom>
          <a:noFill/>
          <a:ln/>
        </p:spPr>
        <p:txBody>
          <a:bodyPr wrap="square" lIns="0" tIns="0" rIns="0" bIns="0" rtlCol="0" anchor="ctr">
            <a:normAutofit/>
          </a:bodyPr>
          <a:lstStyle/>
          <a:p>
            <a:pPr algn="l" indent="0" marL="0">
              <a:buNone/>
            </a:pPr>
            <a:r>
              <a:rPr lang="en-US" sz="1650" b="1" dirty="0">
                <a:solidFill>
                  <a:srgbClr val="172033"/>
                </a:solidFill>
                <a:latin typeface="Aptos" pitchFamily="34" charset="0"/>
                <a:ea typeface="Aptos" pitchFamily="34" charset="-122"/>
                <a:cs typeface="Aptos" pitchFamily="34" charset="-120"/>
              </a:rPr>
              <a:t>Uneven results</a:t>
            </a:r>
            <a:endParaRPr lang="en-US" sz="1650" dirty="0"/>
          </a:p>
        </p:txBody>
      </p:sp>
      <p:sp>
        <p:nvSpPr>
          <p:cNvPr id="14" name="Text 12"/>
          <p:cNvSpPr txBox="1"/>
          <p:nvPr/>
        </p:nvSpPr>
        <p:spPr>
          <a:xfrm>
            <a:off x="6483096" y="2651760"/>
            <a:ext cx="4800600" cy="493776"/>
          </a:xfrm>
          <a:prstGeom prst="rect">
            <a:avLst/>
          </a:prstGeom>
          <a:noFill/>
          <a:ln/>
        </p:spPr>
        <p:txBody>
          <a:bodyPr wrap="square" lIns="0" tIns="0" rIns="0" bIns="0" rtlCol="0" anchor="t">
            <a:normAutofit/>
          </a:bodyPr>
          <a:lstStyle/>
          <a:p>
            <a:pPr algn="l" indent="0" marL="0">
              <a:buNone/>
            </a:pPr>
            <a:r>
              <a:rPr lang="en-US" sz="1180" dirty="0">
                <a:solidFill>
                  <a:srgbClr val="667085"/>
                </a:solidFill>
                <a:latin typeface="Aptos" pitchFamily="34" charset="0"/>
                <a:ea typeface="Aptos" pitchFamily="34" charset="-122"/>
                <a:cs typeface="Aptos" pitchFamily="34" charset="-120"/>
              </a:rPr>
              <a:t>Important rules, risks and assumptions may be missed.</a:t>
            </a:r>
            <a:endParaRPr lang="en-US" sz="1180" dirty="0"/>
          </a:p>
        </p:txBody>
      </p:sp>
      <p:sp>
        <p:nvSpPr>
          <p:cNvPr id="15" name="Shape 13"/>
          <p:cNvSpPr/>
          <p:nvPr/>
        </p:nvSpPr>
        <p:spPr>
          <a:xfrm>
            <a:off x="640080" y="3675888"/>
            <a:ext cx="5276088" cy="1536192"/>
          </a:xfrm>
          <a:prstGeom prst="roundRect">
            <a:avLst>
              <a:gd name="adj" fmla="val 4762"/>
            </a:avLst>
          </a:prstGeom>
          <a:solidFill>
            <a:srgbClr val="FFFFFF"/>
          </a:solidFill>
          <a:ln w="10160">
            <a:solidFill>
              <a:srgbClr val="D8DEE7"/>
            </a:solidFill>
            <a:prstDash val="solid"/>
          </a:ln>
        </p:spPr>
      </p:sp>
      <p:sp>
        <p:nvSpPr>
          <p:cNvPr id="16" name="Shape 14"/>
          <p:cNvSpPr/>
          <p:nvPr/>
        </p:nvSpPr>
        <p:spPr>
          <a:xfrm>
            <a:off x="640080" y="3675888"/>
            <a:ext cx="73152" cy="1536192"/>
          </a:xfrm>
          <a:prstGeom prst="rect">
            <a:avLst/>
          </a:prstGeom>
          <a:solidFill>
            <a:srgbClr val="D9952A"/>
          </a:solidFill>
          <a:ln w="12700">
            <a:solidFill>
              <a:srgbClr val="D9952A"/>
            </a:solidFill>
            <a:prstDash val="solid"/>
          </a:ln>
        </p:spPr>
      </p:sp>
      <p:sp>
        <p:nvSpPr>
          <p:cNvPr id="17" name="Text 15"/>
          <p:cNvSpPr txBox="1"/>
          <p:nvPr/>
        </p:nvSpPr>
        <p:spPr>
          <a:xfrm>
            <a:off x="886968" y="3858768"/>
            <a:ext cx="4818888" cy="201168"/>
          </a:xfrm>
          <a:prstGeom prst="rect">
            <a:avLst/>
          </a:prstGeom>
          <a:noFill/>
          <a:ln/>
        </p:spPr>
        <p:txBody>
          <a:bodyPr wrap="square" lIns="0" tIns="0" rIns="0" bIns="0" rtlCol="0" anchor="ctr">
            <a:normAutofit/>
          </a:bodyPr>
          <a:lstStyle/>
          <a:p>
            <a:pPr algn="l" indent="0" marL="0">
              <a:buNone/>
            </a:pPr>
            <a:r>
              <a:rPr lang="en-US" sz="880" b="1" spc="70" kern="0" dirty="0">
                <a:solidFill>
                  <a:srgbClr val="D9952A"/>
                </a:solidFill>
                <a:latin typeface="Aptos" pitchFamily="34" charset="0"/>
                <a:ea typeface="Aptos" pitchFamily="34" charset="-122"/>
                <a:cs typeface="Aptos" pitchFamily="34" charset="-120"/>
              </a:rPr>
              <a:t>CONTROL</a:t>
            </a:r>
            <a:endParaRPr lang="en-US" sz="880" dirty="0"/>
          </a:p>
        </p:txBody>
      </p:sp>
      <p:sp>
        <p:nvSpPr>
          <p:cNvPr id="18" name="Text 16"/>
          <p:cNvSpPr txBox="1"/>
          <p:nvPr/>
        </p:nvSpPr>
        <p:spPr>
          <a:xfrm>
            <a:off x="886968" y="4142232"/>
            <a:ext cx="4800600" cy="338328"/>
          </a:xfrm>
          <a:prstGeom prst="rect">
            <a:avLst/>
          </a:prstGeom>
          <a:noFill/>
          <a:ln/>
        </p:spPr>
        <p:txBody>
          <a:bodyPr wrap="square" lIns="0" tIns="0" rIns="0" bIns="0" rtlCol="0" anchor="ctr">
            <a:normAutofit/>
          </a:bodyPr>
          <a:lstStyle/>
          <a:p>
            <a:pPr algn="l" indent="0" marL="0">
              <a:buNone/>
            </a:pPr>
            <a:r>
              <a:rPr lang="en-US" sz="1650" b="1" dirty="0">
                <a:solidFill>
                  <a:srgbClr val="172033"/>
                </a:solidFill>
                <a:latin typeface="Aptos" pitchFamily="34" charset="0"/>
                <a:ea typeface="Aptos" pitchFamily="34" charset="-122"/>
                <a:cs typeface="Aptos" pitchFamily="34" charset="-120"/>
              </a:rPr>
              <a:t>Unclear AI effort and cost</a:t>
            </a:r>
            <a:endParaRPr lang="en-US" sz="1650" dirty="0"/>
          </a:p>
        </p:txBody>
      </p:sp>
      <p:sp>
        <p:nvSpPr>
          <p:cNvPr id="19" name="Text 17"/>
          <p:cNvSpPr txBox="1"/>
          <p:nvPr/>
        </p:nvSpPr>
        <p:spPr>
          <a:xfrm>
            <a:off x="886968" y="4553712"/>
            <a:ext cx="4800600" cy="493776"/>
          </a:xfrm>
          <a:prstGeom prst="rect">
            <a:avLst/>
          </a:prstGeom>
          <a:noFill/>
          <a:ln/>
        </p:spPr>
        <p:txBody>
          <a:bodyPr wrap="square" lIns="0" tIns="0" rIns="0" bIns="0" rtlCol="0" anchor="t">
            <a:normAutofit/>
          </a:bodyPr>
          <a:lstStyle/>
          <a:p>
            <a:pPr algn="l" indent="0" marL="0">
              <a:buNone/>
            </a:pPr>
            <a:r>
              <a:rPr lang="en-US" sz="1180" dirty="0">
                <a:solidFill>
                  <a:srgbClr val="667085"/>
                </a:solidFill>
                <a:latin typeface="Aptos" pitchFamily="34" charset="0"/>
                <a:ea typeface="Aptos" pitchFamily="34" charset="-122"/>
                <a:cs typeface="Aptos" pitchFamily="34" charset="-120"/>
              </a:rPr>
              <a:t>Task priority and complexity are not linked to a planned AI allowance.</a:t>
            </a:r>
            <a:endParaRPr lang="en-US" sz="1180" dirty="0"/>
          </a:p>
        </p:txBody>
      </p:sp>
      <p:sp>
        <p:nvSpPr>
          <p:cNvPr id="20" name="Shape 18"/>
          <p:cNvSpPr/>
          <p:nvPr/>
        </p:nvSpPr>
        <p:spPr>
          <a:xfrm>
            <a:off x="6236208" y="3675888"/>
            <a:ext cx="5276088" cy="1536192"/>
          </a:xfrm>
          <a:prstGeom prst="roundRect">
            <a:avLst>
              <a:gd name="adj" fmla="val 4762"/>
            </a:avLst>
          </a:prstGeom>
          <a:solidFill>
            <a:srgbClr val="FFFFFF"/>
          </a:solidFill>
          <a:ln w="10160">
            <a:solidFill>
              <a:srgbClr val="D8DEE7"/>
            </a:solidFill>
            <a:prstDash val="solid"/>
          </a:ln>
        </p:spPr>
      </p:sp>
      <p:sp>
        <p:nvSpPr>
          <p:cNvPr id="21" name="Shape 19"/>
          <p:cNvSpPr/>
          <p:nvPr/>
        </p:nvSpPr>
        <p:spPr>
          <a:xfrm>
            <a:off x="6236208" y="3675888"/>
            <a:ext cx="73152" cy="1536192"/>
          </a:xfrm>
          <a:prstGeom prst="rect">
            <a:avLst/>
          </a:prstGeom>
          <a:solidFill>
            <a:srgbClr val="163454"/>
          </a:solidFill>
          <a:ln w="12700">
            <a:solidFill>
              <a:srgbClr val="163454"/>
            </a:solidFill>
            <a:prstDash val="solid"/>
          </a:ln>
        </p:spPr>
      </p:sp>
      <p:sp>
        <p:nvSpPr>
          <p:cNvPr id="22" name="Text 20"/>
          <p:cNvSpPr txBox="1"/>
          <p:nvPr/>
        </p:nvSpPr>
        <p:spPr>
          <a:xfrm>
            <a:off x="6483096" y="3858768"/>
            <a:ext cx="4818888" cy="201168"/>
          </a:xfrm>
          <a:prstGeom prst="rect">
            <a:avLst/>
          </a:prstGeom>
          <a:noFill/>
          <a:ln/>
        </p:spPr>
        <p:txBody>
          <a:bodyPr wrap="square" lIns="0" tIns="0" rIns="0" bIns="0" rtlCol="0" anchor="ctr">
            <a:normAutofit/>
          </a:bodyPr>
          <a:lstStyle/>
          <a:p>
            <a:pPr algn="l" indent="0" marL="0">
              <a:buNone/>
            </a:pPr>
            <a:r>
              <a:rPr lang="en-US" sz="880" b="1" spc="70" kern="0" dirty="0">
                <a:solidFill>
                  <a:srgbClr val="163454"/>
                </a:solidFill>
                <a:latin typeface="Aptos" pitchFamily="34" charset="0"/>
                <a:ea typeface="Aptos" pitchFamily="34" charset="-122"/>
                <a:cs typeface="Aptos" pitchFamily="34" charset="-120"/>
              </a:rPr>
              <a:t>LEARNING</a:t>
            </a:r>
            <a:endParaRPr lang="en-US" sz="880" dirty="0"/>
          </a:p>
        </p:txBody>
      </p:sp>
      <p:sp>
        <p:nvSpPr>
          <p:cNvPr id="23" name="Text 21"/>
          <p:cNvSpPr txBox="1"/>
          <p:nvPr/>
        </p:nvSpPr>
        <p:spPr>
          <a:xfrm>
            <a:off x="6483096" y="4142232"/>
            <a:ext cx="4800600" cy="338328"/>
          </a:xfrm>
          <a:prstGeom prst="rect">
            <a:avLst/>
          </a:prstGeom>
          <a:noFill/>
          <a:ln/>
        </p:spPr>
        <p:txBody>
          <a:bodyPr wrap="square" lIns="0" tIns="0" rIns="0" bIns="0" rtlCol="0" anchor="ctr">
            <a:normAutofit/>
          </a:bodyPr>
          <a:lstStyle/>
          <a:p>
            <a:pPr algn="l" indent="0" marL="0">
              <a:buNone/>
            </a:pPr>
            <a:r>
              <a:rPr lang="en-US" sz="1650" b="1" dirty="0">
                <a:solidFill>
                  <a:srgbClr val="172033"/>
                </a:solidFill>
                <a:latin typeface="Aptos" pitchFamily="34" charset="0"/>
                <a:ea typeface="Aptos" pitchFamily="34" charset="-122"/>
                <a:cs typeface="Aptos" pitchFamily="34" charset="-120"/>
              </a:rPr>
              <a:t>Little useful feedback</a:t>
            </a:r>
            <a:endParaRPr lang="en-US" sz="1650" dirty="0"/>
          </a:p>
        </p:txBody>
      </p:sp>
      <p:sp>
        <p:nvSpPr>
          <p:cNvPr id="24" name="Text 22"/>
          <p:cNvSpPr txBox="1"/>
          <p:nvPr/>
        </p:nvSpPr>
        <p:spPr>
          <a:xfrm>
            <a:off x="6483096" y="4553712"/>
            <a:ext cx="4800600" cy="493776"/>
          </a:xfrm>
          <a:prstGeom prst="rect">
            <a:avLst/>
          </a:prstGeom>
          <a:noFill/>
          <a:ln/>
        </p:spPr>
        <p:txBody>
          <a:bodyPr wrap="square" lIns="0" tIns="0" rIns="0" bIns="0" rtlCol="0" anchor="t">
            <a:normAutofit/>
          </a:bodyPr>
          <a:lstStyle/>
          <a:p>
            <a:pPr algn="l" indent="0" marL="0">
              <a:buNone/>
            </a:pPr>
            <a:r>
              <a:rPr lang="en-US" sz="1180" dirty="0">
                <a:solidFill>
                  <a:srgbClr val="667085"/>
                </a:solidFill>
                <a:latin typeface="Aptos" pitchFamily="34" charset="0"/>
                <a:ea typeface="Aptos" pitchFamily="34" charset="-122"/>
                <a:cs typeface="Aptos" pitchFamily="34" charset="-120"/>
              </a:rPr>
              <a:t>Usage counts show activity—not whether AI helped or caused more work.</a:t>
            </a:r>
            <a:endParaRPr lang="en-US" sz="1180" dirty="0"/>
          </a:p>
        </p:txBody>
      </p:sp>
      <p:sp>
        <p:nvSpPr>
          <p:cNvPr id="25" name="Shape 23"/>
          <p:cNvSpPr/>
          <p:nvPr/>
        </p:nvSpPr>
        <p:spPr>
          <a:xfrm>
            <a:off x="640080" y="5715000"/>
            <a:ext cx="10991088" cy="502920"/>
          </a:xfrm>
          <a:prstGeom prst="roundRect">
            <a:avLst>
              <a:gd name="adj" fmla="val 14545"/>
            </a:avLst>
          </a:prstGeom>
          <a:solidFill>
            <a:srgbClr val="163454"/>
          </a:solidFill>
          <a:ln w="10160">
            <a:solidFill>
              <a:srgbClr val="163454"/>
            </a:solidFill>
            <a:prstDash val="solid"/>
          </a:ln>
        </p:spPr>
      </p:sp>
      <p:sp>
        <p:nvSpPr>
          <p:cNvPr id="26" name="Text 24"/>
          <p:cNvSpPr txBox="1"/>
          <p:nvPr/>
        </p:nvSpPr>
        <p:spPr>
          <a:xfrm>
            <a:off x="941832" y="5824728"/>
            <a:ext cx="10378440" cy="246888"/>
          </a:xfrm>
          <a:prstGeom prst="rect">
            <a:avLst/>
          </a:prstGeom>
          <a:noFill/>
          <a:ln/>
        </p:spPr>
        <p:txBody>
          <a:bodyPr wrap="square" lIns="0" tIns="0" rIns="0" bIns="0" rtlCol="0" anchor="ctr">
            <a:normAutofit/>
          </a:bodyPr>
          <a:lstStyle/>
          <a:p>
            <a:pPr algn="ctr" indent="0" marL="0">
              <a:buNone/>
            </a:pPr>
            <a:r>
              <a:rPr lang="en-US" sz="1420" b="1" dirty="0">
                <a:solidFill>
                  <a:srgbClr val="FFFFFF"/>
                </a:solidFill>
                <a:latin typeface="Aptos" pitchFamily="34" charset="0"/>
                <a:ea typeface="Aptos" pitchFamily="34" charset="-122"/>
                <a:cs typeface="Aptos" pitchFamily="34" charset="-120"/>
              </a:rPr>
              <a:t>The opportunity: one clear, controlled way of working—from approved project knowledge to a reviewed result.</a:t>
            </a:r>
            <a:endParaRPr lang="en-US" sz="1420" dirty="0"/>
          </a:p>
        </p:txBody>
      </p:sp>
      <p:sp>
        <p:nvSpPr>
          <p:cNvPr id="25" name="Slide Number Placeholder 0"/>
          <p:cNvSpPr>
            <a:spLocks noGrp="1"/>
          </p:cNvSpPr>
          <p:nvPr>
            <p:ph type="sldNum" sz="quarter" idx="4294967295"/>
          </p:nvPr>
        </p:nvSpPr>
        <p:spPr>
          <a:xfrm>
            <a:off x="11658600" y="6492240"/>
            <a:ext cx="800000" cy="300000"/>
          </a:xfrm>
          <a:prstGeom prst="rect">
            <a:avLst/>
          </a:prstGeom>
          <a:extLst>
            <a:ext uri="{C572A759-6A51-4108-AA02-DFA0A04FC94B}">
              <ma14:wrappingTextBoxFlag xmlns:ma14="http://schemas.microsoft.com/office/mac/drawingml/2011/main" val="0"/>
            </a:ext>
          </a:extLst>
        </p:spPr>
        <p:txBody>
          <a:bodyPr/>
          <a:lstStyle>
            <a:lvl1pPr>
              <a:defRPr sz="780">
                <a:solidFill>
                  <a:srgbClr val="667085"/>
                </a:solidFill>
                <a:latin typeface="Aptos"/>
                <a:ea typeface="Aptos"/>
                <a:cs typeface="Aptos"/>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603504" y="310896"/>
            <a:ext cx="5120640" cy="219456"/>
          </a:xfrm>
          <a:prstGeom prst="rect">
            <a:avLst/>
          </a:prstGeom>
          <a:noFill/>
          <a:ln/>
        </p:spPr>
        <p:txBody>
          <a:bodyPr wrap="square" lIns="0" tIns="0" rIns="0" bIns="0" rtlCol="0" anchor="ctr">
            <a:normAutofit/>
          </a:bodyPr>
          <a:lstStyle/>
          <a:p>
            <a:pPr algn="l" indent="0" marL="0">
              <a:buNone/>
            </a:pPr>
            <a:r>
              <a:rPr lang="en-US" sz="950" b="1" spc="120" kern="0" dirty="0">
                <a:solidFill>
                  <a:srgbClr val="007F80"/>
                </a:solidFill>
                <a:latin typeface="Aptos" pitchFamily="34" charset="0"/>
                <a:ea typeface="Aptos" pitchFamily="34" charset="-122"/>
                <a:cs typeface="Aptos" pitchFamily="34" charset="-120"/>
              </a:rPr>
              <a:t>CURRENT WORKING PROOF OF CONCEPT</a:t>
            </a:r>
            <a:endParaRPr lang="en-US" sz="950" dirty="0"/>
          </a:p>
        </p:txBody>
      </p:sp>
      <p:sp>
        <p:nvSpPr>
          <p:cNvPr id="3" name="Text 1"/>
          <p:cNvSpPr txBox="1"/>
          <p:nvPr/>
        </p:nvSpPr>
        <p:spPr>
          <a:xfrm>
            <a:off x="603504" y="603504"/>
            <a:ext cx="10972800" cy="548640"/>
          </a:xfrm>
          <a:prstGeom prst="rect">
            <a:avLst/>
          </a:prstGeom>
          <a:noFill/>
          <a:ln/>
        </p:spPr>
        <p:txBody>
          <a:bodyPr wrap="square" lIns="0" tIns="0" rIns="0" bIns="0" rtlCol="0" anchor="ctr">
            <a:normAutofit/>
          </a:bodyPr>
          <a:lstStyle/>
          <a:p>
            <a:pPr algn="l" indent="0" marL="0">
              <a:buNone/>
            </a:pPr>
            <a:r>
              <a:rPr lang="en-US" sz="2750" b="1" dirty="0">
                <a:solidFill>
                  <a:srgbClr val="172033"/>
                </a:solidFill>
                <a:latin typeface="Aptos" pitchFamily="34" charset="0"/>
                <a:ea typeface="Aptos" pitchFamily="34" charset="-122"/>
                <a:cs typeface="Aptos" pitchFamily="34" charset="-120"/>
              </a:rPr>
              <a:t>A simple, repeatable way to prepare AI-assisted work</a:t>
            </a:r>
            <a:endParaRPr lang="en-US" sz="2750" dirty="0"/>
          </a:p>
        </p:txBody>
      </p:sp>
      <p:sp>
        <p:nvSpPr>
          <p:cNvPr id="4" name="Text 2"/>
          <p:cNvSpPr txBox="1"/>
          <p:nvPr/>
        </p:nvSpPr>
        <p:spPr>
          <a:xfrm>
            <a:off x="603504" y="1170432"/>
            <a:ext cx="10927080" cy="365760"/>
          </a:xfrm>
          <a:prstGeom prst="rect">
            <a:avLst/>
          </a:prstGeom>
          <a:noFill/>
          <a:ln/>
        </p:spPr>
        <p:txBody>
          <a:bodyPr wrap="square" lIns="0" tIns="0" rIns="0" bIns="0" rtlCol="0" anchor="ctr">
            <a:normAutofit/>
          </a:bodyPr>
          <a:lstStyle/>
          <a:p>
            <a:pPr algn="l" indent="0" marL="0">
              <a:buNone/>
            </a:pPr>
            <a:r>
              <a:rPr lang="en-US" sz="1350" dirty="0">
                <a:solidFill>
                  <a:srgbClr val="667085"/>
                </a:solidFill>
                <a:latin typeface="Aptos" pitchFamily="34" charset="0"/>
                <a:ea typeface="Aptos" pitchFamily="34" charset="-122"/>
                <a:cs typeface="Aptos" pitchFamily="34" charset="-120"/>
              </a:rPr>
              <a:t>DWI reuses approved project facts, captures the task clearly, highlights missing information and keeps the developer in control.</a:t>
            </a:r>
            <a:endParaRPr lang="en-US" sz="1350" dirty="0"/>
          </a:p>
        </p:txBody>
      </p:sp>
      <p:sp>
        <p:nvSpPr>
          <p:cNvPr id="5" name="Shape 3"/>
          <p:cNvSpPr/>
          <p:nvPr/>
        </p:nvSpPr>
        <p:spPr>
          <a:xfrm>
            <a:off x="9464040" y="320040"/>
            <a:ext cx="1920240" cy="292608"/>
          </a:xfrm>
          <a:prstGeom prst="roundRect">
            <a:avLst>
              <a:gd name="adj" fmla="val 50000"/>
            </a:avLst>
          </a:prstGeom>
          <a:solidFill>
            <a:srgbClr val="E9F5EF"/>
          </a:solidFill>
          <a:ln w="12700">
            <a:solidFill>
              <a:srgbClr val="E9F5EF"/>
            </a:solidFill>
            <a:prstDash val="solid"/>
          </a:ln>
        </p:spPr>
      </p:sp>
      <p:sp>
        <p:nvSpPr>
          <p:cNvPr id="6" name="Text 4"/>
          <p:cNvSpPr txBox="1"/>
          <p:nvPr/>
        </p:nvSpPr>
        <p:spPr>
          <a:xfrm>
            <a:off x="9528048" y="338328"/>
            <a:ext cx="1792224" cy="228600"/>
          </a:xfrm>
          <a:prstGeom prst="rect">
            <a:avLst/>
          </a:prstGeom>
          <a:noFill/>
          <a:ln/>
        </p:spPr>
        <p:txBody>
          <a:bodyPr wrap="square" lIns="0" tIns="0" rIns="0" bIns="0" rtlCol="0" anchor="ctr">
            <a:normAutofit/>
          </a:bodyPr>
          <a:lstStyle/>
          <a:p>
            <a:pPr algn="ctr" indent="0" marL="0">
              <a:buNone/>
            </a:pPr>
            <a:r>
              <a:rPr lang="en-US" sz="920" b="1" spc="40" kern="0" dirty="0">
                <a:solidFill>
                  <a:srgbClr val="2D8A65"/>
                </a:solidFill>
                <a:latin typeface="Aptos" pitchFamily="34" charset="0"/>
                <a:ea typeface="Aptos" pitchFamily="34" charset="-122"/>
                <a:cs typeface="Aptos" pitchFamily="34" charset="-120"/>
              </a:rPr>
              <a:t>IMPLEMENTED LOCALLY</a:t>
            </a:r>
            <a:endParaRPr lang="en-US" sz="920" dirty="0"/>
          </a:p>
        </p:txBody>
      </p:sp>
      <p:sp>
        <p:nvSpPr>
          <p:cNvPr id="7" name="Shape 5"/>
          <p:cNvSpPr/>
          <p:nvPr/>
        </p:nvSpPr>
        <p:spPr>
          <a:xfrm>
            <a:off x="612648" y="1874520"/>
            <a:ext cx="2560320" cy="3108960"/>
          </a:xfrm>
          <a:prstGeom prst="roundRect">
            <a:avLst>
              <a:gd name="adj" fmla="val 2857"/>
            </a:avLst>
          </a:prstGeom>
          <a:solidFill>
            <a:srgbClr val="FFFFFF"/>
          </a:solidFill>
          <a:ln w="10160">
            <a:solidFill>
              <a:srgbClr val="D8DEE7"/>
            </a:solidFill>
            <a:prstDash val="solid"/>
          </a:ln>
        </p:spPr>
      </p:sp>
      <p:sp>
        <p:nvSpPr>
          <p:cNvPr id="8" name="Shape 6"/>
          <p:cNvSpPr/>
          <p:nvPr/>
        </p:nvSpPr>
        <p:spPr>
          <a:xfrm>
            <a:off x="841248" y="2121408"/>
            <a:ext cx="530352" cy="292608"/>
          </a:xfrm>
          <a:prstGeom prst="roundRect">
            <a:avLst>
              <a:gd name="adj" fmla="val 50000"/>
            </a:avLst>
          </a:prstGeom>
          <a:solidFill>
            <a:srgbClr val="E8F6F5"/>
          </a:solidFill>
          <a:ln w="12700">
            <a:solidFill>
              <a:srgbClr val="E8F6F5"/>
            </a:solidFill>
            <a:prstDash val="solid"/>
          </a:ln>
        </p:spPr>
      </p:sp>
      <p:sp>
        <p:nvSpPr>
          <p:cNvPr id="9" name="Text 7"/>
          <p:cNvSpPr txBox="1"/>
          <p:nvPr/>
        </p:nvSpPr>
        <p:spPr>
          <a:xfrm>
            <a:off x="905256" y="2139696"/>
            <a:ext cx="402336" cy="228600"/>
          </a:xfrm>
          <a:prstGeom prst="rect">
            <a:avLst/>
          </a:prstGeom>
          <a:noFill/>
          <a:ln/>
        </p:spPr>
        <p:txBody>
          <a:bodyPr wrap="square" lIns="0" tIns="0" rIns="0" bIns="0" rtlCol="0" anchor="ctr">
            <a:normAutofit/>
          </a:bodyPr>
          <a:lstStyle/>
          <a:p>
            <a:pPr algn="ctr" indent="0" marL="0">
              <a:buNone/>
            </a:pPr>
            <a:r>
              <a:rPr lang="en-US" sz="920" b="1" spc="40" kern="0" dirty="0">
                <a:solidFill>
                  <a:srgbClr val="007F80"/>
                </a:solidFill>
                <a:latin typeface="Aptos" pitchFamily="34" charset="0"/>
                <a:ea typeface="Aptos" pitchFamily="34" charset="-122"/>
                <a:cs typeface="Aptos" pitchFamily="34" charset="-120"/>
              </a:rPr>
              <a:t>01</a:t>
            </a:r>
            <a:endParaRPr lang="en-US" sz="920" dirty="0"/>
          </a:p>
        </p:txBody>
      </p:sp>
      <p:sp>
        <p:nvSpPr>
          <p:cNvPr id="10" name="Text 8"/>
          <p:cNvSpPr txBox="1"/>
          <p:nvPr/>
        </p:nvSpPr>
        <p:spPr>
          <a:xfrm>
            <a:off x="841248" y="2761488"/>
            <a:ext cx="2103120" cy="384048"/>
          </a:xfrm>
          <a:prstGeom prst="rect">
            <a:avLst/>
          </a:prstGeom>
          <a:noFill/>
          <a:ln/>
        </p:spPr>
        <p:txBody>
          <a:bodyPr wrap="square" lIns="0" tIns="0" rIns="0" bIns="0" rtlCol="0" anchor="ctr">
            <a:normAutofit/>
          </a:bodyPr>
          <a:lstStyle/>
          <a:p>
            <a:pPr algn="l" indent="0" marL="0">
              <a:buNone/>
            </a:pPr>
            <a:r>
              <a:rPr lang="en-US" sz="1950" b="1" dirty="0">
                <a:solidFill>
                  <a:srgbClr val="172033"/>
                </a:solidFill>
                <a:latin typeface="Aptos" pitchFamily="34" charset="0"/>
                <a:ea typeface="Aptos" pitchFamily="34" charset="-122"/>
                <a:cs typeface="Aptos" pitchFamily="34" charset="-120"/>
              </a:rPr>
              <a:t>Reuse project facts</a:t>
            </a:r>
            <a:endParaRPr lang="en-US" sz="1950" dirty="0"/>
          </a:p>
        </p:txBody>
      </p:sp>
      <p:sp>
        <p:nvSpPr>
          <p:cNvPr id="11" name="Text 9"/>
          <p:cNvSpPr txBox="1"/>
          <p:nvPr/>
        </p:nvSpPr>
        <p:spPr>
          <a:xfrm>
            <a:off x="841248" y="3310128"/>
            <a:ext cx="2103120" cy="1005840"/>
          </a:xfrm>
          <a:prstGeom prst="rect">
            <a:avLst/>
          </a:prstGeom>
          <a:noFill/>
          <a:ln/>
        </p:spPr>
        <p:txBody>
          <a:bodyPr wrap="square" lIns="0" tIns="0" rIns="0" bIns="0" rtlCol="0" anchor="t">
            <a:normAutofit/>
          </a:bodyPr>
          <a:lstStyle/>
          <a:p>
            <a:pPr algn="l" indent="0" marL="0">
              <a:buNone/>
            </a:pPr>
            <a:r>
              <a:rPr lang="en-US" sz="1270" dirty="0">
                <a:solidFill>
                  <a:srgbClr val="667085"/>
                </a:solidFill>
                <a:latin typeface="Aptos" pitchFamily="34" charset="0"/>
                <a:ea typeface="Aptos" pitchFamily="34" charset="-122"/>
                <a:cs typeface="Aptos" pitchFamily="34" charset="-120"/>
              </a:rPr>
              <a:t>Start with knowledge the developer has reviewed and approved.</a:t>
            </a:r>
            <a:endParaRPr lang="en-US" sz="1270" dirty="0"/>
          </a:p>
        </p:txBody>
      </p:sp>
      <p:sp>
        <p:nvSpPr>
          <p:cNvPr id="12" name="Shape 10"/>
          <p:cNvSpPr/>
          <p:nvPr/>
        </p:nvSpPr>
        <p:spPr>
          <a:xfrm>
            <a:off x="3429000" y="1874520"/>
            <a:ext cx="2560320" cy="3108960"/>
          </a:xfrm>
          <a:prstGeom prst="roundRect">
            <a:avLst>
              <a:gd name="adj" fmla="val 2857"/>
            </a:avLst>
          </a:prstGeom>
          <a:solidFill>
            <a:srgbClr val="FFFFFF"/>
          </a:solidFill>
          <a:ln w="10160">
            <a:solidFill>
              <a:srgbClr val="D8DEE7"/>
            </a:solidFill>
            <a:prstDash val="solid"/>
          </a:ln>
        </p:spPr>
      </p:sp>
      <p:sp>
        <p:nvSpPr>
          <p:cNvPr id="13" name="Shape 11"/>
          <p:cNvSpPr/>
          <p:nvPr/>
        </p:nvSpPr>
        <p:spPr>
          <a:xfrm>
            <a:off x="3657600" y="2121408"/>
            <a:ext cx="530352" cy="292608"/>
          </a:xfrm>
          <a:prstGeom prst="roundRect">
            <a:avLst>
              <a:gd name="adj" fmla="val 50000"/>
            </a:avLst>
          </a:prstGeom>
          <a:solidFill>
            <a:srgbClr val="E8F6F5"/>
          </a:solidFill>
          <a:ln w="12700">
            <a:solidFill>
              <a:srgbClr val="E8F6F5"/>
            </a:solidFill>
            <a:prstDash val="solid"/>
          </a:ln>
        </p:spPr>
      </p:sp>
      <p:sp>
        <p:nvSpPr>
          <p:cNvPr id="14" name="Text 12"/>
          <p:cNvSpPr txBox="1"/>
          <p:nvPr/>
        </p:nvSpPr>
        <p:spPr>
          <a:xfrm>
            <a:off x="3721608" y="2139696"/>
            <a:ext cx="402336" cy="228600"/>
          </a:xfrm>
          <a:prstGeom prst="rect">
            <a:avLst/>
          </a:prstGeom>
          <a:noFill/>
          <a:ln/>
        </p:spPr>
        <p:txBody>
          <a:bodyPr wrap="square" lIns="0" tIns="0" rIns="0" bIns="0" rtlCol="0" anchor="ctr">
            <a:normAutofit/>
          </a:bodyPr>
          <a:lstStyle/>
          <a:p>
            <a:pPr algn="ctr" indent="0" marL="0">
              <a:buNone/>
            </a:pPr>
            <a:r>
              <a:rPr lang="en-US" sz="920" b="1" spc="40" kern="0" dirty="0">
                <a:solidFill>
                  <a:srgbClr val="007F80"/>
                </a:solidFill>
                <a:latin typeface="Aptos" pitchFamily="34" charset="0"/>
                <a:ea typeface="Aptos" pitchFamily="34" charset="-122"/>
                <a:cs typeface="Aptos" pitchFamily="34" charset="-120"/>
              </a:rPr>
              <a:t>02</a:t>
            </a:r>
            <a:endParaRPr lang="en-US" sz="920" dirty="0"/>
          </a:p>
        </p:txBody>
      </p:sp>
      <p:sp>
        <p:nvSpPr>
          <p:cNvPr id="15" name="Text 13"/>
          <p:cNvSpPr txBox="1"/>
          <p:nvPr/>
        </p:nvSpPr>
        <p:spPr>
          <a:xfrm>
            <a:off x="3657600" y="2761488"/>
            <a:ext cx="2103120" cy="384048"/>
          </a:xfrm>
          <a:prstGeom prst="rect">
            <a:avLst/>
          </a:prstGeom>
          <a:noFill/>
          <a:ln/>
        </p:spPr>
        <p:txBody>
          <a:bodyPr wrap="square" lIns="0" tIns="0" rIns="0" bIns="0" rtlCol="0" anchor="ctr">
            <a:normAutofit/>
          </a:bodyPr>
          <a:lstStyle/>
          <a:p>
            <a:pPr algn="l" indent="0" marL="0">
              <a:buNone/>
            </a:pPr>
            <a:r>
              <a:rPr lang="en-US" sz="1950" b="1" dirty="0">
                <a:solidFill>
                  <a:srgbClr val="172033"/>
                </a:solidFill>
                <a:latin typeface="Aptos" pitchFamily="34" charset="0"/>
                <a:ea typeface="Aptos" pitchFamily="34" charset="-122"/>
                <a:cs typeface="Aptos" pitchFamily="34" charset="-120"/>
              </a:rPr>
              <a:t>Describe the work</a:t>
            </a:r>
            <a:endParaRPr lang="en-US" sz="1950" dirty="0"/>
          </a:p>
        </p:txBody>
      </p:sp>
      <p:sp>
        <p:nvSpPr>
          <p:cNvPr id="16" name="Text 14"/>
          <p:cNvSpPr txBox="1"/>
          <p:nvPr/>
        </p:nvSpPr>
        <p:spPr>
          <a:xfrm>
            <a:off x="3657600" y="3310128"/>
            <a:ext cx="2103120" cy="1005840"/>
          </a:xfrm>
          <a:prstGeom prst="rect">
            <a:avLst/>
          </a:prstGeom>
          <a:noFill/>
          <a:ln/>
        </p:spPr>
        <p:txBody>
          <a:bodyPr wrap="square" lIns="0" tIns="0" rIns="0" bIns="0" rtlCol="0" anchor="t">
            <a:normAutofit/>
          </a:bodyPr>
          <a:lstStyle/>
          <a:p>
            <a:pPr algn="l" indent="0" marL="0">
              <a:buNone/>
            </a:pPr>
            <a:r>
              <a:rPr lang="en-US" sz="1270" dirty="0">
                <a:solidFill>
                  <a:srgbClr val="667085"/>
                </a:solidFill>
                <a:latin typeface="Aptos" pitchFamily="34" charset="0"/>
                <a:ea typeface="Aptos" pitchFamily="34" charset="-122"/>
                <a:cs typeface="Aptos" pitchFamily="34" charset="-120"/>
              </a:rPr>
              <a:t>Capture the task, expected result and importance in a consistent form.</a:t>
            </a:r>
            <a:endParaRPr lang="en-US" sz="1270" dirty="0"/>
          </a:p>
        </p:txBody>
      </p:sp>
      <p:sp>
        <p:nvSpPr>
          <p:cNvPr id="17" name="Shape 15"/>
          <p:cNvSpPr/>
          <p:nvPr/>
        </p:nvSpPr>
        <p:spPr>
          <a:xfrm>
            <a:off x="6245352" y="1874520"/>
            <a:ext cx="2560320" cy="3108960"/>
          </a:xfrm>
          <a:prstGeom prst="roundRect">
            <a:avLst>
              <a:gd name="adj" fmla="val 2857"/>
            </a:avLst>
          </a:prstGeom>
          <a:solidFill>
            <a:srgbClr val="FFF3DE"/>
          </a:solidFill>
          <a:ln w="10160">
            <a:solidFill>
              <a:srgbClr val="F0D39D"/>
            </a:solidFill>
            <a:prstDash val="solid"/>
          </a:ln>
        </p:spPr>
      </p:sp>
      <p:sp>
        <p:nvSpPr>
          <p:cNvPr id="18" name="Shape 16"/>
          <p:cNvSpPr/>
          <p:nvPr/>
        </p:nvSpPr>
        <p:spPr>
          <a:xfrm>
            <a:off x="6473952" y="2121408"/>
            <a:ext cx="530352" cy="292608"/>
          </a:xfrm>
          <a:prstGeom prst="roundRect">
            <a:avLst>
              <a:gd name="adj" fmla="val 50000"/>
            </a:avLst>
          </a:prstGeom>
          <a:solidFill>
            <a:srgbClr val="FBE3B8"/>
          </a:solidFill>
          <a:ln w="12700">
            <a:solidFill>
              <a:srgbClr val="FBE3B8"/>
            </a:solidFill>
            <a:prstDash val="solid"/>
          </a:ln>
        </p:spPr>
      </p:sp>
      <p:sp>
        <p:nvSpPr>
          <p:cNvPr id="19" name="Text 17"/>
          <p:cNvSpPr txBox="1"/>
          <p:nvPr/>
        </p:nvSpPr>
        <p:spPr>
          <a:xfrm>
            <a:off x="6537960" y="2139696"/>
            <a:ext cx="402336" cy="228600"/>
          </a:xfrm>
          <a:prstGeom prst="rect">
            <a:avLst/>
          </a:prstGeom>
          <a:noFill/>
          <a:ln/>
        </p:spPr>
        <p:txBody>
          <a:bodyPr wrap="square" lIns="0" tIns="0" rIns="0" bIns="0" rtlCol="0" anchor="ctr">
            <a:normAutofit/>
          </a:bodyPr>
          <a:lstStyle/>
          <a:p>
            <a:pPr algn="ctr" indent="0" marL="0">
              <a:buNone/>
            </a:pPr>
            <a:r>
              <a:rPr lang="en-US" sz="920" b="1" spc="40" kern="0" dirty="0">
                <a:solidFill>
                  <a:srgbClr val="82530D"/>
                </a:solidFill>
                <a:latin typeface="Aptos" pitchFamily="34" charset="0"/>
                <a:ea typeface="Aptos" pitchFamily="34" charset="-122"/>
                <a:cs typeface="Aptos" pitchFamily="34" charset="-120"/>
              </a:rPr>
              <a:t>03</a:t>
            </a:r>
            <a:endParaRPr lang="en-US" sz="920" dirty="0"/>
          </a:p>
        </p:txBody>
      </p:sp>
      <p:sp>
        <p:nvSpPr>
          <p:cNvPr id="20" name="Text 18"/>
          <p:cNvSpPr txBox="1"/>
          <p:nvPr/>
        </p:nvSpPr>
        <p:spPr>
          <a:xfrm>
            <a:off x="6473952" y="2761488"/>
            <a:ext cx="2103120" cy="384048"/>
          </a:xfrm>
          <a:prstGeom prst="rect">
            <a:avLst/>
          </a:prstGeom>
          <a:noFill/>
          <a:ln/>
        </p:spPr>
        <p:txBody>
          <a:bodyPr wrap="square" lIns="0" tIns="0" rIns="0" bIns="0" rtlCol="0" anchor="ctr">
            <a:normAutofit/>
          </a:bodyPr>
          <a:lstStyle/>
          <a:p>
            <a:pPr algn="l" indent="0" marL="0">
              <a:buNone/>
            </a:pPr>
            <a:r>
              <a:rPr lang="en-US" sz="1950" b="1" dirty="0">
                <a:solidFill>
                  <a:srgbClr val="172033"/>
                </a:solidFill>
                <a:latin typeface="Aptos" pitchFamily="34" charset="0"/>
                <a:ea typeface="Aptos" pitchFamily="34" charset="-122"/>
                <a:cs typeface="Aptos" pitchFamily="34" charset="-120"/>
              </a:rPr>
              <a:t>Spot what is missing</a:t>
            </a:r>
            <a:endParaRPr lang="en-US" sz="1950" dirty="0"/>
          </a:p>
        </p:txBody>
      </p:sp>
      <p:sp>
        <p:nvSpPr>
          <p:cNvPr id="21" name="Text 19"/>
          <p:cNvSpPr txBox="1"/>
          <p:nvPr/>
        </p:nvSpPr>
        <p:spPr>
          <a:xfrm>
            <a:off x="6473952" y="3310128"/>
            <a:ext cx="2103120" cy="1005840"/>
          </a:xfrm>
          <a:prstGeom prst="rect">
            <a:avLst/>
          </a:prstGeom>
          <a:noFill/>
          <a:ln/>
        </p:spPr>
        <p:txBody>
          <a:bodyPr wrap="square" lIns="0" tIns="0" rIns="0" bIns="0" rtlCol="0" anchor="t">
            <a:normAutofit/>
          </a:bodyPr>
          <a:lstStyle/>
          <a:p>
            <a:pPr algn="l" indent="0" marL="0">
              <a:buNone/>
            </a:pPr>
            <a:r>
              <a:rPr lang="en-US" sz="1270" dirty="0">
                <a:solidFill>
                  <a:srgbClr val="667085"/>
                </a:solidFill>
                <a:latin typeface="Aptos" pitchFamily="34" charset="0"/>
                <a:ea typeface="Aptos" pitchFamily="34" charset="-122"/>
                <a:cs typeface="Aptos" pitchFamily="34" charset="-120"/>
              </a:rPr>
              <a:t>Show sources, assumptions and important unanswered questions instead of guessing.</a:t>
            </a:r>
            <a:endParaRPr lang="en-US" sz="1270" dirty="0"/>
          </a:p>
        </p:txBody>
      </p:sp>
      <p:sp>
        <p:nvSpPr>
          <p:cNvPr id="22" name="Shape 20"/>
          <p:cNvSpPr/>
          <p:nvPr/>
        </p:nvSpPr>
        <p:spPr>
          <a:xfrm>
            <a:off x="9061704" y="1874520"/>
            <a:ext cx="2560320" cy="3108960"/>
          </a:xfrm>
          <a:prstGeom prst="roundRect">
            <a:avLst>
              <a:gd name="adj" fmla="val 2857"/>
            </a:avLst>
          </a:prstGeom>
          <a:solidFill>
            <a:srgbClr val="FFFFFF"/>
          </a:solidFill>
          <a:ln w="10160">
            <a:solidFill>
              <a:srgbClr val="D8DEE7"/>
            </a:solidFill>
            <a:prstDash val="solid"/>
          </a:ln>
        </p:spPr>
      </p:sp>
      <p:sp>
        <p:nvSpPr>
          <p:cNvPr id="23" name="Shape 21"/>
          <p:cNvSpPr/>
          <p:nvPr/>
        </p:nvSpPr>
        <p:spPr>
          <a:xfrm>
            <a:off x="9290304" y="2121408"/>
            <a:ext cx="530352" cy="292608"/>
          </a:xfrm>
          <a:prstGeom prst="roundRect">
            <a:avLst>
              <a:gd name="adj" fmla="val 50000"/>
            </a:avLst>
          </a:prstGeom>
          <a:solidFill>
            <a:srgbClr val="E8F6F5"/>
          </a:solidFill>
          <a:ln w="12700">
            <a:solidFill>
              <a:srgbClr val="E8F6F5"/>
            </a:solidFill>
            <a:prstDash val="solid"/>
          </a:ln>
        </p:spPr>
      </p:sp>
      <p:sp>
        <p:nvSpPr>
          <p:cNvPr id="24" name="Text 22"/>
          <p:cNvSpPr txBox="1"/>
          <p:nvPr/>
        </p:nvSpPr>
        <p:spPr>
          <a:xfrm>
            <a:off x="9354312" y="2139696"/>
            <a:ext cx="402336" cy="228600"/>
          </a:xfrm>
          <a:prstGeom prst="rect">
            <a:avLst/>
          </a:prstGeom>
          <a:noFill/>
          <a:ln/>
        </p:spPr>
        <p:txBody>
          <a:bodyPr wrap="square" lIns="0" tIns="0" rIns="0" bIns="0" rtlCol="0" anchor="ctr">
            <a:normAutofit/>
          </a:bodyPr>
          <a:lstStyle/>
          <a:p>
            <a:pPr algn="ctr" indent="0" marL="0">
              <a:buNone/>
            </a:pPr>
            <a:r>
              <a:rPr lang="en-US" sz="920" b="1" spc="40" kern="0" dirty="0">
                <a:solidFill>
                  <a:srgbClr val="007F80"/>
                </a:solidFill>
                <a:latin typeface="Aptos" pitchFamily="34" charset="0"/>
                <a:ea typeface="Aptos" pitchFamily="34" charset="-122"/>
                <a:cs typeface="Aptos" pitchFamily="34" charset="-120"/>
              </a:rPr>
              <a:t>04</a:t>
            </a:r>
            <a:endParaRPr lang="en-US" sz="920" dirty="0"/>
          </a:p>
        </p:txBody>
      </p:sp>
      <p:sp>
        <p:nvSpPr>
          <p:cNvPr id="25" name="Text 23"/>
          <p:cNvSpPr txBox="1"/>
          <p:nvPr/>
        </p:nvSpPr>
        <p:spPr>
          <a:xfrm>
            <a:off x="9290304" y="2761488"/>
            <a:ext cx="2103120" cy="384048"/>
          </a:xfrm>
          <a:prstGeom prst="rect">
            <a:avLst/>
          </a:prstGeom>
          <a:noFill/>
          <a:ln/>
        </p:spPr>
        <p:txBody>
          <a:bodyPr wrap="square" lIns="0" tIns="0" rIns="0" bIns="0" rtlCol="0" anchor="ctr">
            <a:normAutofit/>
          </a:bodyPr>
          <a:lstStyle/>
          <a:p>
            <a:pPr algn="l" indent="0" marL="0">
              <a:buNone/>
            </a:pPr>
            <a:r>
              <a:rPr lang="en-US" sz="1950" b="1" dirty="0">
                <a:solidFill>
                  <a:srgbClr val="172033"/>
                </a:solidFill>
                <a:latin typeface="Aptos" pitchFamily="34" charset="0"/>
                <a:ea typeface="Aptos" pitchFamily="34" charset="-122"/>
                <a:cs typeface="Aptos" pitchFamily="34" charset="-120"/>
              </a:rPr>
              <a:t>Check and save</a:t>
            </a:r>
            <a:endParaRPr lang="en-US" sz="1950" dirty="0"/>
          </a:p>
        </p:txBody>
      </p:sp>
      <p:sp>
        <p:nvSpPr>
          <p:cNvPr id="26" name="Text 24"/>
          <p:cNvSpPr txBox="1"/>
          <p:nvPr/>
        </p:nvSpPr>
        <p:spPr>
          <a:xfrm>
            <a:off x="9290304" y="3310128"/>
            <a:ext cx="2103120" cy="1005840"/>
          </a:xfrm>
          <a:prstGeom prst="rect">
            <a:avLst/>
          </a:prstGeom>
          <a:noFill/>
          <a:ln/>
        </p:spPr>
        <p:txBody>
          <a:bodyPr wrap="square" lIns="0" tIns="0" rIns="0" bIns="0" rtlCol="0" anchor="t">
            <a:normAutofit/>
          </a:bodyPr>
          <a:lstStyle/>
          <a:p>
            <a:pPr algn="l" indent="0" marL="0">
              <a:buNone/>
            </a:pPr>
            <a:r>
              <a:rPr lang="en-US" sz="1270" dirty="0">
                <a:solidFill>
                  <a:srgbClr val="667085"/>
                </a:solidFill>
                <a:latin typeface="Aptos" pitchFamily="34" charset="0"/>
                <a:ea typeface="Aptos" pitchFamily="34" charset="-122"/>
                <a:cs typeface="Aptos" pitchFamily="34" charset="-120"/>
              </a:rPr>
              <a:t>Let the developer review the local draft, correct it and decide what to keep.</a:t>
            </a:r>
            <a:endParaRPr lang="en-US" sz="1270" dirty="0"/>
          </a:p>
        </p:txBody>
      </p:sp>
      <p:sp>
        <p:nvSpPr>
          <p:cNvPr id="27" name="Shape 25"/>
          <p:cNvSpPr/>
          <p:nvPr/>
        </p:nvSpPr>
        <p:spPr>
          <a:xfrm>
            <a:off x="804672" y="5321808"/>
            <a:ext cx="10588752" cy="658368"/>
          </a:xfrm>
          <a:prstGeom prst="roundRect">
            <a:avLst>
              <a:gd name="adj" fmla="val 11111"/>
            </a:avLst>
          </a:prstGeom>
          <a:solidFill>
            <a:srgbClr val="EDF3F8"/>
          </a:solidFill>
          <a:ln w="10160">
            <a:solidFill>
              <a:srgbClr val="CBD9E6"/>
            </a:solidFill>
            <a:prstDash val="solid"/>
          </a:ln>
        </p:spPr>
      </p:sp>
      <p:sp>
        <p:nvSpPr>
          <p:cNvPr id="28" name="Text 26"/>
          <p:cNvSpPr txBox="1"/>
          <p:nvPr/>
        </p:nvSpPr>
        <p:spPr>
          <a:xfrm>
            <a:off x="1078992" y="5468112"/>
            <a:ext cx="749808" cy="256032"/>
          </a:xfrm>
          <a:prstGeom prst="rect">
            <a:avLst/>
          </a:prstGeom>
          <a:noFill/>
          <a:ln/>
        </p:spPr>
        <p:txBody>
          <a:bodyPr wrap="square" lIns="0" tIns="0" rIns="0" bIns="0" rtlCol="0" anchor="ctr">
            <a:normAutofit/>
          </a:bodyPr>
          <a:lstStyle/>
          <a:p>
            <a:pPr algn="l" indent="0" marL="0">
              <a:buNone/>
            </a:pPr>
            <a:r>
              <a:rPr lang="en-US" sz="1250" b="1" dirty="0">
                <a:solidFill>
                  <a:srgbClr val="163454"/>
                </a:solidFill>
                <a:latin typeface="Aptos" pitchFamily="34" charset="0"/>
                <a:ea typeface="Aptos" pitchFamily="34" charset="-122"/>
                <a:cs typeface="Aptos" pitchFamily="34" charset="-120"/>
              </a:rPr>
              <a:t>Current</a:t>
            </a:r>
            <a:endParaRPr lang="en-US" sz="1250" dirty="0"/>
          </a:p>
        </p:txBody>
      </p:sp>
      <p:sp>
        <p:nvSpPr>
          <p:cNvPr id="29" name="Text 27"/>
          <p:cNvSpPr txBox="1"/>
          <p:nvPr/>
        </p:nvSpPr>
        <p:spPr>
          <a:xfrm>
            <a:off x="1901952" y="5468112"/>
            <a:ext cx="3246120" cy="256032"/>
          </a:xfrm>
          <a:prstGeom prst="rect">
            <a:avLst/>
          </a:prstGeom>
          <a:noFill/>
          <a:ln/>
        </p:spPr>
        <p:txBody>
          <a:bodyPr wrap="square" lIns="0" tIns="0" rIns="0" bIns="0" rtlCol="0" anchor="ctr">
            <a:normAutofit/>
          </a:bodyPr>
          <a:lstStyle/>
          <a:p>
            <a:pPr algn="l" indent="0" marL="0">
              <a:buNone/>
            </a:pPr>
            <a:r>
              <a:rPr lang="en-US" sz="1250" dirty="0">
                <a:solidFill>
                  <a:srgbClr val="163454"/>
                </a:solidFill>
                <a:latin typeface="Aptos" pitchFamily="34" charset="0"/>
                <a:ea typeface="Aptos" pitchFamily="34" charset="-122"/>
                <a:cs typeface="Aptos" pitchFamily="34" charset="-120"/>
              </a:rPr>
              <a:t>Approved project knowledge through review.</a:t>
            </a:r>
            <a:endParaRPr lang="en-US" sz="1250" dirty="0"/>
          </a:p>
        </p:txBody>
      </p:sp>
      <p:sp>
        <p:nvSpPr>
          <p:cNvPr id="30" name="Text 28"/>
          <p:cNvSpPr txBox="1"/>
          <p:nvPr/>
        </p:nvSpPr>
        <p:spPr>
          <a:xfrm>
            <a:off x="5532120" y="5468112"/>
            <a:ext cx="822960" cy="256032"/>
          </a:xfrm>
          <a:prstGeom prst="rect">
            <a:avLst/>
          </a:prstGeom>
          <a:noFill/>
          <a:ln/>
        </p:spPr>
        <p:txBody>
          <a:bodyPr wrap="square" lIns="0" tIns="0" rIns="0" bIns="0" rtlCol="0" anchor="ctr">
            <a:normAutofit/>
          </a:bodyPr>
          <a:lstStyle/>
          <a:p>
            <a:pPr algn="l" indent="0" marL="0">
              <a:buNone/>
            </a:pPr>
            <a:r>
              <a:rPr lang="en-US" sz="1250" b="1" dirty="0">
                <a:solidFill>
                  <a:srgbClr val="D9952A"/>
                </a:solidFill>
                <a:latin typeface="Aptos" pitchFamily="34" charset="0"/>
                <a:ea typeface="Aptos" pitchFamily="34" charset="-122"/>
                <a:cs typeface="Aptos" pitchFamily="34" charset="-120"/>
              </a:rPr>
              <a:t>Next step</a:t>
            </a:r>
            <a:endParaRPr lang="en-US" sz="1250" dirty="0"/>
          </a:p>
        </p:txBody>
      </p:sp>
      <p:sp>
        <p:nvSpPr>
          <p:cNvPr id="31" name="Text 29"/>
          <p:cNvSpPr txBox="1"/>
          <p:nvPr/>
        </p:nvSpPr>
        <p:spPr>
          <a:xfrm>
            <a:off x="6446520" y="5468112"/>
            <a:ext cx="4572000" cy="256032"/>
          </a:xfrm>
          <a:prstGeom prst="rect">
            <a:avLst/>
          </a:prstGeom>
          <a:noFill/>
          <a:ln/>
        </p:spPr>
        <p:txBody>
          <a:bodyPr wrap="square" lIns="0" tIns="0" rIns="0" bIns="0" rtlCol="0" anchor="ctr">
            <a:normAutofit/>
          </a:bodyPr>
          <a:lstStyle/>
          <a:p>
            <a:pPr algn="l" indent="0" marL="0">
              <a:buNone/>
            </a:pPr>
            <a:r>
              <a:rPr lang="en-US" sz="1250" dirty="0">
                <a:solidFill>
                  <a:srgbClr val="163454"/>
                </a:solidFill>
                <a:latin typeface="Aptos" pitchFamily="34" charset="0"/>
                <a:ea typeface="Aptos" pitchFamily="34" charset="-122"/>
                <a:cs typeface="Aptos" pitchFamily="34" charset="-120"/>
              </a:rPr>
              <a:t>Ask one focused question and safely apply the answer.</a:t>
            </a:r>
            <a:endParaRPr lang="en-US" sz="1250" dirty="0"/>
          </a:p>
        </p:txBody>
      </p:sp>
      <p:sp>
        <p:nvSpPr>
          <p:cNvPr id="25" name="Slide Number Placeholder 0"/>
          <p:cNvSpPr>
            <a:spLocks noGrp="1"/>
          </p:cNvSpPr>
          <p:nvPr>
            <p:ph type="sldNum" sz="quarter" idx="4294967295"/>
          </p:nvPr>
        </p:nvSpPr>
        <p:spPr>
          <a:xfrm>
            <a:off x="11658600" y="6492240"/>
            <a:ext cx="800000" cy="300000"/>
          </a:xfrm>
          <a:prstGeom prst="rect">
            <a:avLst/>
          </a:prstGeom>
          <a:extLst>
            <a:ext uri="{C572A759-6A51-4108-AA02-DFA0A04FC94B}">
              <ma14:wrappingTextBoxFlag xmlns:ma14="http://schemas.microsoft.com/office/mac/drawingml/2011/main" val="0"/>
            </a:ext>
          </a:extLst>
        </p:spPr>
        <p:txBody>
          <a:bodyPr/>
          <a:lstStyle>
            <a:lvl1pPr>
              <a:defRPr sz="780">
                <a:solidFill>
                  <a:srgbClr val="667085"/>
                </a:solidFill>
                <a:latin typeface="Aptos"/>
                <a:ea typeface="Aptos"/>
                <a:cs typeface="Aptos"/>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603504" y="310896"/>
            <a:ext cx="5120640" cy="219456"/>
          </a:xfrm>
          <a:prstGeom prst="rect">
            <a:avLst/>
          </a:prstGeom>
          <a:noFill/>
          <a:ln/>
        </p:spPr>
        <p:txBody>
          <a:bodyPr wrap="square" lIns="0" tIns="0" rIns="0" bIns="0" rtlCol="0" anchor="ctr">
            <a:normAutofit/>
          </a:bodyPr>
          <a:lstStyle/>
          <a:p>
            <a:pPr algn="l" indent="0" marL="0">
              <a:buNone/>
            </a:pPr>
            <a:r>
              <a:rPr lang="en-US" sz="950" b="1" spc="120" kern="0" dirty="0">
                <a:solidFill>
                  <a:srgbClr val="007F80"/>
                </a:solidFill>
                <a:latin typeface="Aptos" pitchFamily="34" charset="0"/>
                <a:ea typeface="Aptos" pitchFamily="34" charset="-122"/>
                <a:cs typeface="Aptos" pitchFamily="34" charset="-120"/>
              </a:rPr>
              <a:t>A SIMPLE EXAMPLE</a:t>
            </a:r>
            <a:endParaRPr lang="en-US" sz="950" dirty="0"/>
          </a:p>
        </p:txBody>
      </p:sp>
      <p:sp>
        <p:nvSpPr>
          <p:cNvPr id="3" name="Text 1"/>
          <p:cNvSpPr txBox="1"/>
          <p:nvPr/>
        </p:nvSpPr>
        <p:spPr>
          <a:xfrm>
            <a:off x="603504" y="603504"/>
            <a:ext cx="10972800" cy="548640"/>
          </a:xfrm>
          <a:prstGeom prst="rect">
            <a:avLst/>
          </a:prstGeom>
          <a:noFill/>
          <a:ln/>
        </p:spPr>
        <p:txBody>
          <a:bodyPr wrap="square" lIns="0" tIns="0" rIns="0" bIns="0" rtlCol="0" anchor="ctr">
            <a:normAutofit/>
          </a:bodyPr>
          <a:lstStyle/>
          <a:p>
            <a:pPr algn="l" indent="0" marL="0">
              <a:buNone/>
            </a:pPr>
            <a:r>
              <a:rPr lang="en-US" sz="2750" b="1" dirty="0">
                <a:solidFill>
                  <a:srgbClr val="172033"/>
                </a:solidFill>
                <a:latin typeface="Aptos" pitchFamily="34" charset="0"/>
                <a:ea typeface="Aptos" pitchFamily="34" charset="-122"/>
                <a:cs typeface="Aptos" pitchFamily="34" charset="-120"/>
              </a:rPr>
              <a:t>Project knowledge turns a generic answer into useful work</a:t>
            </a:r>
            <a:endParaRPr lang="en-US" sz="2750" dirty="0"/>
          </a:p>
        </p:txBody>
      </p:sp>
      <p:sp>
        <p:nvSpPr>
          <p:cNvPr id="4" name="Text 2"/>
          <p:cNvSpPr txBox="1"/>
          <p:nvPr/>
        </p:nvSpPr>
        <p:spPr>
          <a:xfrm>
            <a:off x="603504" y="1170432"/>
            <a:ext cx="10927080" cy="365760"/>
          </a:xfrm>
          <a:prstGeom prst="rect">
            <a:avLst/>
          </a:prstGeom>
          <a:noFill/>
          <a:ln/>
        </p:spPr>
        <p:txBody>
          <a:bodyPr wrap="square" lIns="0" tIns="0" rIns="0" bIns="0" rtlCol="0" anchor="ctr">
            <a:normAutofit/>
          </a:bodyPr>
          <a:lstStyle/>
          <a:p>
            <a:pPr algn="l" indent="0" marL="0">
              <a:buNone/>
            </a:pPr>
            <a:r>
              <a:rPr lang="en-US" sz="1350" dirty="0">
                <a:solidFill>
                  <a:srgbClr val="667085"/>
                </a:solidFill>
                <a:latin typeface="Aptos" pitchFamily="34" charset="0"/>
                <a:ea typeface="Aptos" pitchFamily="34" charset="-122"/>
                <a:cs typeface="Aptos" pitchFamily="34" charset="-120"/>
              </a:rPr>
              <a:t>Example: “Prepare a safe migration plan for the customer data service.”</a:t>
            </a:r>
            <a:endParaRPr lang="en-US" sz="1350" dirty="0"/>
          </a:p>
        </p:txBody>
      </p:sp>
      <p:sp>
        <p:nvSpPr>
          <p:cNvPr id="5" name="Shape 3"/>
          <p:cNvSpPr/>
          <p:nvPr/>
        </p:nvSpPr>
        <p:spPr>
          <a:xfrm>
            <a:off x="640080" y="1764792"/>
            <a:ext cx="4736592" cy="4096512"/>
          </a:xfrm>
          <a:prstGeom prst="roundRect">
            <a:avLst>
              <a:gd name="adj" fmla="val 1786"/>
            </a:avLst>
          </a:prstGeom>
          <a:solidFill>
            <a:srgbClr val="FCEDED"/>
          </a:solidFill>
          <a:ln w="10160">
            <a:solidFill>
              <a:srgbClr val="EECBCB"/>
            </a:solidFill>
            <a:prstDash val="solid"/>
          </a:ln>
        </p:spPr>
      </p:sp>
      <p:sp>
        <p:nvSpPr>
          <p:cNvPr id="6" name="Shape 4"/>
          <p:cNvSpPr/>
          <p:nvPr/>
        </p:nvSpPr>
        <p:spPr>
          <a:xfrm>
            <a:off x="923544" y="2029968"/>
            <a:ext cx="1947672" cy="292608"/>
          </a:xfrm>
          <a:prstGeom prst="roundRect">
            <a:avLst>
              <a:gd name="adj" fmla="val 50000"/>
            </a:avLst>
          </a:prstGeom>
          <a:solidFill>
            <a:srgbClr val="F8DCDC"/>
          </a:solidFill>
          <a:ln w="12700">
            <a:solidFill>
              <a:srgbClr val="F8DCDC"/>
            </a:solidFill>
            <a:prstDash val="solid"/>
          </a:ln>
        </p:spPr>
      </p:sp>
      <p:sp>
        <p:nvSpPr>
          <p:cNvPr id="7" name="Text 5"/>
          <p:cNvSpPr txBox="1"/>
          <p:nvPr/>
        </p:nvSpPr>
        <p:spPr>
          <a:xfrm>
            <a:off x="987552" y="2048256"/>
            <a:ext cx="1819656" cy="228600"/>
          </a:xfrm>
          <a:prstGeom prst="rect">
            <a:avLst/>
          </a:prstGeom>
          <a:noFill/>
          <a:ln/>
        </p:spPr>
        <p:txBody>
          <a:bodyPr wrap="square" lIns="0" tIns="0" rIns="0" bIns="0" rtlCol="0" anchor="ctr">
            <a:normAutofit/>
          </a:bodyPr>
          <a:lstStyle/>
          <a:p>
            <a:pPr algn="ctr" indent="0" marL="0">
              <a:buNone/>
            </a:pPr>
            <a:r>
              <a:rPr lang="en-US" sz="920" b="1" spc="40" kern="0" dirty="0">
                <a:solidFill>
                  <a:srgbClr val="B94A48"/>
                </a:solidFill>
                <a:latin typeface="Aptos" pitchFamily="34" charset="0"/>
                <a:ea typeface="Aptos" pitchFamily="34" charset="-122"/>
                <a:cs typeface="Aptos" pitchFamily="34" charset="-120"/>
              </a:rPr>
              <a:t>WITHOUT SHARED CONTEXT</a:t>
            </a:r>
            <a:endParaRPr lang="en-US" sz="920" dirty="0"/>
          </a:p>
        </p:txBody>
      </p:sp>
      <p:sp>
        <p:nvSpPr>
          <p:cNvPr id="8" name="Text 6"/>
          <p:cNvSpPr txBox="1"/>
          <p:nvPr/>
        </p:nvSpPr>
        <p:spPr>
          <a:xfrm>
            <a:off x="923544" y="2596896"/>
            <a:ext cx="3749040" cy="749808"/>
          </a:xfrm>
          <a:prstGeom prst="rect">
            <a:avLst/>
          </a:prstGeom>
          <a:noFill/>
          <a:ln/>
        </p:spPr>
        <p:txBody>
          <a:bodyPr wrap="square" lIns="0" tIns="0" rIns="0" bIns="0" rtlCol="0" anchor="t">
            <a:normAutofit/>
          </a:bodyPr>
          <a:lstStyle/>
          <a:p>
            <a:pPr algn="l" indent="0" marL="0">
              <a:buNone/>
            </a:pPr>
            <a:r>
              <a:rPr lang="en-US" sz="2450" b="1" dirty="0">
                <a:solidFill>
                  <a:srgbClr val="762C2B"/>
                </a:solidFill>
                <a:latin typeface="Aptos" pitchFamily="34" charset="0"/>
                <a:ea typeface="Aptos" pitchFamily="34" charset="-122"/>
                <a:cs typeface="Aptos" pitchFamily="34" charset="-120"/>
              </a:rPr>
              <a:t>A polished answer—</a:t>
            </a:r>
            <a:endParaRPr lang="en-US" sz="2450" dirty="0"/>
          </a:p>
          <a:p>
            <a:pPr algn="l" indent="0" marL="0">
              <a:buNone/>
            </a:pPr>
            <a:r>
              <a:rPr lang="en-US" sz="2450" b="1" dirty="0">
                <a:solidFill>
                  <a:srgbClr val="762C2B"/>
                </a:solidFill>
                <a:latin typeface="Aptos" pitchFamily="34" charset="0"/>
                <a:ea typeface="Aptos" pitchFamily="34" charset="-122"/>
                <a:cs typeface="Aptos" pitchFamily="34" charset="-120"/>
              </a:rPr>
              <a:t>but too generic</a:t>
            </a:r>
            <a:endParaRPr lang="en-US" sz="2450" dirty="0"/>
          </a:p>
        </p:txBody>
      </p:sp>
      <p:sp>
        <p:nvSpPr>
          <p:cNvPr id="9" name="Shape 7"/>
          <p:cNvSpPr/>
          <p:nvPr/>
        </p:nvSpPr>
        <p:spPr>
          <a:xfrm>
            <a:off x="960120" y="3776472"/>
            <a:ext cx="100584" cy="100584"/>
          </a:xfrm>
          <a:prstGeom prst="ellipse">
            <a:avLst/>
          </a:prstGeom>
          <a:solidFill>
            <a:srgbClr val="B94A48"/>
          </a:solidFill>
          <a:ln w="12700">
            <a:solidFill>
              <a:srgbClr val="B94A48"/>
            </a:solidFill>
            <a:prstDash val="solid"/>
          </a:ln>
        </p:spPr>
      </p:sp>
      <p:sp>
        <p:nvSpPr>
          <p:cNvPr id="10" name="Text 8"/>
          <p:cNvSpPr txBox="1"/>
          <p:nvPr/>
        </p:nvSpPr>
        <p:spPr>
          <a:xfrm>
            <a:off x="1161288" y="3657600"/>
            <a:ext cx="3639312" cy="347472"/>
          </a:xfrm>
          <a:prstGeom prst="rect">
            <a:avLst/>
          </a:prstGeom>
          <a:noFill/>
          <a:ln/>
        </p:spPr>
        <p:txBody>
          <a:bodyPr wrap="square" lIns="0" tIns="0" rIns="0" bIns="0" rtlCol="0" anchor="t">
            <a:normAutofit/>
          </a:bodyPr>
          <a:lstStyle/>
          <a:p>
            <a:pPr algn="l" indent="0" marL="0">
              <a:buNone/>
            </a:pPr>
            <a:r>
              <a:rPr lang="en-US" sz="1330" dirty="0">
                <a:solidFill>
                  <a:srgbClr val="172033"/>
                </a:solidFill>
                <a:latin typeface="Aptos" pitchFamily="34" charset="0"/>
                <a:ea typeface="Aptos" pitchFamily="34" charset="-122"/>
                <a:cs typeface="Aptos" pitchFamily="34" charset="-120"/>
              </a:rPr>
              <a:t>Can miss local deployment and rollback rules</a:t>
            </a:r>
            <a:endParaRPr lang="en-US" sz="1330" dirty="0"/>
          </a:p>
        </p:txBody>
      </p:sp>
      <p:sp>
        <p:nvSpPr>
          <p:cNvPr id="11" name="Shape 9"/>
          <p:cNvSpPr/>
          <p:nvPr/>
        </p:nvSpPr>
        <p:spPr>
          <a:xfrm>
            <a:off x="960120" y="4288536"/>
            <a:ext cx="100584" cy="100584"/>
          </a:xfrm>
          <a:prstGeom prst="ellipse">
            <a:avLst/>
          </a:prstGeom>
          <a:solidFill>
            <a:srgbClr val="B94A48"/>
          </a:solidFill>
          <a:ln w="12700">
            <a:solidFill>
              <a:srgbClr val="B94A48"/>
            </a:solidFill>
            <a:prstDash val="solid"/>
          </a:ln>
        </p:spPr>
      </p:sp>
      <p:sp>
        <p:nvSpPr>
          <p:cNvPr id="12" name="Text 10"/>
          <p:cNvSpPr txBox="1"/>
          <p:nvPr/>
        </p:nvSpPr>
        <p:spPr>
          <a:xfrm>
            <a:off x="1161288" y="4169664"/>
            <a:ext cx="3639312" cy="347472"/>
          </a:xfrm>
          <a:prstGeom prst="rect">
            <a:avLst/>
          </a:prstGeom>
          <a:noFill/>
          <a:ln/>
        </p:spPr>
        <p:txBody>
          <a:bodyPr wrap="square" lIns="0" tIns="0" rIns="0" bIns="0" rtlCol="0" anchor="t">
            <a:normAutofit/>
          </a:bodyPr>
          <a:lstStyle/>
          <a:p>
            <a:pPr algn="l" indent="0" marL="0">
              <a:buNone/>
            </a:pPr>
            <a:r>
              <a:rPr lang="en-US" sz="1330" dirty="0">
                <a:solidFill>
                  <a:srgbClr val="172033"/>
                </a:solidFill>
                <a:latin typeface="Aptos" pitchFamily="34" charset="0"/>
                <a:ea typeface="Aptos" pitchFamily="34" charset="-122"/>
                <a:cs typeface="Aptos" pitchFamily="34" charset="-120"/>
              </a:rPr>
              <a:t>Can assume the wrong level of risk</a:t>
            </a:r>
            <a:endParaRPr lang="en-US" sz="1330" dirty="0"/>
          </a:p>
        </p:txBody>
      </p:sp>
      <p:sp>
        <p:nvSpPr>
          <p:cNvPr id="13" name="Shape 11"/>
          <p:cNvSpPr/>
          <p:nvPr/>
        </p:nvSpPr>
        <p:spPr>
          <a:xfrm>
            <a:off x="960120" y="4800600"/>
            <a:ext cx="100584" cy="100584"/>
          </a:xfrm>
          <a:prstGeom prst="ellipse">
            <a:avLst/>
          </a:prstGeom>
          <a:solidFill>
            <a:srgbClr val="B94A48"/>
          </a:solidFill>
          <a:ln w="12700">
            <a:solidFill>
              <a:srgbClr val="B94A48"/>
            </a:solidFill>
            <a:prstDash val="solid"/>
          </a:ln>
        </p:spPr>
      </p:sp>
      <p:sp>
        <p:nvSpPr>
          <p:cNvPr id="14" name="Text 12"/>
          <p:cNvSpPr txBox="1"/>
          <p:nvPr/>
        </p:nvSpPr>
        <p:spPr>
          <a:xfrm>
            <a:off x="1161288" y="4681728"/>
            <a:ext cx="3639312" cy="347472"/>
          </a:xfrm>
          <a:prstGeom prst="rect">
            <a:avLst/>
          </a:prstGeom>
          <a:noFill/>
          <a:ln/>
        </p:spPr>
        <p:txBody>
          <a:bodyPr wrap="square" lIns="0" tIns="0" rIns="0" bIns="0" rtlCol="0" anchor="t">
            <a:normAutofit/>
          </a:bodyPr>
          <a:lstStyle/>
          <a:p>
            <a:pPr algn="l" indent="0" marL="0">
              <a:buNone/>
            </a:pPr>
            <a:r>
              <a:rPr lang="en-US" sz="1330" dirty="0">
                <a:solidFill>
                  <a:srgbClr val="172033"/>
                </a:solidFill>
                <a:latin typeface="Aptos" pitchFamily="34" charset="0"/>
                <a:ea typeface="Aptos" pitchFamily="34" charset="-122"/>
                <a:cs typeface="Aptos" pitchFamily="34" charset="-120"/>
              </a:rPr>
              <a:t>Pushes discovery and correction into review</a:t>
            </a:r>
            <a:endParaRPr lang="en-US" sz="1330" dirty="0"/>
          </a:p>
        </p:txBody>
      </p:sp>
      <p:sp>
        <p:nvSpPr>
          <p:cNvPr id="15" name="Shape 13"/>
          <p:cNvSpPr/>
          <p:nvPr/>
        </p:nvSpPr>
        <p:spPr>
          <a:xfrm>
            <a:off x="5577840" y="3255264"/>
            <a:ext cx="786384" cy="612648"/>
          </a:xfrm>
          <a:prstGeom prst="chevron">
            <a:avLst/>
          </a:prstGeom>
          <a:solidFill>
            <a:srgbClr val="007F80"/>
          </a:solidFill>
          <a:ln w="12700">
            <a:solidFill>
              <a:srgbClr val="007F80"/>
            </a:solidFill>
            <a:prstDash val="solid"/>
          </a:ln>
        </p:spPr>
      </p:sp>
      <p:sp>
        <p:nvSpPr>
          <p:cNvPr id="16" name="Shape 14"/>
          <p:cNvSpPr/>
          <p:nvPr/>
        </p:nvSpPr>
        <p:spPr>
          <a:xfrm>
            <a:off x="6565392" y="1764792"/>
            <a:ext cx="5010912" cy="4096512"/>
          </a:xfrm>
          <a:prstGeom prst="roundRect">
            <a:avLst>
              <a:gd name="adj" fmla="val 1786"/>
            </a:avLst>
          </a:prstGeom>
          <a:solidFill>
            <a:srgbClr val="E9F5EF"/>
          </a:solidFill>
          <a:ln w="10160">
            <a:solidFill>
              <a:srgbClr val="BCDACB"/>
            </a:solidFill>
            <a:prstDash val="solid"/>
          </a:ln>
        </p:spPr>
      </p:sp>
      <p:sp>
        <p:nvSpPr>
          <p:cNvPr id="17" name="Shape 15"/>
          <p:cNvSpPr/>
          <p:nvPr/>
        </p:nvSpPr>
        <p:spPr>
          <a:xfrm>
            <a:off x="6858000" y="2029968"/>
            <a:ext cx="2523744" cy="292608"/>
          </a:xfrm>
          <a:prstGeom prst="roundRect">
            <a:avLst>
              <a:gd name="adj" fmla="val 50000"/>
            </a:avLst>
          </a:prstGeom>
          <a:solidFill>
            <a:srgbClr val="D7ECDF"/>
          </a:solidFill>
          <a:ln w="12700">
            <a:solidFill>
              <a:srgbClr val="D7ECDF"/>
            </a:solidFill>
            <a:prstDash val="solid"/>
          </a:ln>
        </p:spPr>
      </p:sp>
      <p:sp>
        <p:nvSpPr>
          <p:cNvPr id="18" name="Text 16"/>
          <p:cNvSpPr txBox="1"/>
          <p:nvPr/>
        </p:nvSpPr>
        <p:spPr>
          <a:xfrm>
            <a:off x="6922008" y="2048256"/>
            <a:ext cx="2395728" cy="228600"/>
          </a:xfrm>
          <a:prstGeom prst="rect">
            <a:avLst/>
          </a:prstGeom>
          <a:noFill/>
          <a:ln/>
        </p:spPr>
        <p:txBody>
          <a:bodyPr wrap="square" lIns="0" tIns="0" rIns="0" bIns="0" rtlCol="0" anchor="ctr">
            <a:normAutofit/>
          </a:bodyPr>
          <a:lstStyle/>
          <a:p>
            <a:pPr algn="ctr" indent="0" marL="0">
              <a:buNone/>
            </a:pPr>
            <a:r>
              <a:rPr lang="en-US" sz="920" b="1" spc="40" kern="0" dirty="0">
                <a:solidFill>
                  <a:srgbClr val="2D8A65"/>
                </a:solidFill>
                <a:latin typeface="Aptos" pitchFamily="34" charset="0"/>
                <a:ea typeface="Aptos" pitchFamily="34" charset="-122"/>
                <a:cs typeface="Aptos" pitchFamily="34" charset="-120"/>
              </a:rPr>
              <a:t>WITH THE CURRENT PROOF OF CONCEPT</a:t>
            </a:r>
            <a:endParaRPr lang="en-US" sz="920" dirty="0"/>
          </a:p>
        </p:txBody>
      </p:sp>
      <p:sp>
        <p:nvSpPr>
          <p:cNvPr id="19" name="Text 17"/>
          <p:cNvSpPr txBox="1"/>
          <p:nvPr/>
        </p:nvSpPr>
        <p:spPr>
          <a:xfrm>
            <a:off x="6858000" y="2596896"/>
            <a:ext cx="4069080" cy="749808"/>
          </a:xfrm>
          <a:prstGeom prst="rect">
            <a:avLst/>
          </a:prstGeom>
          <a:noFill/>
          <a:ln/>
        </p:spPr>
        <p:txBody>
          <a:bodyPr wrap="square" lIns="0" tIns="0" rIns="0" bIns="0" rtlCol="0" anchor="t">
            <a:normAutofit/>
          </a:bodyPr>
          <a:lstStyle/>
          <a:p>
            <a:pPr algn="l" indent="0" marL="0">
              <a:buNone/>
            </a:pPr>
            <a:r>
              <a:rPr lang="en-US" sz="2450" b="1" dirty="0">
                <a:solidFill>
                  <a:srgbClr val="245E46"/>
                </a:solidFill>
                <a:latin typeface="Aptos" pitchFamily="34" charset="0"/>
                <a:ea typeface="Aptos" pitchFamily="34" charset="-122"/>
                <a:cs typeface="Aptos" pitchFamily="34" charset="-120"/>
              </a:rPr>
              <a:t>A plan built from</a:t>
            </a:r>
            <a:endParaRPr lang="en-US" sz="2450" dirty="0"/>
          </a:p>
          <a:p>
            <a:pPr algn="l" indent="0" marL="0">
              <a:buNone/>
            </a:pPr>
            <a:r>
              <a:rPr lang="en-US" sz="2450" b="1" dirty="0">
                <a:solidFill>
                  <a:srgbClr val="245E46"/>
                </a:solidFill>
                <a:latin typeface="Aptos" pitchFamily="34" charset="0"/>
                <a:ea typeface="Aptos" pitchFamily="34" charset="-122"/>
                <a:cs typeface="Aptos" pitchFamily="34" charset="-120"/>
              </a:rPr>
              <a:t>approved project facts</a:t>
            </a:r>
            <a:endParaRPr lang="en-US" sz="2450" dirty="0"/>
          </a:p>
        </p:txBody>
      </p:sp>
      <p:sp>
        <p:nvSpPr>
          <p:cNvPr id="20" name="Shape 18"/>
          <p:cNvSpPr/>
          <p:nvPr/>
        </p:nvSpPr>
        <p:spPr>
          <a:xfrm>
            <a:off x="6894576" y="3776472"/>
            <a:ext cx="100584" cy="100584"/>
          </a:xfrm>
          <a:prstGeom prst="ellipse">
            <a:avLst/>
          </a:prstGeom>
          <a:solidFill>
            <a:srgbClr val="2D8A65"/>
          </a:solidFill>
          <a:ln w="12700">
            <a:solidFill>
              <a:srgbClr val="2D8A65"/>
            </a:solidFill>
            <a:prstDash val="solid"/>
          </a:ln>
        </p:spPr>
      </p:sp>
      <p:sp>
        <p:nvSpPr>
          <p:cNvPr id="21" name="Text 19"/>
          <p:cNvSpPr txBox="1"/>
          <p:nvPr/>
        </p:nvSpPr>
        <p:spPr>
          <a:xfrm>
            <a:off x="7095744" y="3657600"/>
            <a:ext cx="3730752" cy="347472"/>
          </a:xfrm>
          <a:prstGeom prst="rect">
            <a:avLst/>
          </a:prstGeom>
          <a:noFill/>
          <a:ln/>
        </p:spPr>
        <p:txBody>
          <a:bodyPr wrap="square" lIns="0" tIns="0" rIns="0" bIns="0" rtlCol="0" anchor="t">
            <a:normAutofit/>
          </a:bodyPr>
          <a:lstStyle/>
          <a:p>
            <a:pPr algn="l" indent="0" marL="0">
              <a:buNone/>
            </a:pPr>
            <a:r>
              <a:rPr lang="en-US" sz="1330" dirty="0">
                <a:solidFill>
                  <a:srgbClr val="172033"/>
                </a:solidFill>
                <a:latin typeface="Aptos" pitchFamily="34" charset="0"/>
                <a:ea typeface="Aptos" pitchFamily="34" charset="-122"/>
                <a:cs typeface="Aptos" pitchFamily="34" charset="-120"/>
              </a:rPr>
              <a:t>Known rules and constraints are visible</a:t>
            </a:r>
            <a:endParaRPr lang="en-US" sz="1330" dirty="0"/>
          </a:p>
        </p:txBody>
      </p:sp>
      <p:sp>
        <p:nvSpPr>
          <p:cNvPr id="22" name="Shape 20"/>
          <p:cNvSpPr/>
          <p:nvPr/>
        </p:nvSpPr>
        <p:spPr>
          <a:xfrm>
            <a:off x="6894576" y="4288536"/>
            <a:ext cx="100584" cy="100584"/>
          </a:xfrm>
          <a:prstGeom prst="ellipse">
            <a:avLst/>
          </a:prstGeom>
          <a:solidFill>
            <a:srgbClr val="2D8A65"/>
          </a:solidFill>
          <a:ln w="12700">
            <a:solidFill>
              <a:srgbClr val="2D8A65"/>
            </a:solidFill>
            <a:prstDash val="solid"/>
          </a:ln>
        </p:spPr>
      </p:sp>
      <p:sp>
        <p:nvSpPr>
          <p:cNvPr id="23" name="Text 21"/>
          <p:cNvSpPr txBox="1"/>
          <p:nvPr/>
        </p:nvSpPr>
        <p:spPr>
          <a:xfrm>
            <a:off x="7095744" y="4169664"/>
            <a:ext cx="3730752" cy="347472"/>
          </a:xfrm>
          <a:prstGeom prst="rect">
            <a:avLst/>
          </a:prstGeom>
          <a:noFill/>
          <a:ln/>
        </p:spPr>
        <p:txBody>
          <a:bodyPr wrap="square" lIns="0" tIns="0" rIns="0" bIns="0" rtlCol="0" anchor="t">
            <a:normAutofit/>
          </a:bodyPr>
          <a:lstStyle/>
          <a:p>
            <a:pPr algn="l" indent="0" marL="0">
              <a:buNone/>
            </a:pPr>
            <a:r>
              <a:rPr lang="en-US" sz="1330" dirty="0">
                <a:solidFill>
                  <a:srgbClr val="172033"/>
                </a:solidFill>
                <a:latin typeface="Aptos" pitchFamily="34" charset="0"/>
                <a:ea typeface="Aptos" pitchFamily="34" charset="-122"/>
                <a:cs typeface="Aptos" pitchFamily="34" charset="-120"/>
              </a:rPr>
              <a:t>Important missing information is called out before review</a:t>
            </a:r>
            <a:endParaRPr lang="en-US" sz="1330" dirty="0"/>
          </a:p>
        </p:txBody>
      </p:sp>
      <p:sp>
        <p:nvSpPr>
          <p:cNvPr id="24" name="Shape 22"/>
          <p:cNvSpPr/>
          <p:nvPr/>
        </p:nvSpPr>
        <p:spPr>
          <a:xfrm>
            <a:off x="6894576" y="4818888"/>
            <a:ext cx="1426464" cy="292608"/>
          </a:xfrm>
          <a:prstGeom prst="roundRect">
            <a:avLst>
              <a:gd name="adj" fmla="val 50000"/>
            </a:avLst>
          </a:prstGeom>
          <a:solidFill>
            <a:srgbClr val="FFF3DE"/>
          </a:solidFill>
          <a:ln w="12700">
            <a:solidFill>
              <a:srgbClr val="FFF3DE"/>
            </a:solidFill>
            <a:prstDash val="solid"/>
          </a:ln>
        </p:spPr>
      </p:sp>
      <p:sp>
        <p:nvSpPr>
          <p:cNvPr id="25" name="Text 23"/>
          <p:cNvSpPr txBox="1"/>
          <p:nvPr/>
        </p:nvSpPr>
        <p:spPr>
          <a:xfrm>
            <a:off x="6958584" y="4837176"/>
            <a:ext cx="1298448" cy="228600"/>
          </a:xfrm>
          <a:prstGeom prst="rect">
            <a:avLst/>
          </a:prstGeom>
          <a:noFill/>
          <a:ln/>
        </p:spPr>
        <p:txBody>
          <a:bodyPr wrap="square" lIns="0" tIns="0" rIns="0" bIns="0" rtlCol="0" anchor="ctr">
            <a:normAutofit/>
          </a:bodyPr>
          <a:lstStyle/>
          <a:p>
            <a:pPr algn="ctr" indent="0" marL="0">
              <a:buNone/>
            </a:pPr>
            <a:r>
              <a:rPr lang="en-US" sz="920" b="1" spc="40" kern="0" dirty="0">
                <a:solidFill>
                  <a:srgbClr val="82530D"/>
                </a:solidFill>
                <a:latin typeface="Aptos" pitchFamily="34" charset="0"/>
                <a:ea typeface="Aptos" pitchFamily="34" charset="-122"/>
                <a:cs typeface="Aptos" pitchFamily="34" charset="-120"/>
              </a:rPr>
              <a:t>TARGET EXTENSION</a:t>
            </a:r>
            <a:endParaRPr lang="en-US" sz="920" dirty="0"/>
          </a:p>
        </p:txBody>
      </p:sp>
      <p:sp>
        <p:nvSpPr>
          <p:cNvPr id="26" name="Text 24"/>
          <p:cNvSpPr txBox="1"/>
          <p:nvPr/>
        </p:nvSpPr>
        <p:spPr>
          <a:xfrm>
            <a:off x="8485632" y="4800600"/>
            <a:ext cx="2615184" cy="384048"/>
          </a:xfrm>
          <a:prstGeom prst="rect">
            <a:avLst/>
          </a:prstGeom>
          <a:noFill/>
          <a:ln/>
        </p:spPr>
        <p:txBody>
          <a:bodyPr wrap="square" lIns="0" tIns="0" rIns="0" bIns="0" rtlCol="0" anchor="ctr">
            <a:normAutofit/>
          </a:bodyPr>
          <a:lstStyle/>
          <a:p>
            <a:pPr algn="l" indent="0" marL="0">
              <a:buNone/>
            </a:pPr>
            <a:r>
              <a:rPr lang="en-US" sz="1220" b="1" dirty="0">
                <a:solidFill>
                  <a:srgbClr val="163454"/>
                </a:solidFill>
                <a:latin typeface="Aptos" pitchFamily="34" charset="0"/>
                <a:ea typeface="Aptos" pitchFamily="34" charset="-122"/>
                <a:cs typeface="Aptos" pitchFamily="34" charset="-120"/>
              </a:rPr>
              <a:t>Capture one short answer and apply it safely.</a:t>
            </a:r>
            <a:endParaRPr lang="en-US" sz="1220" dirty="0"/>
          </a:p>
        </p:txBody>
      </p:sp>
      <p:sp>
        <p:nvSpPr>
          <p:cNvPr id="25" name="Slide Number Placeholder 0"/>
          <p:cNvSpPr>
            <a:spLocks noGrp="1"/>
          </p:cNvSpPr>
          <p:nvPr>
            <p:ph type="sldNum" sz="quarter" idx="4294967295"/>
          </p:nvPr>
        </p:nvSpPr>
        <p:spPr>
          <a:xfrm>
            <a:off x="11658600" y="6492240"/>
            <a:ext cx="800000" cy="300000"/>
          </a:xfrm>
          <a:prstGeom prst="rect">
            <a:avLst/>
          </a:prstGeom>
          <a:extLst>
            <a:ext uri="{C572A759-6A51-4108-AA02-DFA0A04FC94B}">
              <ma14:wrappingTextBoxFlag xmlns:ma14="http://schemas.microsoft.com/office/mac/drawingml/2011/main" val="0"/>
            </a:ext>
          </a:extLst>
        </p:spPr>
        <p:txBody>
          <a:bodyPr/>
          <a:lstStyle>
            <a:lvl1pPr>
              <a:defRPr sz="780">
                <a:solidFill>
                  <a:srgbClr val="667085"/>
                </a:solidFill>
                <a:latin typeface="Aptos"/>
                <a:ea typeface="Aptos"/>
                <a:cs typeface="Aptos"/>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603504" y="310896"/>
            <a:ext cx="5120640" cy="219456"/>
          </a:xfrm>
          <a:prstGeom prst="rect">
            <a:avLst/>
          </a:prstGeom>
          <a:noFill/>
          <a:ln/>
        </p:spPr>
        <p:txBody>
          <a:bodyPr wrap="square" lIns="0" tIns="0" rIns="0" bIns="0" rtlCol="0" anchor="ctr">
            <a:normAutofit/>
          </a:bodyPr>
          <a:lstStyle/>
          <a:p>
            <a:pPr algn="l" indent="0" marL="0">
              <a:buNone/>
            </a:pPr>
            <a:r>
              <a:rPr lang="en-US" sz="950" b="1" spc="120" kern="0" dirty="0">
                <a:solidFill>
                  <a:srgbClr val="007F80"/>
                </a:solidFill>
                <a:latin typeface="Aptos" pitchFamily="34" charset="0"/>
                <a:ea typeface="Aptos" pitchFamily="34" charset="-122"/>
                <a:cs typeface="Aptos" pitchFamily="34" charset="-120"/>
              </a:rPr>
              <a:t>CURRENT VALUE</a:t>
            </a:r>
            <a:endParaRPr lang="en-US" sz="950" dirty="0"/>
          </a:p>
        </p:txBody>
      </p:sp>
      <p:sp>
        <p:nvSpPr>
          <p:cNvPr id="3" name="Text 1"/>
          <p:cNvSpPr txBox="1"/>
          <p:nvPr/>
        </p:nvSpPr>
        <p:spPr>
          <a:xfrm>
            <a:off x="603504" y="603504"/>
            <a:ext cx="10972800" cy="548640"/>
          </a:xfrm>
          <a:prstGeom prst="rect">
            <a:avLst/>
          </a:prstGeom>
          <a:noFill/>
          <a:ln/>
        </p:spPr>
        <p:txBody>
          <a:bodyPr wrap="square" lIns="0" tIns="0" rIns="0" bIns="0" rtlCol="0" anchor="ctr">
            <a:normAutofit/>
          </a:bodyPr>
          <a:lstStyle/>
          <a:p>
            <a:pPr algn="l" indent="0" marL="0">
              <a:buNone/>
            </a:pPr>
            <a:r>
              <a:rPr lang="en-US" sz="2750" b="1" dirty="0">
                <a:solidFill>
                  <a:srgbClr val="172033"/>
                </a:solidFill>
                <a:latin typeface="Aptos" pitchFamily="34" charset="0"/>
                <a:ea typeface="Aptos" pitchFamily="34" charset="-122"/>
                <a:cs typeface="Aptos" pitchFamily="34" charset="-120"/>
              </a:rPr>
              <a:t>Benefits visible in the working proof of concept</a:t>
            </a:r>
            <a:endParaRPr lang="en-US" sz="2750" dirty="0"/>
          </a:p>
        </p:txBody>
      </p:sp>
      <p:sp>
        <p:nvSpPr>
          <p:cNvPr id="4" name="Text 2"/>
          <p:cNvSpPr txBox="1"/>
          <p:nvPr/>
        </p:nvSpPr>
        <p:spPr>
          <a:xfrm>
            <a:off x="603504" y="1170432"/>
            <a:ext cx="10927080" cy="365760"/>
          </a:xfrm>
          <a:prstGeom prst="rect">
            <a:avLst/>
          </a:prstGeom>
          <a:noFill/>
          <a:ln/>
        </p:spPr>
        <p:txBody>
          <a:bodyPr wrap="square" lIns="0" tIns="0" rIns="0" bIns="0" rtlCol="0" anchor="ctr">
            <a:normAutofit/>
          </a:bodyPr>
          <a:lstStyle/>
          <a:p>
            <a:pPr algn="l" indent="0" marL="0">
              <a:buNone/>
            </a:pPr>
            <a:r>
              <a:rPr lang="en-US" sz="1350" dirty="0">
                <a:solidFill>
                  <a:srgbClr val="667085"/>
                </a:solidFill>
                <a:latin typeface="Aptos" pitchFamily="34" charset="0"/>
                <a:ea typeface="Aptos" pitchFamily="34" charset="-122"/>
                <a:cs typeface="Aptos" pitchFamily="34" charset="-120"/>
              </a:rPr>
              <a:t>The product reduces repeated work while keeping the developer in control.</a:t>
            </a:r>
            <a:endParaRPr lang="en-US" sz="1350" dirty="0"/>
          </a:p>
        </p:txBody>
      </p:sp>
      <p:sp>
        <p:nvSpPr>
          <p:cNvPr id="5" name="Shape 3"/>
          <p:cNvSpPr/>
          <p:nvPr/>
        </p:nvSpPr>
        <p:spPr>
          <a:xfrm>
            <a:off x="640080" y="1737360"/>
            <a:ext cx="3429000" cy="1682496"/>
          </a:xfrm>
          <a:prstGeom prst="roundRect">
            <a:avLst>
              <a:gd name="adj" fmla="val 4348"/>
            </a:avLst>
          </a:prstGeom>
          <a:solidFill>
            <a:srgbClr val="FFFFFF"/>
          </a:solidFill>
          <a:ln w="10160">
            <a:solidFill>
              <a:srgbClr val="D8DEE7"/>
            </a:solidFill>
            <a:prstDash val="solid"/>
          </a:ln>
        </p:spPr>
      </p:sp>
      <p:sp>
        <p:nvSpPr>
          <p:cNvPr id="6" name="Shape 4"/>
          <p:cNvSpPr/>
          <p:nvPr/>
        </p:nvSpPr>
        <p:spPr>
          <a:xfrm>
            <a:off x="640080" y="1737360"/>
            <a:ext cx="73152" cy="1682496"/>
          </a:xfrm>
          <a:prstGeom prst="rect">
            <a:avLst/>
          </a:prstGeom>
          <a:solidFill>
            <a:srgbClr val="2D8A65"/>
          </a:solidFill>
          <a:ln w="12700">
            <a:solidFill>
              <a:srgbClr val="2D8A65"/>
            </a:solidFill>
            <a:prstDash val="solid"/>
          </a:ln>
        </p:spPr>
      </p:sp>
      <p:sp>
        <p:nvSpPr>
          <p:cNvPr id="7" name="Text 5"/>
          <p:cNvSpPr txBox="1"/>
          <p:nvPr/>
        </p:nvSpPr>
        <p:spPr>
          <a:xfrm>
            <a:off x="886968" y="1920240"/>
            <a:ext cx="2971800" cy="201168"/>
          </a:xfrm>
          <a:prstGeom prst="rect">
            <a:avLst/>
          </a:prstGeom>
          <a:noFill/>
          <a:ln/>
        </p:spPr>
        <p:txBody>
          <a:bodyPr wrap="square" lIns="0" tIns="0" rIns="0" bIns="0" rtlCol="0" anchor="ctr">
            <a:normAutofit/>
          </a:bodyPr>
          <a:lstStyle/>
          <a:p>
            <a:pPr algn="l" indent="0" marL="0">
              <a:buNone/>
            </a:pPr>
            <a:r>
              <a:rPr lang="en-US" sz="880" b="1" spc="70" kern="0" dirty="0">
                <a:solidFill>
                  <a:srgbClr val="2D8A65"/>
                </a:solidFill>
                <a:latin typeface="Aptos" pitchFamily="34" charset="0"/>
                <a:ea typeface="Aptos" pitchFamily="34" charset="-122"/>
                <a:cs typeface="Aptos" pitchFamily="34" charset="-120"/>
              </a:rPr>
              <a:t>01</a:t>
            </a:r>
            <a:endParaRPr lang="en-US" sz="880" dirty="0"/>
          </a:p>
        </p:txBody>
      </p:sp>
      <p:sp>
        <p:nvSpPr>
          <p:cNvPr id="8" name="Text 6"/>
          <p:cNvSpPr txBox="1"/>
          <p:nvPr/>
        </p:nvSpPr>
        <p:spPr>
          <a:xfrm>
            <a:off x="886968" y="2203704"/>
            <a:ext cx="2953512" cy="338328"/>
          </a:xfrm>
          <a:prstGeom prst="rect">
            <a:avLst/>
          </a:prstGeom>
          <a:noFill/>
          <a:ln/>
        </p:spPr>
        <p:txBody>
          <a:bodyPr wrap="square" lIns="0" tIns="0" rIns="0" bIns="0" rtlCol="0" anchor="ctr">
            <a:normAutofit/>
          </a:bodyPr>
          <a:lstStyle/>
          <a:p>
            <a:pPr algn="l" indent="0" marL="0">
              <a:buNone/>
            </a:pPr>
            <a:r>
              <a:rPr lang="en-US" sz="1650" b="1" dirty="0">
                <a:solidFill>
                  <a:srgbClr val="172033"/>
                </a:solidFill>
                <a:latin typeface="Aptos" pitchFamily="34" charset="0"/>
                <a:ea typeface="Aptos" pitchFamily="34" charset="-122"/>
                <a:cs typeface="Aptos" pitchFamily="34" charset="-120"/>
              </a:rPr>
              <a:t>Less setup time</a:t>
            </a:r>
            <a:endParaRPr lang="en-US" sz="1650" dirty="0"/>
          </a:p>
        </p:txBody>
      </p:sp>
      <p:sp>
        <p:nvSpPr>
          <p:cNvPr id="9" name="Text 7"/>
          <p:cNvSpPr txBox="1"/>
          <p:nvPr/>
        </p:nvSpPr>
        <p:spPr>
          <a:xfrm>
            <a:off x="886968" y="2615184"/>
            <a:ext cx="2953512" cy="640080"/>
          </a:xfrm>
          <a:prstGeom prst="rect">
            <a:avLst/>
          </a:prstGeom>
          <a:noFill/>
          <a:ln/>
        </p:spPr>
        <p:txBody>
          <a:bodyPr wrap="square" lIns="0" tIns="0" rIns="0" bIns="0" rtlCol="0" anchor="t">
            <a:normAutofit/>
          </a:bodyPr>
          <a:lstStyle/>
          <a:p>
            <a:pPr algn="l" indent="0" marL="0">
              <a:buNone/>
            </a:pPr>
            <a:r>
              <a:rPr lang="en-US" sz="1180" dirty="0">
                <a:solidFill>
                  <a:srgbClr val="667085"/>
                </a:solidFill>
                <a:latin typeface="Aptos" pitchFamily="34" charset="0"/>
                <a:ea typeface="Aptos" pitchFamily="34" charset="-122"/>
                <a:cs typeface="Aptos" pitchFamily="34" charset="-120"/>
              </a:rPr>
              <a:t>Reuse approved project knowledge instead of explaining it again.</a:t>
            </a:r>
            <a:endParaRPr lang="en-US" sz="1180" dirty="0"/>
          </a:p>
        </p:txBody>
      </p:sp>
      <p:sp>
        <p:nvSpPr>
          <p:cNvPr id="10" name="Shape 8"/>
          <p:cNvSpPr/>
          <p:nvPr/>
        </p:nvSpPr>
        <p:spPr>
          <a:xfrm>
            <a:off x="4389120" y="1737360"/>
            <a:ext cx="3429000" cy="1682496"/>
          </a:xfrm>
          <a:prstGeom prst="roundRect">
            <a:avLst>
              <a:gd name="adj" fmla="val 4348"/>
            </a:avLst>
          </a:prstGeom>
          <a:solidFill>
            <a:srgbClr val="FFFFFF"/>
          </a:solidFill>
          <a:ln w="10160">
            <a:solidFill>
              <a:srgbClr val="D8DEE7"/>
            </a:solidFill>
            <a:prstDash val="solid"/>
          </a:ln>
        </p:spPr>
      </p:sp>
      <p:sp>
        <p:nvSpPr>
          <p:cNvPr id="11" name="Shape 9"/>
          <p:cNvSpPr/>
          <p:nvPr/>
        </p:nvSpPr>
        <p:spPr>
          <a:xfrm>
            <a:off x="4389120" y="1737360"/>
            <a:ext cx="73152" cy="1682496"/>
          </a:xfrm>
          <a:prstGeom prst="rect">
            <a:avLst/>
          </a:prstGeom>
          <a:solidFill>
            <a:srgbClr val="007F80"/>
          </a:solidFill>
          <a:ln w="12700">
            <a:solidFill>
              <a:srgbClr val="007F80"/>
            </a:solidFill>
            <a:prstDash val="solid"/>
          </a:ln>
        </p:spPr>
      </p:sp>
      <p:sp>
        <p:nvSpPr>
          <p:cNvPr id="12" name="Text 10"/>
          <p:cNvSpPr txBox="1"/>
          <p:nvPr/>
        </p:nvSpPr>
        <p:spPr>
          <a:xfrm>
            <a:off x="4636008" y="1920240"/>
            <a:ext cx="2971800" cy="201168"/>
          </a:xfrm>
          <a:prstGeom prst="rect">
            <a:avLst/>
          </a:prstGeom>
          <a:noFill/>
          <a:ln/>
        </p:spPr>
        <p:txBody>
          <a:bodyPr wrap="square" lIns="0" tIns="0" rIns="0" bIns="0" rtlCol="0" anchor="ctr">
            <a:normAutofit/>
          </a:bodyPr>
          <a:lstStyle/>
          <a:p>
            <a:pPr algn="l" indent="0" marL="0">
              <a:buNone/>
            </a:pPr>
            <a:r>
              <a:rPr lang="en-US" sz="880" b="1" spc="70" kern="0" dirty="0">
                <a:solidFill>
                  <a:srgbClr val="007F80"/>
                </a:solidFill>
                <a:latin typeface="Aptos" pitchFamily="34" charset="0"/>
                <a:ea typeface="Aptos" pitchFamily="34" charset="-122"/>
                <a:cs typeface="Aptos" pitchFamily="34" charset="-120"/>
              </a:rPr>
              <a:t>02</a:t>
            </a:r>
            <a:endParaRPr lang="en-US" sz="880" dirty="0"/>
          </a:p>
        </p:txBody>
      </p:sp>
      <p:sp>
        <p:nvSpPr>
          <p:cNvPr id="13" name="Text 11"/>
          <p:cNvSpPr txBox="1"/>
          <p:nvPr/>
        </p:nvSpPr>
        <p:spPr>
          <a:xfrm>
            <a:off x="4636008" y="2203704"/>
            <a:ext cx="2953512" cy="338328"/>
          </a:xfrm>
          <a:prstGeom prst="rect">
            <a:avLst/>
          </a:prstGeom>
          <a:noFill/>
          <a:ln/>
        </p:spPr>
        <p:txBody>
          <a:bodyPr wrap="square" lIns="0" tIns="0" rIns="0" bIns="0" rtlCol="0" anchor="ctr">
            <a:normAutofit/>
          </a:bodyPr>
          <a:lstStyle/>
          <a:p>
            <a:pPr algn="l" indent="0" marL="0">
              <a:buNone/>
            </a:pPr>
            <a:r>
              <a:rPr lang="en-US" sz="1650" b="1" dirty="0">
                <a:solidFill>
                  <a:srgbClr val="172033"/>
                </a:solidFill>
                <a:latin typeface="Aptos" pitchFamily="34" charset="0"/>
                <a:ea typeface="Aptos" pitchFamily="34" charset="-122"/>
                <a:cs typeface="Aptos" pitchFamily="34" charset="-120"/>
              </a:rPr>
              <a:t>Fewer missed requirements</a:t>
            </a:r>
            <a:endParaRPr lang="en-US" sz="1650" dirty="0"/>
          </a:p>
        </p:txBody>
      </p:sp>
      <p:sp>
        <p:nvSpPr>
          <p:cNvPr id="14" name="Text 12"/>
          <p:cNvSpPr txBox="1"/>
          <p:nvPr/>
        </p:nvSpPr>
        <p:spPr>
          <a:xfrm>
            <a:off x="4636008" y="2615184"/>
            <a:ext cx="2953512" cy="640080"/>
          </a:xfrm>
          <a:prstGeom prst="rect">
            <a:avLst/>
          </a:prstGeom>
          <a:noFill/>
          <a:ln/>
        </p:spPr>
        <p:txBody>
          <a:bodyPr wrap="square" lIns="0" tIns="0" rIns="0" bIns="0" rtlCol="0" anchor="t">
            <a:normAutofit/>
          </a:bodyPr>
          <a:lstStyle/>
          <a:p>
            <a:pPr algn="l" indent="0" marL="0">
              <a:buNone/>
            </a:pPr>
            <a:r>
              <a:rPr lang="en-US" sz="1180" dirty="0">
                <a:solidFill>
                  <a:srgbClr val="667085"/>
                </a:solidFill>
                <a:latin typeface="Aptos" pitchFamily="34" charset="0"/>
                <a:ea typeface="Aptos" pitchFamily="34" charset="-122"/>
                <a:cs typeface="Aptos" pitchFamily="34" charset="-120"/>
              </a:rPr>
              <a:t>Keep known rules and constraints in view while work is prepared.</a:t>
            </a:r>
            <a:endParaRPr lang="en-US" sz="1180" dirty="0"/>
          </a:p>
        </p:txBody>
      </p:sp>
      <p:sp>
        <p:nvSpPr>
          <p:cNvPr id="15" name="Shape 13"/>
          <p:cNvSpPr/>
          <p:nvPr/>
        </p:nvSpPr>
        <p:spPr>
          <a:xfrm>
            <a:off x="8138160" y="1737360"/>
            <a:ext cx="3429000" cy="1682496"/>
          </a:xfrm>
          <a:prstGeom prst="roundRect">
            <a:avLst>
              <a:gd name="adj" fmla="val 4348"/>
            </a:avLst>
          </a:prstGeom>
          <a:solidFill>
            <a:srgbClr val="FFFFFF"/>
          </a:solidFill>
          <a:ln w="10160">
            <a:solidFill>
              <a:srgbClr val="D8DEE7"/>
            </a:solidFill>
            <a:prstDash val="solid"/>
          </a:ln>
        </p:spPr>
      </p:sp>
      <p:sp>
        <p:nvSpPr>
          <p:cNvPr id="16" name="Shape 14"/>
          <p:cNvSpPr/>
          <p:nvPr/>
        </p:nvSpPr>
        <p:spPr>
          <a:xfrm>
            <a:off x="8138160" y="1737360"/>
            <a:ext cx="73152" cy="1682496"/>
          </a:xfrm>
          <a:prstGeom prst="rect">
            <a:avLst/>
          </a:prstGeom>
          <a:solidFill>
            <a:srgbClr val="D9952A"/>
          </a:solidFill>
          <a:ln w="12700">
            <a:solidFill>
              <a:srgbClr val="D9952A"/>
            </a:solidFill>
            <a:prstDash val="solid"/>
          </a:ln>
        </p:spPr>
      </p:sp>
      <p:sp>
        <p:nvSpPr>
          <p:cNvPr id="17" name="Text 15"/>
          <p:cNvSpPr txBox="1"/>
          <p:nvPr/>
        </p:nvSpPr>
        <p:spPr>
          <a:xfrm>
            <a:off x="8385048" y="1920240"/>
            <a:ext cx="2971800" cy="201168"/>
          </a:xfrm>
          <a:prstGeom prst="rect">
            <a:avLst/>
          </a:prstGeom>
          <a:noFill/>
          <a:ln/>
        </p:spPr>
        <p:txBody>
          <a:bodyPr wrap="square" lIns="0" tIns="0" rIns="0" bIns="0" rtlCol="0" anchor="ctr">
            <a:normAutofit/>
          </a:bodyPr>
          <a:lstStyle/>
          <a:p>
            <a:pPr algn="l" indent="0" marL="0">
              <a:buNone/>
            </a:pPr>
            <a:r>
              <a:rPr lang="en-US" sz="880" b="1" spc="70" kern="0" dirty="0">
                <a:solidFill>
                  <a:srgbClr val="D9952A"/>
                </a:solidFill>
                <a:latin typeface="Aptos" pitchFamily="34" charset="0"/>
                <a:ea typeface="Aptos" pitchFamily="34" charset="-122"/>
                <a:cs typeface="Aptos" pitchFamily="34" charset="-120"/>
              </a:rPr>
              <a:t>03</a:t>
            </a:r>
            <a:endParaRPr lang="en-US" sz="880" dirty="0"/>
          </a:p>
        </p:txBody>
      </p:sp>
      <p:sp>
        <p:nvSpPr>
          <p:cNvPr id="18" name="Text 16"/>
          <p:cNvSpPr txBox="1"/>
          <p:nvPr/>
        </p:nvSpPr>
        <p:spPr>
          <a:xfrm>
            <a:off x="8385048" y="2203704"/>
            <a:ext cx="2953512" cy="338328"/>
          </a:xfrm>
          <a:prstGeom prst="rect">
            <a:avLst/>
          </a:prstGeom>
          <a:noFill/>
          <a:ln/>
        </p:spPr>
        <p:txBody>
          <a:bodyPr wrap="square" lIns="0" tIns="0" rIns="0" bIns="0" rtlCol="0" anchor="ctr">
            <a:normAutofit/>
          </a:bodyPr>
          <a:lstStyle/>
          <a:p>
            <a:pPr algn="l" indent="0" marL="0">
              <a:buNone/>
            </a:pPr>
            <a:r>
              <a:rPr lang="en-US" sz="1650" b="1" dirty="0">
                <a:solidFill>
                  <a:srgbClr val="172033"/>
                </a:solidFill>
                <a:latin typeface="Aptos" pitchFamily="34" charset="0"/>
                <a:ea typeface="Aptos" pitchFamily="34" charset="-122"/>
                <a:cs typeface="Aptos" pitchFamily="34" charset="-120"/>
              </a:rPr>
              <a:t>Less mental effort</a:t>
            </a:r>
            <a:endParaRPr lang="en-US" sz="1650" dirty="0"/>
          </a:p>
        </p:txBody>
      </p:sp>
      <p:sp>
        <p:nvSpPr>
          <p:cNvPr id="19" name="Text 17"/>
          <p:cNvSpPr txBox="1"/>
          <p:nvPr/>
        </p:nvSpPr>
        <p:spPr>
          <a:xfrm>
            <a:off x="8385048" y="2615184"/>
            <a:ext cx="2953512" cy="640080"/>
          </a:xfrm>
          <a:prstGeom prst="rect">
            <a:avLst/>
          </a:prstGeom>
          <a:noFill/>
          <a:ln/>
        </p:spPr>
        <p:txBody>
          <a:bodyPr wrap="square" lIns="0" tIns="0" rIns="0" bIns="0" rtlCol="0" anchor="t">
            <a:normAutofit/>
          </a:bodyPr>
          <a:lstStyle/>
          <a:p>
            <a:pPr algn="l" indent="0" marL="0">
              <a:buNone/>
            </a:pPr>
            <a:r>
              <a:rPr lang="en-US" sz="1180" dirty="0">
                <a:solidFill>
                  <a:srgbClr val="667085"/>
                </a:solidFill>
                <a:latin typeface="Aptos" pitchFamily="34" charset="0"/>
                <a:ea typeface="Aptos" pitchFamily="34" charset="-122"/>
                <a:cs typeface="Aptos" pitchFamily="34" charset="-120"/>
              </a:rPr>
              <a:t>Reduce searching, repetition and tracking information across tools.</a:t>
            </a:r>
            <a:endParaRPr lang="en-US" sz="1180" dirty="0"/>
          </a:p>
        </p:txBody>
      </p:sp>
      <p:sp>
        <p:nvSpPr>
          <p:cNvPr id="20" name="Shape 18"/>
          <p:cNvSpPr/>
          <p:nvPr/>
        </p:nvSpPr>
        <p:spPr>
          <a:xfrm>
            <a:off x="640080" y="3767328"/>
            <a:ext cx="3429000" cy="1682496"/>
          </a:xfrm>
          <a:prstGeom prst="roundRect">
            <a:avLst>
              <a:gd name="adj" fmla="val 4348"/>
            </a:avLst>
          </a:prstGeom>
          <a:solidFill>
            <a:srgbClr val="FFFFFF"/>
          </a:solidFill>
          <a:ln w="10160">
            <a:solidFill>
              <a:srgbClr val="D8DEE7"/>
            </a:solidFill>
            <a:prstDash val="solid"/>
          </a:ln>
        </p:spPr>
      </p:sp>
      <p:sp>
        <p:nvSpPr>
          <p:cNvPr id="21" name="Shape 19"/>
          <p:cNvSpPr/>
          <p:nvPr/>
        </p:nvSpPr>
        <p:spPr>
          <a:xfrm>
            <a:off x="640080" y="3767328"/>
            <a:ext cx="73152" cy="1682496"/>
          </a:xfrm>
          <a:prstGeom prst="rect">
            <a:avLst/>
          </a:prstGeom>
          <a:solidFill>
            <a:srgbClr val="21A7B7"/>
          </a:solidFill>
          <a:ln w="12700">
            <a:solidFill>
              <a:srgbClr val="21A7B7"/>
            </a:solidFill>
            <a:prstDash val="solid"/>
          </a:ln>
        </p:spPr>
      </p:sp>
      <p:sp>
        <p:nvSpPr>
          <p:cNvPr id="22" name="Text 20"/>
          <p:cNvSpPr txBox="1"/>
          <p:nvPr/>
        </p:nvSpPr>
        <p:spPr>
          <a:xfrm>
            <a:off x="886968" y="3950208"/>
            <a:ext cx="2971800" cy="201168"/>
          </a:xfrm>
          <a:prstGeom prst="rect">
            <a:avLst/>
          </a:prstGeom>
          <a:noFill/>
          <a:ln/>
        </p:spPr>
        <p:txBody>
          <a:bodyPr wrap="square" lIns="0" tIns="0" rIns="0" bIns="0" rtlCol="0" anchor="ctr">
            <a:normAutofit/>
          </a:bodyPr>
          <a:lstStyle/>
          <a:p>
            <a:pPr algn="l" indent="0" marL="0">
              <a:buNone/>
            </a:pPr>
            <a:r>
              <a:rPr lang="en-US" sz="880" b="1" spc="70" kern="0" dirty="0">
                <a:solidFill>
                  <a:srgbClr val="21A7B7"/>
                </a:solidFill>
                <a:latin typeface="Aptos" pitchFamily="34" charset="0"/>
                <a:ea typeface="Aptos" pitchFamily="34" charset="-122"/>
                <a:cs typeface="Aptos" pitchFamily="34" charset="-120"/>
              </a:rPr>
              <a:t>04</a:t>
            </a:r>
            <a:endParaRPr lang="en-US" sz="880" dirty="0"/>
          </a:p>
        </p:txBody>
      </p:sp>
      <p:sp>
        <p:nvSpPr>
          <p:cNvPr id="23" name="Text 21"/>
          <p:cNvSpPr txBox="1"/>
          <p:nvPr/>
        </p:nvSpPr>
        <p:spPr>
          <a:xfrm>
            <a:off x="886968" y="4233672"/>
            <a:ext cx="2953512" cy="338328"/>
          </a:xfrm>
          <a:prstGeom prst="rect">
            <a:avLst/>
          </a:prstGeom>
          <a:noFill/>
          <a:ln/>
        </p:spPr>
        <p:txBody>
          <a:bodyPr wrap="square" lIns="0" tIns="0" rIns="0" bIns="0" rtlCol="0" anchor="ctr">
            <a:normAutofit/>
          </a:bodyPr>
          <a:lstStyle/>
          <a:p>
            <a:pPr algn="l" indent="0" marL="0">
              <a:buNone/>
            </a:pPr>
            <a:r>
              <a:rPr lang="en-US" sz="1650" b="1" dirty="0">
                <a:solidFill>
                  <a:srgbClr val="172033"/>
                </a:solidFill>
                <a:latin typeface="Aptos" pitchFamily="34" charset="0"/>
                <a:ea typeface="Aptos" pitchFamily="34" charset="-122"/>
                <a:cs typeface="Aptos" pitchFamily="34" charset="-120"/>
              </a:rPr>
              <a:t>Easier review</a:t>
            </a:r>
            <a:endParaRPr lang="en-US" sz="1650" dirty="0"/>
          </a:p>
        </p:txBody>
      </p:sp>
      <p:sp>
        <p:nvSpPr>
          <p:cNvPr id="24" name="Text 22"/>
          <p:cNvSpPr txBox="1"/>
          <p:nvPr/>
        </p:nvSpPr>
        <p:spPr>
          <a:xfrm>
            <a:off x="886968" y="4645152"/>
            <a:ext cx="2953512" cy="640080"/>
          </a:xfrm>
          <a:prstGeom prst="rect">
            <a:avLst/>
          </a:prstGeom>
          <a:noFill/>
          <a:ln/>
        </p:spPr>
        <p:txBody>
          <a:bodyPr wrap="square" lIns="0" tIns="0" rIns="0" bIns="0" rtlCol="0" anchor="t">
            <a:normAutofit/>
          </a:bodyPr>
          <a:lstStyle/>
          <a:p>
            <a:pPr algn="l" indent="0" marL="0">
              <a:buNone/>
            </a:pPr>
            <a:r>
              <a:rPr lang="en-US" sz="1180" dirty="0">
                <a:solidFill>
                  <a:srgbClr val="667085"/>
                </a:solidFill>
                <a:latin typeface="Aptos" pitchFamily="34" charset="0"/>
                <a:ea typeface="Aptos" pitchFamily="34" charset="-122"/>
                <a:cs typeface="Aptos" pitchFamily="34" charset="-120"/>
              </a:rPr>
              <a:t>Make sources, assumptions and decisions simple to check.</a:t>
            </a:r>
            <a:endParaRPr lang="en-US" sz="1180" dirty="0"/>
          </a:p>
        </p:txBody>
      </p:sp>
      <p:sp>
        <p:nvSpPr>
          <p:cNvPr id="25" name="Shape 23"/>
          <p:cNvSpPr/>
          <p:nvPr/>
        </p:nvSpPr>
        <p:spPr>
          <a:xfrm>
            <a:off x="4389120" y="3767328"/>
            <a:ext cx="3429000" cy="1682496"/>
          </a:xfrm>
          <a:prstGeom prst="roundRect">
            <a:avLst>
              <a:gd name="adj" fmla="val 4348"/>
            </a:avLst>
          </a:prstGeom>
          <a:solidFill>
            <a:srgbClr val="FFFFFF"/>
          </a:solidFill>
          <a:ln w="10160">
            <a:solidFill>
              <a:srgbClr val="D8DEE7"/>
            </a:solidFill>
            <a:prstDash val="solid"/>
          </a:ln>
        </p:spPr>
      </p:sp>
      <p:sp>
        <p:nvSpPr>
          <p:cNvPr id="26" name="Shape 24"/>
          <p:cNvSpPr/>
          <p:nvPr/>
        </p:nvSpPr>
        <p:spPr>
          <a:xfrm>
            <a:off x="4389120" y="3767328"/>
            <a:ext cx="73152" cy="1682496"/>
          </a:xfrm>
          <a:prstGeom prst="rect">
            <a:avLst/>
          </a:prstGeom>
          <a:solidFill>
            <a:srgbClr val="163454"/>
          </a:solidFill>
          <a:ln w="12700">
            <a:solidFill>
              <a:srgbClr val="163454"/>
            </a:solidFill>
            <a:prstDash val="solid"/>
          </a:ln>
        </p:spPr>
      </p:sp>
      <p:sp>
        <p:nvSpPr>
          <p:cNvPr id="27" name="Text 25"/>
          <p:cNvSpPr txBox="1"/>
          <p:nvPr/>
        </p:nvSpPr>
        <p:spPr>
          <a:xfrm>
            <a:off x="4636008" y="3950208"/>
            <a:ext cx="2971800" cy="201168"/>
          </a:xfrm>
          <a:prstGeom prst="rect">
            <a:avLst/>
          </a:prstGeom>
          <a:noFill/>
          <a:ln/>
        </p:spPr>
        <p:txBody>
          <a:bodyPr wrap="square" lIns="0" tIns="0" rIns="0" bIns="0" rtlCol="0" anchor="ctr">
            <a:normAutofit/>
          </a:bodyPr>
          <a:lstStyle/>
          <a:p>
            <a:pPr algn="l" indent="0" marL="0">
              <a:buNone/>
            </a:pPr>
            <a:r>
              <a:rPr lang="en-US" sz="880" b="1" spc="70" kern="0" dirty="0">
                <a:solidFill>
                  <a:srgbClr val="163454"/>
                </a:solidFill>
                <a:latin typeface="Aptos" pitchFamily="34" charset="0"/>
                <a:ea typeface="Aptos" pitchFamily="34" charset="-122"/>
                <a:cs typeface="Aptos" pitchFamily="34" charset="-120"/>
              </a:rPr>
              <a:t>05</a:t>
            </a:r>
            <a:endParaRPr lang="en-US" sz="880" dirty="0"/>
          </a:p>
        </p:txBody>
      </p:sp>
      <p:sp>
        <p:nvSpPr>
          <p:cNvPr id="28" name="Text 26"/>
          <p:cNvSpPr txBox="1"/>
          <p:nvPr/>
        </p:nvSpPr>
        <p:spPr>
          <a:xfrm>
            <a:off x="4636008" y="4233672"/>
            <a:ext cx="2953512" cy="338328"/>
          </a:xfrm>
          <a:prstGeom prst="rect">
            <a:avLst/>
          </a:prstGeom>
          <a:noFill/>
          <a:ln/>
        </p:spPr>
        <p:txBody>
          <a:bodyPr wrap="square" lIns="0" tIns="0" rIns="0" bIns="0" rtlCol="0" anchor="ctr">
            <a:normAutofit/>
          </a:bodyPr>
          <a:lstStyle/>
          <a:p>
            <a:pPr algn="l" indent="0" marL="0">
              <a:buNone/>
            </a:pPr>
            <a:r>
              <a:rPr lang="en-US" sz="1650" b="1" dirty="0">
                <a:solidFill>
                  <a:srgbClr val="172033"/>
                </a:solidFill>
                <a:latin typeface="Aptos" pitchFamily="34" charset="0"/>
                <a:ea typeface="Aptos" pitchFamily="34" charset="-122"/>
                <a:cs typeface="Aptos" pitchFamily="34" charset="-120"/>
              </a:rPr>
              <a:t>Shared understanding</a:t>
            </a:r>
            <a:endParaRPr lang="en-US" sz="1650" dirty="0"/>
          </a:p>
        </p:txBody>
      </p:sp>
      <p:sp>
        <p:nvSpPr>
          <p:cNvPr id="29" name="Text 27"/>
          <p:cNvSpPr txBox="1"/>
          <p:nvPr/>
        </p:nvSpPr>
        <p:spPr>
          <a:xfrm>
            <a:off x="4636008" y="4645152"/>
            <a:ext cx="2953512" cy="640080"/>
          </a:xfrm>
          <a:prstGeom prst="rect">
            <a:avLst/>
          </a:prstGeom>
          <a:noFill/>
          <a:ln/>
        </p:spPr>
        <p:txBody>
          <a:bodyPr wrap="square" lIns="0" tIns="0" rIns="0" bIns="0" rtlCol="0" anchor="t">
            <a:normAutofit/>
          </a:bodyPr>
          <a:lstStyle/>
          <a:p>
            <a:pPr algn="l" indent="0" marL="0">
              <a:buNone/>
            </a:pPr>
            <a:r>
              <a:rPr lang="en-US" sz="1180" dirty="0">
                <a:solidFill>
                  <a:srgbClr val="667085"/>
                </a:solidFill>
                <a:latin typeface="Aptos" pitchFamily="34" charset="0"/>
                <a:ea typeface="Aptos" pitchFamily="34" charset="-122"/>
                <a:cs typeface="Aptos" pitchFamily="34" charset="-120"/>
              </a:rPr>
              <a:t>Use the same approved project facts across tasks.</a:t>
            </a:r>
            <a:endParaRPr lang="en-US" sz="1180" dirty="0"/>
          </a:p>
        </p:txBody>
      </p:sp>
      <p:sp>
        <p:nvSpPr>
          <p:cNvPr id="30" name="Shape 28"/>
          <p:cNvSpPr/>
          <p:nvPr/>
        </p:nvSpPr>
        <p:spPr>
          <a:xfrm>
            <a:off x="8138160" y="3767328"/>
            <a:ext cx="3429000" cy="1682496"/>
          </a:xfrm>
          <a:prstGeom prst="roundRect">
            <a:avLst>
              <a:gd name="adj" fmla="val 4348"/>
            </a:avLst>
          </a:prstGeom>
          <a:solidFill>
            <a:srgbClr val="FFFFFF"/>
          </a:solidFill>
          <a:ln w="10160">
            <a:solidFill>
              <a:srgbClr val="D8DEE7"/>
            </a:solidFill>
            <a:prstDash val="solid"/>
          </a:ln>
        </p:spPr>
      </p:sp>
      <p:sp>
        <p:nvSpPr>
          <p:cNvPr id="31" name="Shape 29"/>
          <p:cNvSpPr/>
          <p:nvPr/>
        </p:nvSpPr>
        <p:spPr>
          <a:xfrm>
            <a:off x="8138160" y="3767328"/>
            <a:ext cx="73152" cy="1682496"/>
          </a:xfrm>
          <a:prstGeom prst="rect">
            <a:avLst/>
          </a:prstGeom>
          <a:solidFill>
            <a:srgbClr val="2D8A65"/>
          </a:solidFill>
          <a:ln w="12700">
            <a:solidFill>
              <a:srgbClr val="2D8A65"/>
            </a:solidFill>
            <a:prstDash val="solid"/>
          </a:ln>
        </p:spPr>
      </p:sp>
      <p:sp>
        <p:nvSpPr>
          <p:cNvPr id="32" name="Text 30"/>
          <p:cNvSpPr txBox="1"/>
          <p:nvPr/>
        </p:nvSpPr>
        <p:spPr>
          <a:xfrm>
            <a:off x="8385048" y="3950208"/>
            <a:ext cx="2971800" cy="201168"/>
          </a:xfrm>
          <a:prstGeom prst="rect">
            <a:avLst/>
          </a:prstGeom>
          <a:noFill/>
          <a:ln/>
        </p:spPr>
        <p:txBody>
          <a:bodyPr wrap="square" lIns="0" tIns="0" rIns="0" bIns="0" rtlCol="0" anchor="ctr">
            <a:normAutofit/>
          </a:bodyPr>
          <a:lstStyle/>
          <a:p>
            <a:pPr algn="l" indent="0" marL="0">
              <a:buNone/>
            </a:pPr>
            <a:r>
              <a:rPr lang="en-US" sz="880" b="1" spc="70" kern="0" dirty="0">
                <a:solidFill>
                  <a:srgbClr val="2D8A65"/>
                </a:solidFill>
                <a:latin typeface="Aptos" pitchFamily="34" charset="0"/>
                <a:ea typeface="Aptos" pitchFamily="34" charset="-122"/>
                <a:cs typeface="Aptos" pitchFamily="34" charset="-120"/>
              </a:rPr>
              <a:t>06</a:t>
            </a:r>
            <a:endParaRPr lang="en-US" sz="880" dirty="0"/>
          </a:p>
        </p:txBody>
      </p:sp>
      <p:sp>
        <p:nvSpPr>
          <p:cNvPr id="33" name="Text 31"/>
          <p:cNvSpPr txBox="1"/>
          <p:nvPr/>
        </p:nvSpPr>
        <p:spPr>
          <a:xfrm>
            <a:off x="8385048" y="4233672"/>
            <a:ext cx="2953512" cy="338328"/>
          </a:xfrm>
          <a:prstGeom prst="rect">
            <a:avLst/>
          </a:prstGeom>
          <a:noFill/>
          <a:ln/>
        </p:spPr>
        <p:txBody>
          <a:bodyPr wrap="square" lIns="0" tIns="0" rIns="0" bIns="0" rtlCol="0" anchor="ctr">
            <a:normAutofit/>
          </a:bodyPr>
          <a:lstStyle/>
          <a:p>
            <a:pPr algn="l" indent="0" marL="0">
              <a:buNone/>
            </a:pPr>
            <a:r>
              <a:rPr lang="en-US" sz="1650" b="1" dirty="0">
                <a:solidFill>
                  <a:srgbClr val="172033"/>
                </a:solidFill>
                <a:latin typeface="Aptos" pitchFamily="34" charset="0"/>
                <a:ea typeface="Aptos" pitchFamily="34" charset="-122"/>
                <a:cs typeface="Aptos" pitchFamily="34" charset="-120"/>
              </a:rPr>
              <a:t>Developer stays in control</a:t>
            </a:r>
            <a:endParaRPr lang="en-US" sz="1650" dirty="0"/>
          </a:p>
        </p:txBody>
      </p:sp>
      <p:sp>
        <p:nvSpPr>
          <p:cNvPr id="34" name="Text 32"/>
          <p:cNvSpPr txBox="1"/>
          <p:nvPr/>
        </p:nvSpPr>
        <p:spPr>
          <a:xfrm>
            <a:off x="8385048" y="4645152"/>
            <a:ext cx="2953512" cy="640080"/>
          </a:xfrm>
          <a:prstGeom prst="rect">
            <a:avLst/>
          </a:prstGeom>
          <a:noFill/>
          <a:ln/>
        </p:spPr>
        <p:txBody>
          <a:bodyPr wrap="square" lIns="0" tIns="0" rIns="0" bIns="0" rtlCol="0" anchor="t">
            <a:normAutofit/>
          </a:bodyPr>
          <a:lstStyle/>
          <a:p>
            <a:pPr algn="l" indent="0" marL="0">
              <a:buNone/>
            </a:pPr>
            <a:r>
              <a:rPr lang="en-US" sz="1180" dirty="0">
                <a:solidFill>
                  <a:srgbClr val="667085"/>
                </a:solidFill>
                <a:latin typeface="Aptos" pitchFamily="34" charset="0"/>
                <a:ea typeface="Aptos" pitchFamily="34" charset="-122"/>
                <a:cs typeface="Aptos" pitchFamily="34" charset="-120"/>
              </a:rPr>
              <a:t>The developer reviews, corrects, saves or resets the work.</a:t>
            </a:r>
            <a:endParaRPr lang="en-US" sz="1180" dirty="0"/>
          </a:p>
        </p:txBody>
      </p:sp>
      <p:sp>
        <p:nvSpPr>
          <p:cNvPr id="35" name="Text 33"/>
          <p:cNvSpPr txBox="1"/>
          <p:nvPr/>
        </p:nvSpPr>
        <p:spPr>
          <a:xfrm>
            <a:off x="658368" y="5678424"/>
            <a:ext cx="10954512" cy="566928"/>
          </a:xfrm>
          <a:prstGeom prst="rect">
            <a:avLst/>
          </a:prstGeom>
          <a:noFill/>
          <a:ln/>
        </p:spPr>
        <p:txBody>
          <a:bodyPr wrap="square" lIns="0" tIns="0" rIns="0" bIns="0" rtlCol="0" anchor="ctr">
            <a:normAutofit/>
          </a:bodyPr>
          <a:lstStyle/>
          <a:p>
            <a:pPr algn="ctr" indent="0" marL="0">
              <a:buNone/>
            </a:pPr>
            <a:r>
              <a:rPr lang="en-US" sz="1090" b="1" dirty="0">
                <a:solidFill>
                  <a:srgbClr val="163454"/>
                </a:solidFill>
                <a:latin typeface="Aptos" pitchFamily="34" charset="0"/>
                <a:ea typeface="Aptos" pitchFamily="34" charset="-122"/>
                <a:cs typeface="Aptos" pitchFamily="34" charset="-120"/>
              </a:rPr>
              <a:t>Phase 4 containment worked: the run stopped and evidence was preserved.</a:t>
            </a:r>
            <a:endParaRPr lang="en-US" sz="1090" dirty="0"/>
          </a:p>
          <a:p>
            <a:pPr algn="ctr" indent="0" marL="0">
              <a:buNone/>
            </a:pPr>
            <a:r>
              <a:rPr lang="en-US" sz="1090" b="1" dirty="0">
                <a:solidFill>
                  <a:srgbClr val="163454"/>
                </a:solidFill>
                <a:latin typeface="Aptos" pitchFamily="34" charset="0"/>
                <a:ea typeface="Aptos" pitchFamily="34" charset="-122"/>
                <a:cs typeface="Aptos" pitchFamily="34" charset="-120"/>
              </a:rPr>
              <a:t>Governance failed: an unapproved limit became decisive; no retry or ceiling change; quality remains unmeasured.</a:t>
            </a:r>
            <a:endParaRPr lang="en-US" sz="1090" dirty="0"/>
          </a:p>
        </p:txBody>
      </p:sp>
      <p:sp>
        <p:nvSpPr>
          <p:cNvPr id="25" name="Slide Number Placeholder 0"/>
          <p:cNvSpPr>
            <a:spLocks noGrp="1"/>
          </p:cNvSpPr>
          <p:nvPr>
            <p:ph type="sldNum" sz="quarter" idx="4294967295"/>
          </p:nvPr>
        </p:nvSpPr>
        <p:spPr>
          <a:xfrm>
            <a:off x="11658600" y="6492240"/>
            <a:ext cx="800000" cy="300000"/>
          </a:xfrm>
          <a:prstGeom prst="rect">
            <a:avLst/>
          </a:prstGeom>
          <a:extLst>
            <a:ext uri="{C572A759-6A51-4108-AA02-DFA0A04FC94B}">
              <ma14:wrappingTextBoxFlag xmlns:ma14="http://schemas.microsoft.com/office/mac/drawingml/2011/main" val="0"/>
            </a:ext>
          </a:extLst>
        </p:spPr>
        <p:txBody>
          <a:bodyPr/>
          <a:lstStyle>
            <a:lvl1pPr>
              <a:defRPr sz="780">
                <a:solidFill>
                  <a:srgbClr val="667085"/>
                </a:solidFill>
                <a:latin typeface="Aptos"/>
                <a:ea typeface="Aptos"/>
                <a:cs typeface="Aptos"/>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603504" y="310896"/>
            <a:ext cx="5120640" cy="219456"/>
          </a:xfrm>
          <a:prstGeom prst="rect">
            <a:avLst/>
          </a:prstGeom>
          <a:noFill/>
          <a:ln/>
        </p:spPr>
        <p:txBody>
          <a:bodyPr wrap="square" lIns="0" tIns="0" rIns="0" bIns="0" rtlCol="0" anchor="ctr">
            <a:normAutofit/>
          </a:bodyPr>
          <a:lstStyle/>
          <a:p>
            <a:pPr algn="l" indent="0" marL="0">
              <a:buNone/>
            </a:pPr>
            <a:r>
              <a:rPr lang="en-US" sz="950" b="1" spc="120" kern="0" dirty="0">
                <a:solidFill>
                  <a:srgbClr val="007F80"/>
                </a:solidFill>
                <a:latin typeface="Aptos" pitchFamily="34" charset="0"/>
                <a:ea typeface="Aptos" pitchFamily="34" charset="-122"/>
                <a:cs typeface="Aptos" pitchFamily="34" charset="-120"/>
              </a:rPr>
              <a:t>WHAT LEADERS CAN SEE NOW</a:t>
            </a:r>
            <a:endParaRPr lang="en-US" sz="950" dirty="0"/>
          </a:p>
        </p:txBody>
      </p:sp>
      <p:sp>
        <p:nvSpPr>
          <p:cNvPr id="3" name="Text 1"/>
          <p:cNvSpPr txBox="1"/>
          <p:nvPr/>
        </p:nvSpPr>
        <p:spPr>
          <a:xfrm>
            <a:off x="603504" y="603504"/>
            <a:ext cx="10972800" cy="548640"/>
          </a:xfrm>
          <a:prstGeom prst="rect">
            <a:avLst/>
          </a:prstGeom>
          <a:noFill/>
          <a:ln/>
        </p:spPr>
        <p:txBody>
          <a:bodyPr wrap="square" lIns="0" tIns="0" rIns="0" bIns="0" rtlCol="0" anchor="ctr">
            <a:normAutofit/>
          </a:bodyPr>
          <a:lstStyle/>
          <a:p>
            <a:pPr algn="l" indent="0" marL="0">
              <a:buNone/>
            </a:pPr>
            <a:r>
              <a:rPr lang="en-US" sz="2750" b="1" dirty="0">
                <a:solidFill>
                  <a:srgbClr val="172033"/>
                </a:solidFill>
                <a:latin typeface="Aptos" pitchFamily="34" charset="0"/>
                <a:ea typeface="Aptos" pitchFamily="34" charset="-122"/>
                <a:cs typeface="Aptos" pitchFamily="34" charset="-120"/>
              </a:rPr>
              <a:t>A short, evidence-led demonstration</a:t>
            </a:r>
            <a:endParaRPr lang="en-US" sz="2750" dirty="0"/>
          </a:p>
        </p:txBody>
      </p:sp>
      <p:sp>
        <p:nvSpPr>
          <p:cNvPr id="4" name="Text 2"/>
          <p:cNvSpPr txBox="1"/>
          <p:nvPr/>
        </p:nvSpPr>
        <p:spPr>
          <a:xfrm>
            <a:off x="603504" y="1170432"/>
            <a:ext cx="10927080" cy="365760"/>
          </a:xfrm>
          <a:prstGeom prst="rect">
            <a:avLst/>
          </a:prstGeom>
          <a:noFill/>
          <a:ln/>
        </p:spPr>
        <p:txBody>
          <a:bodyPr wrap="square" lIns="0" tIns="0" rIns="0" bIns="0" rtlCol="0" anchor="ctr">
            <a:normAutofit/>
          </a:bodyPr>
          <a:lstStyle/>
          <a:p>
            <a:pPr algn="l" indent="0" marL="0">
              <a:buNone/>
            </a:pPr>
            <a:r>
              <a:rPr lang="en-US" sz="1350" dirty="0">
                <a:solidFill>
                  <a:srgbClr val="667085"/>
                </a:solidFill>
                <a:latin typeface="Aptos" pitchFamily="34" charset="0"/>
                <a:ea typeface="Aptos" pitchFamily="34" charset="-122"/>
                <a:cs typeface="Aptos" pitchFamily="34" charset="-120"/>
              </a:rPr>
              <a:t>The walkthrough shows demonstrated value today and clearly names the next controlled steps.</a:t>
            </a:r>
            <a:endParaRPr lang="en-US" sz="1350" dirty="0"/>
          </a:p>
        </p:txBody>
      </p:sp>
      <p:sp>
        <p:nvSpPr>
          <p:cNvPr id="5" name="Shape 3"/>
          <p:cNvSpPr/>
          <p:nvPr/>
        </p:nvSpPr>
        <p:spPr>
          <a:xfrm>
            <a:off x="9848088" y="320040"/>
            <a:ext cx="1508760" cy="292608"/>
          </a:xfrm>
          <a:prstGeom prst="roundRect">
            <a:avLst>
              <a:gd name="adj" fmla="val 50000"/>
            </a:avLst>
          </a:prstGeom>
          <a:solidFill>
            <a:srgbClr val="E9F5EF"/>
          </a:solidFill>
          <a:ln w="12700">
            <a:solidFill>
              <a:srgbClr val="E9F5EF"/>
            </a:solidFill>
            <a:prstDash val="solid"/>
          </a:ln>
        </p:spPr>
      </p:sp>
      <p:sp>
        <p:nvSpPr>
          <p:cNvPr id="6" name="Text 4"/>
          <p:cNvSpPr txBox="1"/>
          <p:nvPr/>
        </p:nvSpPr>
        <p:spPr>
          <a:xfrm>
            <a:off x="9912096" y="338328"/>
            <a:ext cx="1380744" cy="228600"/>
          </a:xfrm>
          <a:prstGeom prst="rect">
            <a:avLst/>
          </a:prstGeom>
          <a:noFill/>
          <a:ln/>
        </p:spPr>
        <p:txBody>
          <a:bodyPr wrap="square" lIns="0" tIns="0" rIns="0" bIns="0" rtlCol="0" anchor="ctr">
            <a:normAutofit/>
          </a:bodyPr>
          <a:lstStyle/>
          <a:p>
            <a:pPr algn="ctr" indent="0" marL="0">
              <a:buNone/>
            </a:pPr>
            <a:r>
              <a:rPr lang="en-US" sz="920" b="1" spc="40" kern="0" dirty="0">
                <a:solidFill>
                  <a:srgbClr val="2D8A65"/>
                </a:solidFill>
                <a:latin typeface="Aptos" pitchFamily="34" charset="0"/>
                <a:ea typeface="Aptos" pitchFamily="34" charset="-122"/>
                <a:cs typeface="Aptos" pitchFamily="34" charset="-120"/>
              </a:rPr>
              <a:t>DEMONSTRATED</a:t>
            </a:r>
            <a:endParaRPr lang="en-US" sz="920" dirty="0"/>
          </a:p>
        </p:txBody>
      </p:sp>
      <p:sp>
        <p:nvSpPr>
          <p:cNvPr id="7" name="Shape 5"/>
          <p:cNvSpPr/>
          <p:nvPr/>
        </p:nvSpPr>
        <p:spPr>
          <a:xfrm>
            <a:off x="731520" y="1737360"/>
            <a:ext cx="521208" cy="292608"/>
          </a:xfrm>
          <a:prstGeom prst="roundRect">
            <a:avLst>
              <a:gd name="adj" fmla="val 50000"/>
            </a:avLst>
          </a:prstGeom>
          <a:solidFill>
            <a:srgbClr val="007F80"/>
          </a:solidFill>
          <a:ln w="12700">
            <a:solidFill>
              <a:srgbClr val="007F80"/>
            </a:solidFill>
            <a:prstDash val="solid"/>
          </a:ln>
        </p:spPr>
      </p:sp>
      <p:sp>
        <p:nvSpPr>
          <p:cNvPr id="8" name="Text 6"/>
          <p:cNvSpPr txBox="1"/>
          <p:nvPr/>
        </p:nvSpPr>
        <p:spPr>
          <a:xfrm>
            <a:off x="795528" y="1755648"/>
            <a:ext cx="393192" cy="228600"/>
          </a:xfrm>
          <a:prstGeom prst="rect">
            <a:avLst/>
          </a:prstGeom>
          <a:noFill/>
          <a:ln/>
        </p:spPr>
        <p:txBody>
          <a:bodyPr wrap="square" lIns="0" tIns="0" rIns="0" bIns="0" rtlCol="0" anchor="ctr">
            <a:normAutofit/>
          </a:bodyPr>
          <a:lstStyle/>
          <a:p>
            <a:pPr algn="ctr" indent="0" marL="0">
              <a:buNone/>
            </a:pPr>
            <a:r>
              <a:rPr lang="en-US" sz="920" b="1" spc="40" kern="0" dirty="0">
                <a:solidFill>
                  <a:srgbClr val="FFFFFF"/>
                </a:solidFill>
                <a:latin typeface="Aptos" pitchFamily="34" charset="0"/>
                <a:ea typeface="Aptos" pitchFamily="34" charset="-122"/>
                <a:cs typeface="Aptos" pitchFamily="34" charset="-120"/>
              </a:rPr>
              <a:t>01</a:t>
            </a:r>
            <a:endParaRPr lang="en-US" sz="920" dirty="0"/>
          </a:p>
        </p:txBody>
      </p:sp>
      <p:sp>
        <p:nvSpPr>
          <p:cNvPr id="9" name="Text 7"/>
          <p:cNvSpPr txBox="1"/>
          <p:nvPr/>
        </p:nvSpPr>
        <p:spPr>
          <a:xfrm>
            <a:off x="1508760" y="1700784"/>
            <a:ext cx="3822192" cy="356616"/>
          </a:xfrm>
          <a:prstGeom prst="rect">
            <a:avLst/>
          </a:prstGeom>
          <a:noFill/>
          <a:ln/>
        </p:spPr>
        <p:txBody>
          <a:bodyPr wrap="square" lIns="0" tIns="0" rIns="0" bIns="0" rtlCol="0" anchor="ctr">
            <a:normAutofit/>
          </a:bodyPr>
          <a:lstStyle/>
          <a:p>
            <a:pPr algn="l" indent="0" marL="0">
              <a:buNone/>
            </a:pPr>
            <a:r>
              <a:rPr lang="en-US" sz="1610" b="1" dirty="0">
                <a:solidFill>
                  <a:srgbClr val="172033"/>
                </a:solidFill>
                <a:latin typeface="Aptos" pitchFamily="34" charset="0"/>
                <a:ea typeface="Aptos" pitchFamily="34" charset="-122"/>
                <a:cs typeface="Aptos" pitchFamily="34" charset="-120"/>
              </a:rPr>
              <a:t>Review approved project facts</a:t>
            </a:r>
            <a:endParaRPr lang="en-US" sz="1610" dirty="0"/>
          </a:p>
        </p:txBody>
      </p:sp>
      <p:sp>
        <p:nvSpPr>
          <p:cNvPr id="10" name="Shape 8"/>
          <p:cNvSpPr/>
          <p:nvPr/>
        </p:nvSpPr>
        <p:spPr>
          <a:xfrm>
            <a:off x="5449824" y="1673352"/>
            <a:ext cx="5779008" cy="539496"/>
          </a:xfrm>
          <a:prstGeom prst="roundRect">
            <a:avLst>
              <a:gd name="adj" fmla="val 13559"/>
            </a:avLst>
          </a:prstGeom>
          <a:solidFill>
            <a:srgbClr val="E8F6F5"/>
          </a:solidFill>
          <a:ln w="10160">
            <a:solidFill>
              <a:srgbClr val="B9DDDA"/>
            </a:solidFill>
            <a:prstDash val="solid"/>
          </a:ln>
        </p:spPr>
      </p:sp>
      <p:sp>
        <p:nvSpPr>
          <p:cNvPr id="11" name="Text 9"/>
          <p:cNvSpPr txBox="1"/>
          <p:nvPr/>
        </p:nvSpPr>
        <p:spPr>
          <a:xfrm>
            <a:off x="5715000" y="1755648"/>
            <a:ext cx="5230368" cy="320040"/>
          </a:xfrm>
          <a:prstGeom prst="rect">
            <a:avLst/>
          </a:prstGeom>
          <a:noFill/>
          <a:ln/>
        </p:spPr>
        <p:txBody>
          <a:bodyPr wrap="square" lIns="0" tIns="0" rIns="0" bIns="0" rtlCol="0" anchor="ctr">
            <a:normAutofit/>
          </a:bodyPr>
          <a:lstStyle/>
          <a:p>
            <a:pPr algn="l" indent="0" marL="0">
              <a:buNone/>
            </a:pPr>
            <a:r>
              <a:rPr lang="en-US" sz="1270" dirty="0">
                <a:solidFill>
                  <a:srgbClr val="163454"/>
                </a:solidFill>
                <a:latin typeface="Aptos" pitchFamily="34" charset="0"/>
                <a:ea typeface="Aptos" pitchFamily="34" charset="-122"/>
                <a:cs typeface="Aptos" pitchFamily="34" charset="-120"/>
              </a:rPr>
              <a:t>See the knowledge that later work can reuse.</a:t>
            </a:r>
            <a:endParaRPr lang="en-US" sz="1270" dirty="0"/>
          </a:p>
        </p:txBody>
      </p:sp>
      <p:sp>
        <p:nvSpPr>
          <p:cNvPr id="12" name="Shape 10"/>
          <p:cNvSpPr/>
          <p:nvPr/>
        </p:nvSpPr>
        <p:spPr>
          <a:xfrm>
            <a:off x="731520" y="2551176"/>
            <a:ext cx="521208" cy="292608"/>
          </a:xfrm>
          <a:prstGeom prst="roundRect">
            <a:avLst>
              <a:gd name="adj" fmla="val 50000"/>
            </a:avLst>
          </a:prstGeom>
          <a:solidFill>
            <a:srgbClr val="007F80"/>
          </a:solidFill>
          <a:ln w="12700">
            <a:solidFill>
              <a:srgbClr val="007F80"/>
            </a:solidFill>
            <a:prstDash val="solid"/>
          </a:ln>
        </p:spPr>
      </p:sp>
      <p:sp>
        <p:nvSpPr>
          <p:cNvPr id="13" name="Text 11"/>
          <p:cNvSpPr txBox="1"/>
          <p:nvPr/>
        </p:nvSpPr>
        <p:spPr>
          <a:xfrm>
            <a:off x="795528" y="2569464"/>
            <a:ext cx="393192" cy="228600"/>
          </a:xfrm>
          <a:prstGeom prst="rect">
            <a:avLst/>
          </a:prstGeom>
          <a:noFill/>
          <a:ln/>
        </p:spPr>
        <p:txBody>
          <a:bodyPr wrap="square" lIns="0" tIns="0" rIns="0" bIns="0" rtlCol="0" anchor="ctr">
            <a:normAutofit/>
          </a:bodyPr>
          <a:lstStyle/>
          <a:p>
            <a:pPr algn="ctr" indent="0" marL="0">
              <a:buNone/>
            </a:pPr>
            <a:r>
              <a:rPr lang="en-US" sz="920" b="1" spc="40" kern="0" dirty="0">
                <a:solidFill>
                  <a:srgbClr val="FFFFFF"/>
                </a:solidFill>
                <a:latin typeface="Aptos" pitchFamily="34" charset="0"/>
                <a:ea typeface="Aptos" pitchFamily="34" charset="-122"/>
                <a:cs typeface="Aptos" pitchFamily="34" charset="-120"/>
              </a:rPr>
              <a:t>02</a:t>
            </a:r>
            <a:endParaRPr lang="en-US" sz="920" dirty="0"/>
          </a:p>
        </p:txBody>
      </p:sp>
      <p:sp>
        <p:nvSpPr>
          <p:cNvPr id="14" name="Text 12"/>
          <p:cNvSpPr txBox="1"/>
          <p:nvPr/>
        </p:nvSpPr>
        <p:spPr>
          <a:xfrm>
            <a:off x="1508760" y="2514600"/>
            <a:ext cx="3822192" cy="356616"/>
          </a:xfrm>
          <a:prstGeom prst="rect">
            <a:avLst/>
          </a:prstGeom>
          <a:noFill/>
          <a:ln/>
        </p:spPr>
        <p:txBody>
          <a:bodyPr wrap="square" lIns="0" tIns="0" rIns="0" bIns="0" rtlCol="0" anchor="ctr">
            <a:normAutofit/>
          </a:bodyPr>
          <a:lstStyle/>
          <a:p>
            <a:pPr algn="l" indent="0" marL="0">
              <a:buNone/>
            </a:pPr>
            <a:r>
              <a:rPr lang="en-US" sz="1610" b="1" dirty="0">
                <a:solidFill>
                  <a:srgbClr val="172033"/>
                </a:solidFill>
                <a:latin typeface="Aptos" pitchFamily="34" charset="0"/>
                <a:ea typeface="Aptos" pitchFamily="34" charset="-122"/>
                <a:cs typeface="Aptos" pitchFamily="34" charset="-120"/>
              </a:rPr>
              <a:t>Describe a task</a:t>
            </a:r>
            <a:endParaRPr lang="en-US" sz="1610" dirty="0"/>
          </a:p>
        </p:txBody>
      </p:sp>
      <p:sp>
        <p:nvSpPr>
          <p:cNvPr id="15" name="Shape 13"/>
          <p:cNvSpPr/>
          <p:nvPr/>
        </p:nvSpPr>
        <p:spPr>
          <a:xfrm>
            <a:off x="5449824" y="2487168"/>
            <a:ext cx="5779008" cy="539496"/>
          </a:xfrm>
          <a:prstGeom prst="roundRect">
            <a:avLst>
              <a:gd name="adj" fmla="val 13559"/>
            </a:avLst>
          </a:prstGeom>
          <a:solidFill>
            <a:srgbClr val="E8F6F5"/>
          </a:solidFill>
          <a:ln w="10160">
            <a:solidFill>
              <a:srgbClr val="B9DDDA"/>
            </a:solidFill>
            <a:prstDash val="solid"/>
          </a:ln>
        </p:spPr>
      </p:sp>
      <p:sp>
        <p:nvSpPr>
          <p:cNvPr id="16" name="Text 14"/>
          <p:cNvSpPr txBox="1"/>
          <p:nvPr/>
        </p:nvSpPr>
        <p:spPr>
          <a:xfrm>
            <a:off x="5715000" y="2569464"/>
            <a:ext cx="5230368" cy="320040"/>
          </a:xfrm>
          <a:prstGeom prst="rect">
            <a:avLst/>
          </a:prstGeom>
          <a:noFill/>
          <a:ln/>
        </p:spPr>
        <p:txBody>
          <a:bodyPr wrap="square" lIns="0" tIns="0" rIns="0" bIns="0" rtlCol="0" anchor="ctr">
            <a:normAutofit/>
          </a:bodyPr>
          <a:lstStyle/>
          <a:p>
            <a:pPr algn="l" indent="0" marL="0">
              <a:buNone/>
            </a:pPr>
            <a:r>
              <a:rPr lang="en-US" sz="1270" dirty="0">
                <a:solidFill>
                  <a:srgbClr val="163454"/>
                </a:solidFill>
                <a:latin typeface="Aptos" pitchFamily="34" charset="0"/>
                <a:ea typeface="Aptos" pitchFamily="34" charset="-122"/>
                <a:cs typeface="Aptos" pitchFamily="34" charset="-120"/>
              </a:rPr>
              <a:t>Make the task, expected result and importance clear.</a:t>
            </a:r>
            <a:endParaRPr lang="en-US" sz="1270" dirty="0"/>
          </a:p>
        </p:txBody>
      </p:sp>
      <p:sp>
        <p:nvSpPr>
          <p:cNvPr id="17" name="Shape 15"/>
          <p:cNvSpPr/>
          <p:nvPr/>
        </p:nvSpPr>
        <p:spPr>
          <a:xfrm>
            <a:off x="731520" y="3364992"/>
            <a:ext cx="521208" cy="292608"/>
          </a:xfrm>
          <a:prstGeom prst="roundRect">
            <a:avLst>
              <a:gd name="adj" fmla="val 50000"/>
            </a:avLst>
          </a:prstGeom>
          <a:solidFill>
            <a:srgbClr val="D9952A"/>
          </a:solidFill>
          <a:ln w="12700">
            <a:solidFill>
              <a:srgbClr val="D9952A"/>
            </a:solidFill>
            <a:prstDash val="solid"/>
          </a:ln>
        </p:spPr>
      </p:sp>
      <p:sp>
        <p:nvSpPr>
          <p:cNvPr id="18" name="Text 16"/>
          <p:cNvSpPr txBox="1"/>
          <p:nvPr/>
        </p:nvSpPr>
        <p:spPr>
          <a:xfrm>
            <a:off x="795528" y="3383280"/>
            <a:ext cx="393192" cy="228600"/>
          </a:xfrm>
          <a:prstGeom prst="rect">
            <a:avLst/>
          </a:prstGeom>
          <a:noFill/>
          <a:ln/>
        </p:spPr>
        <p:txBody>
          <a:bodyPr wrap="square" lIns="0" tIns="0" rIns="0" bIns="0" rtlCol="0" anchor="ctr">
            <a:normAutofit/>
          </a:bodyPr>
          <a:lstStyle/>
          <a:p>
            <a:pPr algn="ctr" indent="0" marL="0">
              <a:buNone/>
            </a:pPr>
            <a:r>
              <a:rPr lang="en-US" sz="920" b="1" spc="40" kern="0" dirty="0">
                <a:solidFill>
                  <a:srgbClr val="FFFFFF"/>
                </a:solidFill>
                <a:latin typeface="Aptos" pitchFamily="34" charset="0"/>
                <a:ea typeface="Aptos" pitchFamily="34" charset="-122"/>
                <a:cs typeface="Aptos" pitchFamily="34" charset="-120"/>
              </a:rPr>
              <a:t>03</a:t>
            </a:r>
            <a:endParaRPr lang="en-US" sz="920" dirty="0"/>
          </a:p>
        </p:txBody>
      </p:sp>
      <p:sp>
        <p:nvSpPr>
          <p:cNvPr id="19" name="Text 17"/>
          <p:cNvSpPr txBox="1"/>
          <p:nvPr/>
        </p:nvSpPr>
        <p:spPr>
          <a:xfrm>
            <a:off x="1508760" y="3328416"/>
            <a:ext cx="3822192" cy="356616"/>
          </a:xfrm>
          <a:prstGeom prst="rect">
            <a:avLst/>
          </a:prstGeom>
          <a:noFill/>
          <a:ln/>
        </p:spPr>
        <p:txBody>
          <a:bodyPr wrap="square" lIns="0" tIns="0" rIns="0" bIns="0" rtlCol="0" anchor="ctr">
            <a:normAutofit/>
          </a:bodyPr>
          <a:lstStyle/>
          <a:p>
            <a:pPr algn="l" indent="0" marL="0">
              <a:buNone/>
            </a:pPr>
            <a:r>
              <a:rPr lang="en-US" sz="1610" b="1" dirty="0">
                <a:solidFill>
                  <a:srgbClr val="172033"/>
                </a:solidFill>
                <a:latin typeface="Aptos" pitchFamily="34" charset="0"/>
                <a:ea typeface="Aptos" pitchFamily="34" charset="-122"/>
                <a:cs typeface="Aptos" pitchFamily="34" charset="-120"/>
              </a:rPr>
              <a:t>See sources, assumptions and missing information</a:t>
            </a:r>
            <a:endParaRPr lang="en-US" sz="1610" dirty="0"/>
          </a:p>
        </p:txBody>
      </p:sp>
      <p:sp>
        <p:nvSpPr>
          <p:cNvPr id="20" name="Shape 18"/>
          <p:cNvSpPr/>
          <p:nvPr/>
        </p:nvSpPr>
        <p:spPr>
          <a:xfrm>
            <a:off x="5449824" y="3300984"/>
            <a:ext cx="5779008" cy="539496"/>
          </a:xfrm>
          <a:prstGeom prst="roundRect">
            <a:avLst>
              <a:gd name="adj" fmla="val 13559"/>
            </a:avLst>
          </a:prstGeom>
          <a:solidFill>
            <a:srgbClr val="FFF3DE"/>
          </a:solidFill>
          <a:ln w="10160">
            <a:solidFill>
              <a:srgbClr val="F0D39D"/>
            </a:solidFill>
            <a:prstDash val="solid"/>
          </a:ln>
        </p:spPr>
      </p:sp>
      <p:sp>
        <p:nvSpPr>
          <p:cNvPr id="21" name="Text 19"/>
          <p:cNvSpPr txBox="1"/>
          <p:nvPr/>
        </p:nvSpPr>
        <p:spPr>
          <a:xfrm>
            <a:off x="5715000" y="3383280"/>
            <a:ext cx="5230368" cy="320040"/>
          </a:xfrm>
          <a:prstGeom prst="rect">
            <a:avLst/>
          </a:prstGeom>
          <a:noFill/>
          <a:ln/>
        </p:spPr>
        <p:txBody>
          <a:bodyPr wrap="square" lIns="0" tIns="0" rIns="0" bIns="0" rtlCol="0" anchor="ctr">
            <a:normAutofit/>
          </a:bodyPr>
          <a:lstStyle/>
          <a:p>
            <a:pPr algn="l" indent="0" marL="0">
              <a:buNone/>
            </a:pPr>
            <a:r>
              <a:rPr lang="en-US" sz="1270" b="1" dirty="0">
                <a:solidFill>
                  <a:srgbClr val="70440B"/>
                </a:solidFill>
                <a:latin typeface="Aptos" pitchFamily="34" charset="0"/>
                <a:ea typeface="Aptos" pitchFamily="34" charset="-122"/>
                <a:cs typeface="Aptos" pitchFamily="34" charset="-120"/>
              </a:rPr>
              <a:t>Understand what DWI knows and where it still needs an answer.</a:t>
            </a:r>
            <a:endParaRPr lang="en-US" sz="1270" dirty="0"/>
          </a:p>
        </p:txBody>
      </p:sp>
      <p:sp>
        <p:nvSpPr>
          <p:cNvPr id="22" name="Shape 20"/>
          <p:cNvSpPr/>
          <p:nvPr/>
        </p:nvSpPr>
        <p:spPr>
          <a:xfrm>
            <a:off x="731520" y="4178808"/>
            <a:ext cx="521208" cy="292608"/>
          </a:xfrm>
          <a:prstGeom prst="roundRect">
            <a:avLst>
              <a:gd name="adj" fmla="val 50000"/>
            </a:avLst>
          </a:prstGeom>
          <a:solidFill>
            <a:srgbClr val="007F80"/>
          </a:solidFill>
          <a:ln w="12700">
            <a:solidFill>
              <a:srgbClr val="007F80"/>
            </a:solidFill>
            <a:prstDash val="solid"/>
          </a:ln>
        </p:spPr>
      </p:sp>
      <p:sp>
        <p:nvSpPr>
          <p:cNvPr id="23" name="Text 21"/>
          <p:cNvSpPr txBox="1"/>
          <p:nvPr/>
        </p:nvSpPr>
        <p:spPr>
          <a:xfrm>
            <a:off x="795528" y="4197096"/>
            <a:ext cx="393192" cy="228600"/>
          </a:xfrm>
          <a:prstGeom prst="rect">
            <a:avLst/>
          </a:prstGeom>
          <a:noFill/>
          <a:ln/>
        </p:spPr>
        <p:txBody>
          <a:bodyPr wrap="square" lIns="0" tIns="0" rIns="0" bIns="0" rtlCol="0" anchor="ctr">
            <a:normAutofit/>
          </a:bodyPr>
          <a:lstStyle/>
          <a:p>
            <a:pPr algn="ctr" indent="0" marL="0">
              <a:buNone/>
            </a:pPr>
            <a:r>
              <a:rPr lang="en-US" sz="920" b="1" spc="40" kern="0" dirty="0">
                <a:solidFill>
                  <a:srgbClr val="FFFFFF"/>
                </a:solidFill>
                <a:latin typeface="Aptos" pitchFamily="34" charset="0"/>
                <a:ea typeface="Aptos" pitchFamily="34" charset="-122"/>
                <a:cs typeface="Aptos" pitchFamily="34" charset="-120"/>
              </a:rPr>
              <a:t>04</a:t>
            </a:r>
            <a:endParaRPr lang="en-US" sz="920" dirty="0"/>
          </a:p>
        </p:txBody>
      </p:sp>
      <p:sp>
        <p:nvSpPr>
          <p:cNvPr id="24" name="Text 22"/>
          <p:cNvSpPr txBox="1"/>
          <p:nvPr/>
        </p:nvSpPr>
        <p:spPr>
          <a:xfrm>
            <a:off x="1508760" y="4142232"/>
            <a:ext cx="3822192" cy="356616"/>
          </a:xfrm>
          <a:prstGeom prst="rect">
            <a:avLst/>
          </a:prstGeom>
          <a:noFill/>
          <a:ln/>
        </p:spPr>
        <p:txBody>
          <a:bodyPr wrap="square" lIns="0" tIns="0" rIns="0" bIns="0" rtlCol="0" anchor="ctr">
            <a:normAutofit/>
          </a:bodyPr>
          <a:lstStyle/>
          <a:p>
            <a:pPr algn="l" indent="0" marL="0">
              <a:buNone/>
            </a:pPr>
            <a:r>
              <a:rPr lang="en-US" sz="1610" b="1" dirty="0">
                <a:solidFill>
                  <a:srgbClr val="172033"/>
                </a:solidFill>
                <a:latin typeface="Aptos" pitchFamily="34" charset="0"/>
                <a:ea typeface="Aptos" pitchFamily="34" charset="-122"/>
                <a:cs typeface="Aptos" pitchFamily="34" charset="-120"/>
              </a:rPr>
              <a:t>Review and save the local draft</a:t>
            </a:r>
            <a:endParaRPr lang="en-US" sz="1610" dirty="0"/>
          </a:p>
        </p:txBody>
      </p:sp>
      <p:sp>
        <p:nvSpPr>
          <p:cNvPr id="25" name="Shape 23"/>
          <p:cNvSpPr/>
          <p:nvPr/>
        </p:nvSpPr>
        <p:spPr>
          <a:xfrm>
            <a:off x="5449824" y="4114800"/>
            <a:ext cx="5779008" cy="539496"/>
          </a:xfrm>
          <a:prstGeom prst="roundRect">
            <a:avLst>
              <a:gd name="adj" fmla="val 13559"/>
            </a:avLst>
          </a:prstGeom>
          <a:solidFill>
            <a:srgbClr val="E8F6F5"/>
          </a:solidFill>
          <a:ln w="10160">
            <a:solidFill>
              <a:srgbClr val="B9DDDA"/>
            </a:solidFill>
            <a:prstDash val="solid"/>
          </a:ln>
        </p:spPr>
      </p:sp>
      <p:sp>
        <p:nvSpPr>
          <p:cNvPr id="26" name="Text 24"/>
          <p:cNvSpPr txBox="1"/>
          <p:nvPr/>
        </p:nvSpPr>
        <p:spPr>
          <a:xfrm>
            <a:off x="5715000" y="4197096"/>
            <a:ext cx="5230368" cy="320040"/>
          </a:xfrm>
          <a:prstGeom prst="rect">
            <a:avLst/>
          </a:prstGeom>
          <a:noFill/>
          <a:ln/>
        </p:spPr>
        <p:txBody>
          <a:bodyPr wrap="square" lIns="0" tIns="0" rIns="0" bIns="0" rtlCol="0" anchor="ctr">
            <a:normAutofit/>
          </a:bodyPr>
          <a:lstStyle/>
          <a:p>
            <a:pPr algn="l" indent="0" marL="0">
              <a:buNone/>
            </a:pPr>
            <a:r>
              <a:rPr lang="en-US" sz="1270" dirty="0">
                <a:solidFill>
                  <a:srgbClr val="163454"/>
                </a:solidFill>
                <a:latin typeface="Aptos" pitchFamily="34" charset="0"/>
                <a:ea typeface="Aptos" pitchFamily="34" charset="-122"/>
                <a:cs typeface="Aptos" pitchFamily="34" charset="-120"/>
              </a:rPr>
              <a:t>The developer checks the result and decides what to keep.</a:t>
            </a:r>
            <a:endParaRPr lang="en-US" sz="1270" dirty="0"/>
          </a:p>
        </p:txBody>
      </p:sp>
      <p:sp>
        <p:nvSpPr>
          <p:cNvPr id="27" name="Shape 25"/>
          <p:cNvSpPr/>
          <p:nvPr/>
        </p:nvSpPr>
        <p:spPr>
          <a:xfrm>
            <a:off x="731520" y="4992624"/>
            <a:ext cx="521208" cy="292608"/>
          </a:xfrm>
          <a:prstGeom prst="roundRect">
            <a:avLst>
              <a:gd name="adj" fmla="val 50000"/>
            </a:avLst>
          </a:prstGeom>
          <a:solidFill>
            <a:srgbClr val="007F80"/>
          </a:solidFill>
          <a:ln w="12700">
            <a:solidFill>
              <a:srgbClr val="007F80"/>
            </a:solidFill>
            <a:prstDash val="solid"/>
          </a:ln>
        </p:spPr>
      </p:sp>
      <p:sp>
        <p:nvSpPr>
          <p:cNvPr id="28" name="Text 26"/>
          <p:cNvSpPr txBox="1"/>
          <p:nvPr/>
        </p:nvSpPr>
        <p:spPr>
          <a:xfrm>
            <a:off x="795528" y="5010912"/>
            <a:ext cx="393192" cy="228600"/>
          </a:xfrm>
          <a:prstGeom prst="rect">
            <a:avLst/>
          </a:prstGeom>
          <a:noFill/>
          <a:ln/>
        </p:spPr>
        <p:txBody>
          <a:bodyPr wrap="square" lIns="0" tIns="0" rIns="0" bIns="0" rtlCol="0" anchor="ctr">
            <a:normAutofit/>
          </a:bodyPr>
          <a:lstStyle/>
          <a:p>
            <a:pPr algn="ctr" indent="0" marL="0">
              <a:buNone/>
            </a:pPr>
            <a:r>
              <a:rPr lang="en-US" sz="920" b="1" spc="40" kern="0" dirty="0">
                <a:solidFill>
                  <a:srgbClr val="FFFFFF"/>
                </a:solidFill>
                <a:latin typeface="Aptos" pitchFamily="34" charset="0"/>
                <a:ea typeface="Aptos" pitchFamily="34" charset="-122"/>
                <a:cs typeface="Aptos" pitchFamily="34" charset="-120"/>
              </a:rPr>
              <a:t>05</a:t>
            </a:r>
            <a:endParaRPr lang="en-US" sz="920" dirty="0"/>
          </a:p>
        </p:txBody>
      </p:sp>
      <p:sp>
        <p:nvSpPr>
          <p:cNvPr id="29" name="Text 27"/>
          <p:cNvSpPr txBox="1"/>
          <p:nvPr/>
        </p:nvSpPr>
        <p:spPr>
          <a:xfrm>
            <a:off x="1508760" y="4956048"/>
            <a:ext cx="3822192" cy="356616"/>
          </a:xfrm>
          <a:prstGeom prst="rect">
            <a:avLst/>
          </a:prstGeom>
          <a:noFill/>
          <a:ln/>
        </p:spPr>
        <p:txBody>
          <a:bodyPr wrap="square" lIns="0" tIns="0" rIns="0" bIns="0" rtlCol="0" anchor="ctr">
            <a:normAutofit/>
          </a:bodyPr>
          <a:lstStyle/>
          <a:p>
            <a:pPr algn="l" indent="0" marL="0">
              <a:buNone/>
            </a:pPr>
            <a:r>
              <a:rPr lang="en-US" sz="1610" b="1" dirty="0">
                <a:solidFill>
                  <a:srgbClr val="172033"/>
                </a:solidFill>
                <a:latin typeface="Aptos" pitchFamily="34" charset="0"/>
                <a:ea typeface="Aptos" pitchFamily="34" charset="-122"/>
                <a:cs typeface="Aptos" pitchFamily="34" charset="-120"/>
              </a:rPr>
              <a:t>Reset one task safely</a:t>
            </a:r>
            <a:endParaRPr lang="en-US" sz="1610" dirty="0"/>
          </a:p>
        </p:txBody>
      </p:sp>
      <p:sp>
        <p:nvSpPr>
          <p:cNvPr id="30" name="Shape 28"/>
          <p:cNvSpPr/>
          <p:nvPr/>
        </p:nvSpPr>
        <p:spPr>
          <a:xfrm>
            <a:off x="5449824" y="4928616"/>
            <a:ext cx="5779008" cy="539496"/>
          </a:xfrm>
          <a:prstGeom prst="roundRect">
            <a:avLst>
              <a:gd name="adj" fmla="val 13559"/>
            </a:avLst>
          </a:prstGeom>
          <a:solidFill>
            <a:srgbClr val="E8F6F5"/>
          </a:solidFill>
          <a:ln w="10160">
            <a:solidFill>
              <a:srgbClr val="B9DDDA"/>
            </a:solidFill>
            <a:prstDash val="solid"/>
          </a:ln>
        </p:spPr>
      </p:sp>
      <p:sp>
        <p:nvSpPr>
          <p:cNvPr id="31" name="Text 29"/>
          <p:cNvSpPr txBox="1"/>
          <p:nvPr/>
        </p:nvSpPr>
        <p:spPr>
          <a:xfrm>
            <a:off x="5715000" y="5010912"/>
            <a:ext cx="5230368" cy="320040"/>
          </a:xfrm>
          <a:prstGeom prst="rect">
            <a:avLst/>
          </a:prstGeom>
          <a:noFill/>
          <a:ln/>
        </p:spPr>
        <p:txBody>
          <a:bodyPr wrap="square" lIns="0" tIns="0" rIns="0" bIns="0" rtlCol="0" anchor="ctr">
            <a:normAutofit/>
          </a:bodyPr>
          <a:lstStyle/>
          <a:p>
            <a:pPr algn="l" indent="0" marL="0">
              <a:buNone/>
            </a:pPr>
            <a:r>
              <a:rPr lang="en-US" sz="1270" dirty="0">
                <a:solidFill>
                  <a:srgbClr val="163454"/>
                </a:solidFill>
                <a:latin typeface="Aptos" pitchFamily="34" charset="0"/>
                <a:ea typeface="Aptos" pitchFamily="34" charset="-122"/>
                <a:cs typeface="Aptos" pitchFamily="34" charset="-120"/>
              </a:rPr>
              <a:t>Clear the current work without deleting approved project facts.</a:t>
            </a:r>
            <a:endParaRPr lang="en-US" sz="1270" dirty="0"/>
          </a:p>
        </p:txBody>
      </p:sp>
      <p:sp>
        <p:nvSpPr>
          <p:cNvPr id="32" name="Shape 30"/>
          <p:cNvSpPr/>
          <p:nvPr/>
        </p:nvSpPr>
        <p:spPr>
          <a:xfrm>
            <a:off x="640080" y="5843016"/>
            <a:ext cx="10991088" cy="384048"/>
          </a:xfrm>
          <a:prstGeom prst="roundRect">
            <a:avLst>
              <a:gd name="adj" fmla="val 19048"/>
            </a:avLst>
          </a:prstGeom>
          <a:solidFill>
            <a:srgbClr val="163454"/>
          </a:solidFill>
          <a:ln w="10160">
            <a:solidFill>
              <a:srgbClr val="163454"/>
            </a:solidFill>
            <a:prstDash val="solid"/>
          </a:ln>
        </p:spPr>
      </p:sp>
      <p:sp>
        <p:nvSpPr>
          <p:cNvPr id="33" name="Text 31"/>
          <p:cNvSpPr txBox="1"/>
          <p:nvPr/>
        </p:nvSpPr>
        <p:spPr>
          <a:xfrm>
            <a:off x="896112" y="5916168"/>
            <a:ext cx="10469880" cy="228600"/>
          </a:xfrm>
          <a:prstGeom prst="rect">
            <a:avLst/>
          </a:prstGeom>
          <a:noFill/>
          <a:ln/>
        </p:spPr>
        <p:txBody>
          <a:bodyPr wrap="square" lIns="0" tIns="0" rIns="0" bIns="0" rtlCol="0" anchor="ctr">
            <a:normAutofit/>
          </a:bodyPr>
          <a:lstStyle/>
          <a:p>
            <a:pPr algn="ctr" indent="0" marL="0">
              <a:buNone/>
            </a:pPr>
            <a:r>
              <a:rPr lang="en-US" sz="1280" b="1" dirty="0">
                <a:solidFill>
                  <a:srgbClr val="FFFFFF"/>
                </a:solidFill>
                <a:latin typeface="Aptos" pitchFamily="34" charset="0"/>
                <a:ea typeface="Aptos" pitchFamily="34" charset="-122"/>
                <a:cs typeface="Aptos" pitchFamily="34" charset="-120"/>
              </a:rPr>
              <a:t>DWI can show important missing information today; the guided question-and-answer step is not finished.</a:t>
            </a:r>
            <a:endParaRPr lang="en-US" sz="1280" dirty="0"/>
          </a:p>
        </p:txBody>
      </p:sp>
      <p:sp>
        <p:nvSpPr>
          <p:cNvPr id="25" name="Slide Number Placeholder 0"/>
          <p:cNvSpPr>
            <a:spLocks noGrp="1"/>
          </p:cNvSpPr>
          <p:nvPr>
            <p:ph type="sldNum" sz="quarter" idx="4294967295"/>
          </p:nvPr>
        </p:nvSpPr>
        <p:spPr>
          <a:xfrm>
            <a:off x="11658600" y="6492240"/>
            <a:ext cx="800000" cy="300000"/>
          </a:xfrm>
          <a:prstGeom prst="rect">
            <a:avLst/>
          </a:prstGeom>
          <a:extLst>
            <a:ext uri="{C572A759-6A51-4108-AA02-DFA0A04FC94B}">
              <ma14:wrappingTextBoxFlag xmlns:ma14="http://schemas.microsoft.com/office/mac/drawingml/2011/main" val="0"/>
            </a:ext>
          </a:extLst>
        </p:spPr>
        <p:txBody>
          <a:bodyPr/>
          <a:lstStyle>
            <a:lvl1pPr>
              <a:defRPr sz="780">
                <a:solidFill>
                  <a:srgbClr val="667085"/>
                </a:solidFill>
                <a:latin typeface="Aptos"/>
                <a:ea typeface="Aptos"/>
                <a:cs typeface="Aptos"/>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603504" y="310896"/>
            <a:ext cx="5120640" cy="219456"/>
          </a:xfrm>
          <a:prstGeom prst="rect">
            <a:avLst/>
          </a:prstGeom>
          <a:noFill/>
          <a:ln/>
        </p:spPr>
        <p:txBody>
          <a:bodyPr wrap="square" lIns="0" tIns="0" rIns="0" bIns="0" rtlCol="0" anchor="ctr">
            <a:normAutofit/>
          </a:bodyPr>
          <a:lstStyle/>
          <a:p>
            <a:pPr algn="l" indent="0" marL="0">
              <a:buNone/>
            </a:pPr>
            <a:r>
              <a:rPr lang="en-US" sz="950" b="1" spc="120" kern="0" dirty="0">
                <a:solidFill>
                  <a:srgbClr val="007F80"/>
                </a:solidFill>
                <a:latin typeface="Aptos" pitchFamily="34" charset="0"/>
                <a:ea typeface="Aptos" pitchFamily="34" charset="-122"/>
                <a:cs typeface="Aptos" pitchFamily="34" charset="-120"/>
              </a:rPr>
              <a:t>FUTURE DIRECTION</a:t>
            </a:r>
            <a:endParaRPr lang="en-US" sz="950" dirty="0"/>
          </a:p>
        </p:txBody>
      </p:sp>
      <p:sp>
        <p:nvSpPr>
          <p:cNvPr id="3" name="Text 1"/>
          <p:cNvSpPr txBox="1"/>
          <p:nvPr/>
        </p:nvSpPr>
        <p:spPr>
          <a:xfrm>
            <a:off x="603504" y="603504"/>
            <a:ext cx="10972800" cy="548640"/>
          </a:xfrm>
          <a:prstGeom prst="rect">
            <a:avLst/>
          </a:prstGeom>
          <a:noFill/>
          <a:ln/>
        </p:spPr>
        <p:txBody>
          <a:bodyPr wrap="square" lIns="0" tIns="0" rIns="0" bIns="0" rtlCol="0" anchor="ctr">
            <a:normAutofit/>
          </a:bodyPr>
          <a:lstStyle/>
          <a:p>
            <a:pPr algn="l" indent="0" marL="0">
              <a:buNone/>
            </a:pPr>
            <a:r>
              <a:rPr lang="en-US" sz="2750" b="1" dirty="0">
                <a:solidFill>
                  <a:srgbClr val="172033"/>
                </a:solidFill>
                <a:latin typeface="Aptos" pitchFamily="34" charset="0"/>
                <a:ea typeface="Aptos" pitchFamily="34" charset="-122"/>
                <a:cs typeface="Aptos" pitchFamily="34" charset="-120"/>
              </a:rPr>
              <a:t>Link approved work needs, governed AI allowances and continuous improvement</a:t>
            </a:r>
            <a:endParaRPr lang="en-US" sz="2750" dirty="0"/>
          </a:p>
        </p:txBody>
      </p:sp>
      <p:sp>
        <p:nvSpPr>
          <p:cNvPr id="4" name="Text 2"/>
          <p:cNvSpPr txBox="1"/>
          <p:nvPr/>
        </p:nvSpPr>
        <p:spPr>
          <a:xfrm>
            <a:off x="603504" y="1170432"/>
            <a:ext cx="10927080" cy="365760"/>
          </a:xfrm>
          <a:prstGeom prst="rect">
            <a:avLst/>
          </a:prstGeom>
          <a:noFill/>
          <a:ln/>
        </p:spPr>
        <p:txBody>
          <a:bodyPr wrap="square" lIns="0" tIns="0" rIns="0" bIns="0" rtlCol="0" anchor="ctr">
            <a:normAutofit/>
          </a:bodyPr>
          <a:lstStyle/>
          <a:p>
            <a:pPr algn="l" indent="0" marL="0">
              <a:buNone/>
            </a:pPr>
            <a:r>
              <a:rPr lang="en-US" sz="1350" dirty="0">
                <a:solidFill>
                  <a:srgbClr val="667085"/>
                </a:solidFill>
                <a:latin typeface="Aptos" pitchFamily="34" charset="0"/>
                <a:ea typeface="Aptos" pitchFamily="34" charset="-122"/>
                <a:cs typeface="Aptos" pitchFamily="34" charset="-120"/>
              </a:rPr>
              <a:t>Once the current experience is stable, an optional project-management connection could support a controlled improvement loop.</a:t>
            </a:r>
            <a:endParaRPr lang="en-US" sz="1350" dirty="0"/>
          </a:p>
        </p:txBody>
      </p:sp>
      <p:sp>
        <p:nvSpPr>
          <p:cNvPr id="5" name="Shape 3"/>
          <p:cNvSpPr/>
          <p:nvPr/>
        </p:nvSpPr>
        <p:spPr>
          <a:xfrm>
            <a:off x="8970264" y="320040"/>
            <a:ext cx="2395728" cy="292608"/>
          </a:xfrm>
          <a:prstGeom prst="roundRect">
            <a:avLst>
              <a:gd name="adj" fmla="val 50000"/>
            </a:avLst>
          </a:prstGeom>
          <a:solidFill>
            <a:srgbClr val="FFF3DE"/>
          </a:solidFill>
          <a:ln w="12700">
            <a:solidFill>
              <a:srgbClr val="FFF3DE"/>
            </a:solidFill>
            <a:prstDash val="solid"/>
          </a:ln>
        </p:spPr>
      </p:sp>
      <p:sp>
        <p:nvSpPr>
          <p:cNvPr id="6" name="Text 4"/>
          <p:cNvSpPr txBox="1"/>
          <p:nvPr/>
        </p:nvSpPr>
        <p:spPr>
          <a:xfrm>
            <a:off x="9034272" y="338328"/>
            <a:ext cx="2267712" cy="228600"/>
          </a:xfrm>
          <a:prstGeom prst="rect">
            <a:avLst/>
          </a:prstGeom>
          <a:noFill/>
          <a:ln/>
        </p:spPr>
        <p:txBody>
          <a:bodyPr wrap="square" lIns="0" tIns="0" rIns="0" bIns="0" rtlCol="0" anchor="ctr">
            <a:normAutofit/>
          </a:bodyPr>
          <a:lstStyle/>
          <a:p>
            <a:pPr algn="ctr" indent="0" marL="0">
              <a:buNone/>
            </a:pPr>
            <a:r>
              <a:rPr lang="en-US" sz="920" b="1" spc="40" kern="0" dirty="0">
                <a:solidFill>
                  <a:srgbClr val="82530D"/>
                </a:solidFill>
                <a:latin typeface="Aptos" pitchFamily="34" charset="0"/>
                <a:ea typeface="Aptos" pitchFamily="34" charset="-122"/>
                <a:cs typeface="Aptos" pitchFamily="34" charset="-120"/>
              </a:rPr>
              <a:t>PROPOSED — NOT BUILT YET</a:t>
            </a:r>
            <a:endParaRPr lang="en-US" sz="920" dirty="0"/>
          </a:p>
        </p:txBody>
      </p:sp>
      <p:sp>
        <p:nvSpPr>
          <p:cNvPr id="7" name="Shape 5"/>
          <p:cNvSpPr/>
          <p:nvPr/>
        </p:nvSpPr>
        <p:spPr>
          <a:xfrm>
            <a:off x="448056" y="2011680"/>
            <a:ext cx="1810512" cy="2496312"/>
          </a:xfrm>
          <a:prstGeom prst="roundRect">
            <a:avLst>
              <a:gd name="adj" fmla="val 4040"/>
            </a:avLst>
          </a:prstGeom>
          <a:solidFill>
            <a:srgbClr val="FFFFFF"/>
          </a:solidFill>
          <a:ln w="10160">
            <a:solidFill>
              <a:srgbClr val="D8DEE7"/>
            </a:solidFill>
            <a:prstDash val="solid"/>
          </a:ln>
        </p:spPr>
      </p:sp>
      <p:sp>
        <p:nvSpPr>
          <p:cNvPr id="8" name="Text 6"/>
          <p:cNvSpPr txBox="1"/>
          <p:nvPr/>
        </p:nvSpPr>
        <p:spPr>
          <a:xfrm>
            <a:off x="603504" y="2240280"/>
            <a:ext cx="1499616" cy="182880"/>
          </a:xfrm>
          <a:prstGeom prst="rect">
            <a:avLst/>
          </a:prstGeom>
          <a:noFill/>
          <a:ln/>
        </p:spPr>
        <p:txBody>
          <a:bodyPr wrap="square" lIns="0" tIns="0" rIns="0" bIns="0" rtlCol="0" anchor="ctr">
            <a:normAutofit/>
          </a:bodyPr>
          <a:lstStyle/>
          <a:p>
            <a:pPr algn="ctr" indent="0" marL="0">
              <a:buNone/>
            </a:pPr>
            <a:r>
              <a:rPr lang="en-US" sz="820" b="1" spc="70" kern="0" dirty="0">
                <a:solidFill>
                  <a:srgbClr val="007F80"/>
                </a:solidFill>
                <a:latin typeface="Aptos" pitchFamily="34" charset="0"/>
                <a:ea typeface="Aptos" pitchFamily="34" charset="-122"/>
                <a:cs typeface="Aptos" pitchFamily="34" charset="-120"/>
              </a:rPr>
              <a:t>PROJECT-MANAGEMENT DATA</a:t>
            </a:r>
            <a:endParaRPr lang="en-US" sz="820" dirty="0"/>
          </a:p>
        </p:txBody>
      </p:sp>
      <p:sp>
        <p:nvSpPr>
          <p:cNvPr id="9" name="Text 7"/>
          <p:cNvSpPr txBox="1"/>
          <p:nvPr/>
        </p:nvSpPr>
        <p:spPr>
          <a:xfrm>
            <a:off x="603504" y="2670048"/>
            <a:ext cx="1499616" cy="411480"/>
          </a:xfrm>
          <a:prstGeom prst="rect">
            <a:avLst/>
          </a:prstGeom>
          <a:noFill/>
          <a:ln/>
        </p:spPr>
        <p:txBody>
          <a:bodyPr wrap="square" lIns="0" tIns="0" rIns="0" bIns="0" rtlCol="0" anchor="ctr">
            <a:normAutofit/>
          </a:bodyPr>
          <a:lstStyle/>
          <a:p>
            <a:pPr algn="ctr" indent="0" marL="0">
              <a:buNone/>
            </a:pPr>
            <a:r>
              <a:rPr lang="en-US" sz="1630" b="1" dirty="0">
                <a:solidFill>
                  <a:srgbClr val="172033"/>
                </a:solidFill>
                <a:latin typeface="Aptos" pitchFamily="34" charset="0"/>
                <a:ea typeface="Aptos" pitchFamily="34" charset="-122"/>
                <a:cs typeface="Aptos" pitchFamily="34" charset="-120"/>
              </a:rPr>
              <a:t>Task context</a:t>
            </a:r>
            <a:endParaRPr lang="en-US" sz="1630" dirty="0"/>
          </a:p>
        </p:txBody>
      </p:sp>
      <p:sp>
        <p:nvSpPr>
          <p:cNvPr id="10" name="Text 8"/>
          <p:cNvSpPr txBox="1"/>
          <p:nvPr/>
        </p:nvSpPr>
        <p:spPr>
          <a:xfrm>
            <a:off x="603504" y="3291840"/>
            <a:ext cx="1499616" cy="713232"/>
          </a:xfrm>
          <a:prstGeom prst="rect">
            <a:avLst/>
          </a:prstGeom>
          <a:noFill/>
          <a:ln/>
        </p:spPr>
        <p:txBody>
          <a:bodyPr wrap="square" lIns="0" tIns="0" rIns="0" bIns="0" rtlCol="0" anchor="t">
            <a:normAutofit/>
          </a:bodyPr>
          <a:lstStyle/>
          <a:p>
            <a:pPr algn="ctr" indent="0" marL="0">
              <a:buNone/>
            </a:pPr>
            <a:r>
              <a:rPr lang="en-US" sz="1080" dirty="0">
                <a:solidFill>
                  <a:srgbClr val="667085"/>
                </a:solidFill>
                <a:latin typeface="Aptos" pitchFamily="34" charset="0"/>
                <a:ea typeface="Aptos" pitchFamily="34" charset="-122"/>
                <a:cs typeface="Aptos" pitchFamily="34" charset="-120"/>
              </a:rPr>
              <a:t>Priority, type, risk and timing</a:t>
            </a:r>
            <a:endParaRPr lang="en-US" sz="1080" dirty="0"/>
          </a:p>
        </p:txBody>
      </p:sp>
      <p:sp>
        <p:nvSpPr>
          <p:cNvPr id="11" name="Shape 9"/>
          <p:cNvSpPr/>
          <p:nvPr/>
        </p:nvSpPr>
        <p:spPr>
          <a:xfrm>
            <a:off x="2295144" y="2999232"/>
            <a:ext cx="228600" cy="301752"/>
          </a:xfrm>
          <a:prstGeom prst="chevron">
            <a:avLst/>
          </a:prstGeom>
          <a:solidFill>
            <a:srgbClr val="BAC6D2"/>
          </a:solidFill>
          <a:ln w="12700">
            <a:solidFill>
              <a:srgbClr val="BAC6D2"/>
            </a:solidFill>
            <a:prstDash val="solid"/>
          </a:ln>
        </p:spPr>
      </p:sp>
      <p:sp>
        <p:nvSpPr>
          <p:cNvPr id="12" name="Shape 10"/>
          <p:cNvSpPr/>
          <p:nvPr/>
        </p:nvSpPr>
        <p:spPr>
          <a:xfrm>
            <a:off x="2560320" y="2011680"/>
            <a:ext cx="1810512" cy="2496312"/>
          </a:xfrm>
          <a:prstGeom prst="roundRect">
            <a:avLst>
              <a:gd name="adj" fmla="val 4040"/>
            </a:avLst>
          </a:prstGeom>
          <a:solidFill>
            <a:srgbClr val="FFF3DE"/>
          </a:solidFill>
          <a:ln w="10160">
            <a:solidFill>
              <a:srgbClr val="F0D39D"/>
            </a:solidFill>
            <a:prstDash val="solid"/>
          </a:ln>
        </p:spPr>
      </p:sp>
      <p:sp>
        <p:nvSpPr>
          <p:cNvPr id="13" name="Text 11"/>
          <p:cNvSpPr txBox="1"/>
          <p:nvPr/>
        </p:nvSpPr>
        <p:spPr>
          <a:xfrm>
            <a:off x="2715768" y="2240280"/>
            <a:ext cx="1499616" cy="182880"/>
          </a:xfrm>
          <a:prstGeom prst="rect">
            <a:avLst/>
          </a:prstGeom>
          <a:noFill/>
          <a:ln/>
        </p:spPr>
        <p:txBody>
          <a:bodyPr wrap="square" lIns="0" tIns="0" rIns="0" bIns="0" rtlCol="0" anchor="ctr">
            <a:normAutofit/>
          </a:bodyPr>
          <a:lstStyle/>
          <a:p>
            <a:pPr algn="ctr" indent="0" marL="0">
              <a:buNone/>
            </a:pPr>
            <a:r>
              <a:rPr lang="en-US" sz="820" b="1" spc="70" kern="0" dirty="0">
                <a:solidFill>
                  <a:srgbClr val="82530D"/>
                </a:solidFill>
                <a:latin typeface="Aptos" pitchFamily="34" charset="0"/>
                <a:ea typeface="Aptos" pitchFamily="34" charset="-122"/>
                <a:cs typeface="Aptos" pitchFamily="34" charset="-120"/>
              </a:rPr>
              <a:t>APPROVED POLICY</a:t>
            </a:r>
            <a:endParaRPr lang="en-US" sz="820" dirty="0"/>
          </a:p>
        </p:txBody>
      </p:sp>
      <p:sp>
        <p:nvSpPr>
          <p:cNvPr id="14" name="Text 12"/>
          <p:cNvSpPr txBox="1"/>
          <p:nvPr/>
        </p:nvSpPr>
        <p:spPr>
          <a:xfrm>
            <a:off x="2715768" y="2670048"/>
            <a:ext cx="1499616" cy="411480"/>
          </a:xfrm>
          <a:prstGeom prst="rect">
            <a:avLst/>
          </a:prstGeom>
          <a:noFill/>
          <a:ln/>
        </p:spPr>
        <p:txBody>
          <a:bodyPr wrap="square" lIns="0" tIns="0" rIns="0" bIns="0" rtlCol="0" anchor="ctr">
            <a:normAutofit/>
          </a:bodyPr>
          <a:lstStyle/>
          <a:p>
            <a:pPr algn="ctr" indent="0" marL="0">
              <a:buNone/>
            </a:pPr>
            <a:r>
              <a:rPr lang="en-US" sz="1630" b="1" dirty="0">
                <a:solidFill>
                  <a:srgbClr val="172033"/>
                </a:solidFill>
                <a:latin typeface="Aptos" pitchFamily="34" charset="0"/>
                <a:ea typeface="Aptos" pitchFamily="34" charset="-122"/>
                <a:cs typeface="Aptos" pitchFamily="34" charset="-120"/>
              </a:rPr>
              <a:t>Decision rules</a:t>
            </a:r>
            <a:endParaRPr lang="en-US" sz="1630" dirty="0"/>
          </a:p>
        </p:txBody>
      </p:sp>
      <p:sp>
        <p:nvSpPr>
          <p:cNvPr id="15" name="Text 13"/>
          <p:cNvSpPr txBox="1"/>
          <p:nvPr/>
        </p:nvSpPr>
        <p:spPr>
          <a:xfrm>
            <a:off x="2715768" y="3291840"/>
            <a:ext cx="1499616" cy="713232"/>
          </a:xfrm>
          <a:prstGeom prst="rect">
            <a:avLst/>
          </a:prstGeom>
          <a:noFill/>
          <a:ln/>
        </p:spPr>
        <p:txBody>
          <a:bodyPr wrap="square" lIns="0" tIns="0" rIns="0" bIns="0" rtlCol="0" anchor="t">
            <a:normAutofit/>
          </a:bodyPr>
          <a:lstStyle/>
          <a:p>
            <a:pPr algn="ctr" indent="0" marL="0">
              <a:buNone/>
            </a:pPr>
            <a:r>
              <a:rPr lang="en-US" sz="1080" dirty="0">
                <a:solidFill>
                  <a:srgbClr val="667085"/>
                </a:solidFill>
                <a:latin typeface="Aptos" pitchFamily="34" charset="0"/>
                <a:ea typeface="Aptos" pitchFamily="34" charset="-122"/>
                <a:cs typeface="Aptos" pitchFamily="34" charset="-120"/>
              </a:rPr>
              <a:t>Owner-approved inputs, calculation and hard limits</a:t>
            </a:r>
            <a:endParaRPr lang="en-US" sz="1080" dirty="0"/>
          </a:p>
        </p:txBody>
      </p:sp>
      <p:sp>
        <p:nvSpPr>
          <p:cNvPr id="16" name="Shape 14"/>
          <p:cNvSpPr/>
          <p:nvPr/>
        </p:nvSpPr>
        <p:spPr>
          <a:xfrm>
            <a:off x="4407408" y="2999232"/>
            <a:ext cx="228600" cy="301752"/>
          </a:xfrm>
          <a:prstGeom prst="chevron">
            <a:avLst/>
          </a:prstGeom>
          <a:solidFill>
            <a:srgbClr val="BAC6D2"/>
          </a:solidFill>
          <a:ln w="12700">
            <a:solidFill>
              <a:srgbClr val="BAC6D2"/>
            </a:solidFill>
            <a:prstDash val="solid"/>
          </a:ln>
        </p:spPr>
      </p:sp>
      <p:sp>
        <p:nvSpPr>
          <p:cNvPr id="17" name="Shape 15"/>
          <p:cNvSpPr/>
          <p:nvPr/>
        </p:nvSpPr>
        <p:spPr>
          <a:xfrm>
            <a:off x="4672584" y="2011680"/>
            <a:ext cx="1810512" cy="2496312"/>
          </a:xfrm>
          <a:prstGeom prst="roundRect">
            <a:avLst>
              <a:gd name="adj" fmla="val 4040"/>
            </a:avLst>
          </a:prstGeom>
          <a:solidFill>
            <a:srgbClr val="FFFFFF"/>
          </a:solidFill>
          <a:ln w="10160">
            <a:solidFill>
              <a:srgbClr val="D8DEE7"/>
            </a:solidFill>
            <a:prstDash val="solid"/>
          </a:ln>
        </p:spPr>
      </p:sp>
      <p:sp>
        <p:nvSpPr>
          <p:cNvPr id="18" name="Text 16"/>
          <p:cNvSpPr txBox="1"/>
          <p:nvPr/>
        </p:nvSpPr>
        <p:spPr>
          <a:xfrm>
            <a:off x="4828032" y="2240280"/>
            <a:ext cx="1499616" cy="182880"/>
          </a:xfrm>
          <a:prstGeom prst="rect">
            <a:avLst/>
          </a:prstGeom>
          <a:noFill/>
          <a:ln/>
        </p:spPr>
        <p:txBody>
          <a:bodyPr wrap="square" lIns="0" tIns="0" rIns="0" bIns="0" rtlCol="0" anchor="ctr">
            <a:normAutofit/>
          </a:bodyPr>
          <a:lstStyle/>
          <a:p>
            <a:pPr algn="ctr" indent="0" marL="0">
              <a:buNone/>
            </a:pPr>
            <a:r>
              <a:rPr lang="en-US" sz="820" b="1" spc="70" kern="0" dirty="0">
                <a:solidFill>
                  <a:srgbClr val="007F80"/>
                </a:solidFill>
                <a:latin typeface="Aptos" pitchFamily="34" charset="0"/>
                <a:ea typeface="Aptos" pitchFamily="34" charset="-122"/>
                <a:cs typeface="Aptos" pitchFamily="34" charset="-120"/>
              </a:rPr>
              <a:t>DWI</a:t>
            </a:r>
            <a:endParaRPr lang="en-US" sz="820" dirty="0"/>
          </a:p>
        </p:txBody>
      </p:sp>
      <p:sp>
        <p:nvSpPr>
          <p:cNvPr id="19" name="Text 17"/>
          <p:cNvSpPr txBox="1"/>
          <p:nvPr/>
        </p:nvSpPr>
        <p:spPr>
          <a:xfrm>
            <a:off x="4828032" y="2670048"/>
            <a:ext cx="1499616" cy="411480"/>
          </a:xfrm>
          <a:prstGeom prst="rect">
            <a:avLst/>
          </a:prstGeom>
          <a:noFill/>
          <a:ln/>
        </p:spPr>
        <p:txBody>
          <a:bodyPr wrap="square" lIns="0" tIns="0" rIns="0" bIns="0" rtlCol="0" anchor="ctr">
            <a:normAutofit/>
          </a:bodyPr>
          <a:lstStyle/>
          <a:p>
            <a:pPr algn="ctr" indent="0" marL="0">
              <a:buNone/>
            </a:pPr>
            <a:r>
              <a:rPr lang="en-US" sz="1630" b="1" dirty="0">
                <a:solidFill>
                  <a:srgbClr val="172033"/>
                </a:solidFill>
                <a:latin typeface="Aptos" pitchFamily="34" charset="0"/>
                <a:ea typeface="Aptos" pitchFamily="34" charset="-122"/>
                <a:cs typeface="Aptos" pitchFamily="34" charset="-120"/>
              </a:rPr>
              <a:t>Prepare work</a:t>
            </a:r>
            <a:endParaRPr lang="en-US" sz="1630" dirty="0"/>
          </a:p>
        </p:txBody>
      </p:sp>
      <p:sp>
        <p:nvSpPr>
          <p:cNvPr id="20" name="Text 18"/>
          <p:cNvSpPr txBox="1"/>
          <p:nvPr/>
        </p:nvSpPr>
        <p:spPr>
          <a:xfrm>
            <a:off x="4828032" y="3291840"/>
            <a:ext cx="1499616" cy="713232"/>
          </a:xfrm>
          <a:prstGeom prst="rect">
            <a:avLst/>
          </a:prstGeom>
          <a:noFill/>
          <a:ln/>
        </p:spPr>
        <p:txBody>
          <a:bodyPr wrap="square" lIns="0" tIns="0" rIns="0" bIns="0" rtlCol="0" anchor="t">
            <a:normAutofit/>
          </a:bodyPr>
          <a:lstStyle/>
          <a:p>
            <a:pPr algn="ctr" indent="0" marL="0">
              <a:buNone/>
            </a:pPr>
            <a:r>
              <a:rPr lang="en-US" sz="1080" dirty="0">
                <a:solidFill>
                  <a:srgbClr val="667085"/>
                </a:solidFill>
                <a:latin typeface="Aptos" pitchFamily="34" charset="0"/>
                <a:ea typeface="Aptos" pitchFamily="34" charset="-122"/>
                <a:cs typeface="Aptos" pitchFamily="34" charset="-120"/>
              </a:rPr>
              <a:t>Use approved project facts within the limit</a:t>
            </a:r>
            <a:endParaRPr lang="en-US" sz="1080" dirty="0"/>
          </a:p>
        </p:txBody>
      </p:sp>
      <p:sp>
        <p:nvSpPr>
          <p:cNvPr id="21" name="Shape 19"/>
          <p:cNvSpPr/>
          <p:nvPr/>
        </p:nvSpPr>
        <p:spPr>
          <a:xfrm>
            <a:off x="6519672" y="2999232"/>
            <a:ext cx="228600" cy="301752"/>
          </a:xfrm>
          <a:prstGeom prst="chevron">
            <a:avLst/>
          </a:prstGeom>
          <a:solidFill>
            <a:srgbClr val="BAC6D2"/>
          </a:solidFill>
          <a:ln w="12700">
            <a:solidFill>
              <a:srgbClr val="BAC6D2"/>
            </a:solidFill>
            <a:prstDash val="solid"/>
          </a:ln>
        </p:spPr>
      </p:sp>
      <p:sp>
        <p:nvSpPr>
          <p:cNvPr id="22" name="Shape 20"/>
          <p:cNvSpPr/>
          <p:nvPr/>
        </p:nvSpPr>
        <p:spPr>
          <a:xfrm>
            <a:off x="6784848" y="2011680"/>
            <a:ext cx="1810512" cy="2496312"/>
          </a:xfrm>
          <a:prstGeom prst="roundRect">
            <a:avLst>
              <a:gd name="adj" fmla="val 4040"/>
            </a:avLst>
          </a:prstGeom>
          <a:solidFill>
            <a:srgbClr val="FFFFFF"/>
          </a:solidFill>
          <a:ln w="10160">
            <a:solidFill>
              <a:srgbClr val="D8DEE7"/>
            </a:solidFill>
            <a:prstDash val="solid"/>
          </a:ln>
        </p:spPr>
      </p:sp>
      <p:sp>
        <p:nvSpPr>
          <p:cNvPr id="23" name="Text 21"/>
          <p:cNvSpPr txBox="1"/>
          <p:nvPr/>
        </p:nvSpPr>
        <p:spPr>
          <a:xfrm>
            <a:off x="6940296" y="2240280"/>
            <a:ext cx="1499616" cy="182880"/>
          </a:xfrm>
          <a:prstGeom prst="rect">
            <a:avLst/>
          </a:prstGeom>
          <a:noFill/>
          <a:ln/>
        </p:spPr>
        <p:txBody>
          <a:bodyPr wrap="square" lIns="0" tIns="0" rIns="0" bIns="0" rtlCol="0" anchor="ctr">
            <a:normAutofit/>
          </a:bodyPr>
          <a:lstStyle/>
          <a:p>
            <a:pPr algn="ctr" indent="0" marL="0">
              <a:buNone/>
            </a:pPr>
            <a:r>
              <a:rPr lang="en-US" sz="820" b="1" spc="70" kern="0" dirty="0">
                <a:solidFill>
                  <a:srgbClr val="007F80"/>
                </a:solidFill>
                <a:latin typeface="Aptos" pitchFamily="34" charset="0"/>
                <a:ea typeface="Aptos" pitchFamily="34" charset="-122"/>
                <a:cs typeface="Aptos" pitchFamily="34" charset="-120"/>
              </a:rPr>
              <a:t>DEVELOPER</a:t>
            </a:r>
            <a:endParaRPr lang="en-US" sz="820" dirty="0"/>
          </a:p>
        </p:txBody>
      </p:sp>
      <p:sp>
        <p:nvSpPr>
          <p:cNvPr id="24" name="Text 22"/>
          <p:cNvSpPr txBox="1"/>
          <p:nvPr/>
        </p:nvSpPr>
        <p:spPr>
          <a:xfrm>
            <a:off x="6940296" y="2670048"/>
            <a:ext cx="1499616" cy="411480"/>
          </a:xfrm>
          <a:prstGeom prst="rect">
            <a:avLst/>
          </a:prstGeom>
          <a:noFill/>
          <a:ln/>
        </p:spPr>
        <p:txBody>
          <a:bodyPr wrap="square" lIns="0" tIns="0" rIns="0" bIns="0" rtlCol="0" anchor="ctr">
            <a:normAutofit/>
          </a:bodyPr>
          <a:lstStyle/>
          <a:p>
            <a:pPr algn="ctr" indent="0" marL="0">
              <a:buNone/>
            </a:pPr>
            <a:r>
              <a:rPr lang="en-US" sz="1630" b="1" dirty="0">
                <a:solidFill>
                  <a:srgbClr val="172033"/>
                </a:solidFill>
                <a:latin typeface="Aptos" pitchFamily="34" charset="0"/>
                <a:ea typeface="Aptos" pitchFamily="34" charset="-122"/>
                <a:cs typeface="Aptos" pitchFamily="34" charset="-120"/>
              </a:rPr>
              <a:t>Review</a:t>
            </a:r>
            <a:endParaRPr lang="en-US" sz="1630" dirty="0"/>
          </a:p>
        </p:txBody>
      </p:sp>
      <p:sp>
        <p:nvSpPr>
          <p:cNvPr id="25" name="Text 23"/>
          <p:cNvSpPr txBox="1"/>
          <p:nvPr/>
        </p:nvSpPr>
        <p:spPr>
          <a:xfrm>
            <a:off x="6940296" y="3291840"/>
            <a:ext cx="1499616" cy="713232"/>
          </a:xfrm>
          <a:prstGeom prst="rect">
            <a:avLst/>
          </a:prstGeom>
          <a:noFill/>
          <a:ln/>
        </p:spPr>
        <p:txBody>
          <a:bodyPr wrap="square" lIns="0" tIns="0" rIns="0" bIns="0" rtlCol="0" anchor="t">
            <a:normAutofit/>
          </a:bodyPr>
          <a:lstStyle/>
          <a:p>
            <a:pPr algn="ctr" indent="0" marL="0">
              <a:buNone/>
            </a:pPr>
            <a:r>
              <a:rPr lang="en-US" sz="1080" dirty="0">
                <a:solidFill>
                  <a:srgbClr val="667085"/>
                </a:solidFill>
                <a:latin typeface="Aptos" pitchFamily="34" charset="0"/>
                <a:ea typeface="Aptos" pitchFamily="34" charset="-122"/>
                <a:cs typeface="Aptos" pitchFamily="34" charset="-120"/>
              </a:rPr>
              <a:t>Accept, correct or reset</a:t>
            </a:r>
            <a:endParaRPr lang="en-US" sz="1080" dirty="0"/>
          </a:p>
        </p:txBody>
      </p:sp>
      <p:sp>
        <p:nvSpPr>
          <p:cNvPr id="26" name="Shape 24"/>
          <p:cNvSpPr/>
          <p:nvPr/>
        </p:nvSpPr>
        <p:spPr>
          <a:xfrm>
            <a:off x="8631936" y="2999232"/>
            <a:ext cx="228600" cy="301752"/>
          </a:xfrm>
          <a:prstGeom prst="chevron">
            <a:avLst/>
          </a:prstGeom>
          <a:solidFill>
            <a:srgbClr val="BAC6D2"/>
          </a:solidFill>
          <a:ln w="12700">
            <a:solidFill>
              <a:srgbClr val="BAC6D2"/>
            </a:solidFill>
            <a:prstDash val="solid"/>
          </a:ln>
        </p:spPr>
      </p:sp>
      <p:sp>
        <p:nvSpPr>
          <p:cNvPr id="27" name="Shape 25"/>
          <p:cNvSpPr/>
          <p:nvPr/>
        </p:nvSpPr>
        <p:spPr>
          <a:xfrm>
            <a:off x="8897112" y="2011680"/>
            <a:ext cx="1810512" cy="2496312"/>
          </a:xfrm>
          <a:prstGeom prst="roundRect">
            <a:avLst>
              <a:gd name="adj" fmla="val 4040"/>
            </a:avLst>
          </a:prstGeom>
          <a:solidFill>
            <a:srgbClr val="FFF3DE"/>
          </a:solidFill>
          <a:ln w="10160">
            <a:solidFill>
              <a:srgbClr val="F0D39D"/>
            </a:solidFill>
            <a:prstDash val="solid"/>
          </a:ln>
        </p:spPr>
      </p:sp>
      <p:sp>
        <p:nvSpPr>
          <p:cNvPr id="28" name="Text 26"/>
          <p:cNvSpPr txBox="1"/>
          <p:nvPr/>
        </p:nvSpPr>
        <p:spPr>
          <a:xfrm>
            <a:off x="9052560" y="2240280"/>
            <a:ext cx="1499616" cy="182880"/>
          </a:xfrm>
          <a:prstGeom prst="rect">
            <a:avLst/>
          </a:prstGeom>
          <a:noFill/>
          <a:ln/>
        </p:spPr>
        <p:txBody>
          <a:bodyPr wrap="square" lIns="0" tIns="0" rIns="0" bIns="0" rtlCol="0" anchor="ctr">
            <a:normAutofit/>
          </a:bodyPr>
          <a:lstStyle/>
          <a:p>
            <a:pPr algn="ctr" indent="0" marL="0">
              <a:buNone/>
            </a:pPr>
            <a:r>
              <a:rPr lang="en-US" sz="820" b="1" spc="70" kern="0" dirty="0">
                <a:solidFill>
                  <a:srgbClr val="82530D"/>
                </a:solidFill>
                <a:latin typeface="Aptos" pitchFamily="34" charset="0"/>
                <a:ea typeface="Aptos" pitchFamily="34" charset="-122"/>
                <a:cs typeface="Aptos" pitchFamily="34" charset="-120"/>
              </a:rPr>
              <a:t>SAFE FEEDBACK</a:t>
            </a:r>
            <a:endParaRPr lang="en-US" sz="820" dirty="0"/>
          </a:p>
        </p:txBody>
      </p:sp>
      <p:sp>
        <p:nvSpPr>
          <p:cNvPr id="29" name="Text 27"/>
          <p:cNvSpPr txBox="1"/>
          <p:nvPr/>
        </p:nvSpPr>
        <p:spPr>
          <a:xfrm>
            <a:off x="9052560" y="2670048"/>
            <a:ext cx="1499616" cy="411480"/>
          </a:xfrm>
          <a:prstGeom prst="rect">
            <a:avLst/>
          </a:prstGeom>
          <a:noFill/>
          <a:ln/>
        </p:spPr>
        <p:txBody>
          <a:bodyPr wrap="square" lIns="0" tIns="0" rIns="0" bIns="0" rtlCol="0" anchor="ctr">
            <a:normAutofit/>
          </a:bodyPr>
          <a:lstStyle/>
          <a:p>
            <a:pPr algn="ctr" indent="0" marL="0">
              <a:buNone/>
            </a:pPr>
            <a:r>
              <a:rPr lang="en-US" sz="1630" b="1" dirty="0">
                <a:solidFill>
                  <a:srgbClr val="172033"/>
                </a:solidFill>
                <a:latin typeface="Aptos" pitchFamily="34" charset="0"/>
                <a:ea typeface="Aptos" pitchFamily="34" charset="-122"/>
                <a:cs typeface="Aptos" pitchFamily="34" charset="-120"/>
              </a:rPr>
              <a:t>Outcome only</a:t>
            </a:r>
            <a:endParaRPr lang="en-US" sz="1630" dirty="0"/>
          </a:p>
        </p:txBody>
      </p:sp>
      <p:sp>
        <p:nvSpPr>
          <p:cNvPr id="30" name="Text 28"/>
          <p:cNvSpPr txBox="1"/>
          <p:nvPr/>
        </p:nvSpPr>
        <p:spPr>
          <a:xfrm>
            <a:off x="9052560" y="3291840"/>
            <a:ext cx="1499616" cy="713232"/>
          </a:xfrm>
          <a:prstGeom prst="rect">
            <a:avLst/>
          </a:prstGeom>
          <a:noFill/>
          <a:ln/>
        </p:spPr>
        <p:txBody>
          <a:bodyPr wrap="square" lIns="0" tIns="0" rIns="0" bIns="0" rtlCol="0" anchor="t">
            <a:normAutofit/>
          </a:bodyPr>
          <a:lstStyle/>
          <a:p>
            <a:pPr algn="ctr" indent="0" marL="0">
              <a:buNone/>
            </a:pPr>
            <a:r>
              <a:rPr lang="en-US" sz="1080" dirty="0">
                <a:solidFill>
                  <a:srgbClr val="667085"/>
                </a:solidFill>
                <a:latin typeface="Aptos" pitchFamily="34" charset="0"/>
                <a:ea typeface="Aptos" pitchFamily="34" charset="-122"/>
                <a:cs typeface="Aptos" pitchFamily="34" charset="-120"/>
              </a:rPr>
              <a:t>What helped or caused friction—without copying content</a:t>
            </a:r>
            <a:endParaRPr lang="en-US" sz="1080" dirty="0"/>
          </a:p>
        </p:txBody>
      </p:sp>
      <p:sp>
        <p:nvSpPr>
          <p:cNvPr id="31" name="Text 29"/>
          <p:cNvSpPr txBox="1"/>
          <p:nvPr/>
        </p:nvSpPr>
        <p:spPr>
          <a:xfrm>
            <a:off x="2286000" y="4709160"/>
            <a:ext cx="7178040" cy="301752"/>
          </a:xfrm>
          <a:prstGeom prst="rect">
            <a:avLst/>
          </a:prstGeom>
          <a:noFill/>
          <a:ln/>
        </p:spPr>
        <p:txBody>
          <a:bodyPr wrap="square" lIns="0" tIns="0" rIns="0" bIns="0" rtlCol="0" anchor="ctr">
            <a:normAutofit/>
          </a:bodyPr>
          <a:lstStyle/>
          <a:p>
            <a:pPr algn="ctr" indent="0" marL="0">
              <a:buNone/>
            </a:pPr>
            <a:r>
              <a:rPr lang="en-US" sz="1300" b="1" dirty="0">
                <a:solidFill>
                  <a:srgbClr val="007F80"/>
                </a:solidFill>
                <a:latin typeface="Aptos" pitchFamily="34" charset="0"/>
                <a:ea typeface="Aptos" pitchFamily="34" charset="-122"/>
                <a:cs typeface="Aptos" pitchFamily="34" charset="-120"/>
              </a:rPr>
              <a:t>Group-level insight can improve guidance, budgets and process—not score people.</a:t>
            </a:r>
            <a:endParaRPr lang="en-US" sz="1300" dirty="0"/>
          </a:p>
        </p:txBody>
      </p:sp>
      <p:sp>
        <p:nvSpPr>
          <p:cNvPr id="32" name="Shape 30"/>
          <p:cNvSpPr/>
          <p:nvPr/>
        </p:nvSpPr>
        <p:spPr>
          <a:xfrm>
            <a:off x="658368" y="5358384"/>
            <a:ext cx="10972800" cy="640080"/>
          </a:xfrm>
          <a:prstGeom prst="roundRect">
            <a:avLst>
              <a:gd name="adj" fmla="val 11429"/>
            </a:avLst>
          </a:prstGeom>
          <a:solidFill>
            <a:srgbClr val="163454"/>
          </a:solidFill>
          <a:ln w="10160">
            <a:solidFill>
              <a:srgbClr val="163454"/>
            </a:solidFill>
            <a:prstDash val="solid"/>
          </a:ln>
        </p:spPr>
      </p:sp>
      <p:sp>
        <p:nvSpPr>
          <p:cNvPr id="33" name="Text 31"/>
          <p:cNvSpPr txBox="1"/>
          <p:nvPr/>
        </p:nvSpPr>
        <p:spPr>
          <a:xfrm>
            <a:off x="932688" y="5513832"/>
            <a:ext cx="960120" cy="228600"/>
          </a:xfrm>
          <a:prstGeom prst="rect">
            <a:avLst/>
          </a:prstGeom>
          <a:noFill/>
          <a:ln/>
        </p:spPr>
        <p:txBody>
          <a:bodyPr wrap="square" lIns="0" tIns="0" rIns="0" bIns="0" rtlCol="0" anchor="ctr">
            <a:normAutofit/>
          </a:bodyPr>
          <a:lstStyle/>
          <a:p>
            <a:pPr algn="l" indent="0" marL="0">
              <a:buNone/>
            </a:pPr>
            <a:r>
              <a:rPr lang="en-US" sz="1150" b="1" dirty="0">
                <a:solidFill>
                  <a:srgbClr val="B9D85C"/>
                </a:solidFill>
                <a:latin typeface="Aptos" pitchFamily="34" charset="0"/>
                <a:ea typeface="Aptos" pitchFamily="34" charset="-122"/>
                <a:cs typeface="Aptos" pitchFamily="34" charset="-120"/>
              </a:rPr>
              <a:t>Guardrail</a:t>
            </a:r>
            <a:endParaRPr lang="en-US" sz="1150" dirty="0"/>
          </a:p>
        </p:txBody>
      </p:sp>
      <p:sp>
        <p:nvSpPr>
          <p:cNvPr id="34" name="Text 32"/>
          <p:cNvSpPr txBox="1"/>
          <p:nvPr/>
        </p:nvSpPr>
        <p:spPr>
          <a:xfrm>
            <a:off x="1965960" y="5477256"/>
            <a:ext cx="9217152" cy="310896"/>
          </a:xfrm>
          <a:prstGeom prst="rect">
            <a:avLst/>
          </a:prstGeom>
          <a:noFill/>
          <a:ln/>
        </p:spPr>
        <p:txBody>
          <a:bodyPr wrap="square" lIns="0" tIns="0" rIns="0" bIns="0" rtlCol="0" anchor="ctr">
            <a:normAutofit/>
          </a:bodyPr>
          <a:lstStyle/>
          <a:p>
            <a:pPr algn="ctr" indent="0" marL="0">
              <a:buNone/>
            </a:pPr>
            <a:r>
              <a:rPr lang="en-US" sz="1200" b="1" dirty="0">
                <a:solidFill>
                  <a:srgbClr val="FFFFFF"/>
                </a:solidFill>
                <a:latin typeface="Aptos" pitchFamily="34" charset="0"/>
                <a:ea typeface="Aptos" pitchFamily="34" charset="-122"/>
                <a:cs typeface="Aptos" pitchFamily="34" charset="-120"/>
              </a:rPr>
              <a:t>No approved decision record, no call. Every factor, multiplier and fallback must be traceable.</a:t>
            </a:r>
            <a:endParaRPr lang="en-US" sz="1200" dirty="0"/>
          </a:p>
        </p:txBody>
      </p:sp>
      <p:sp>
        <p:nvSpPr>
          <p:cNvPr id="25" name="Slide Number Placeholder 0"/>
          <p:cNvSpPr>
            <a:spLocks noGrp="1"/>
          </p:cNvSpPr>
          <p:nvPr>
            <p:ph type="sldNum" sz="quarter" idx="4294967295"/>
          </p:nvPr>
        </p:nvSpPr>
        <p:spPr>
          <a:xfrm>
            <a:off x="11658600" y="6492240"/>
            <a:ext cx="800000" cy="300000"/>
          </a:xfrm>
          <a:prstGeom prst="rect">
            <a:avLst/>
          </a:prstGeom>
          <a:extLst>
            <a:ext uri="{C572A759-6A51-4108-AA02-DFA0A04FC94B}">
              <ma14:wrappingTextBoxFlag xmlns:ma14="http://schemas.microsoft.com/office/mac/drawingml/2011/main" val="0"/>
            </a:ext>
          </a:extLst>
        </p:spPr>
        <p:txBody>
          <a:bodyPr/>
          <a:lstStyle>
            <a:lvl1pPr>
              <a:defRPr sz="780">
                <a:solidFill>
                  <a:srgbClr val="667085"/>
                </a:solidFill>
                <a:latin typeface="Aptos"/>
                <a:ea typeface="Aptos"/>
                <a:cs typeface="Aptos"/>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603504" y="310896"/>
            <a:ext cx="5120640" cy="219456"/>
          </a:xfrm>
          <a:prstGeom prst="rect">
            <a:avLst/>
          </a:prstGeom>
          <a:noFill/>
          <a:ln/>
        </p:spPr>
        <p:txBody>
          <a:bodyPr wrap="square" lIns="0" tIns="0" rIns="0" bIns="0" rtlCol="0" anchor="ctr">
            <a:normAutofit/>
          </a:bodyPr>
          <a:lstStyle/>
          <a:p>
            <a:pPr algn="l" indent="0" marL="0">
              <a:buNone/>
            </a:pPr>
            <a:r>
              <a:rPr lang="en-US" sz="950" b="1" spc="120" kern="0" dirty="0">
                <a:solidFill>
                  <a:srgbClr val="007F80"/>
                </a:solidFill>
                <a:latin typeface="Aptos" pitchFamily="34" charset="0"/>
                <a:ea typeface="Aptos" pitchFamily="34" charset="-122"/>
                <a:cs typeface="Aptos" pitchFamily="34" charset="-120"/>
              </a:rPr>
              <a:t>WHO THIS HELPS</a:t>
            </a:r>
            <a:endParaRPr lang="en-US" sz="950" dirty="0"/>
          </a:p>
        </p:txBody>
      </p:sp>
      <p:sp>
        <p:nvSpPr>
          <p:cNvPr id="3" name="Text 1"/>
          <p:cNvSpPr txBox="1"/>
          <p:nvPr/>
        </p:nvSpPr>
        <p:spPr>
          <a:xfrm>
            <a:off x="603504" y="603504"/>
            <a:ext cx="10972800" cy="548640"/>
          </a:xfrm>
          <a:prstGeom prst="rect">
            <a:avLst/>
          </a:prstGeom>
          <a:noFill/>
          <a:ln/>
        </p:spPr>
        <p:txBody>
          <a:bodyPr wrap="square" lIns="0" tIns="0" rIns="0" bIns="0" rtlCol="0" anchor="ctr">
            <a:normAutofit/>
          </a:bodyPr>
          <a:lstStyle/>
          <a:p>
            <a:pPr algn="l" indent="0" marL="0">
              <a:buNone/>
            </a:pPr>
            <a:r>
              <a:rPr lang="en-US" sz="2750" b="1" dirty="0">
                <a:solidFill>
                  <a:srgbClr val="172033"/>
                </a:solidFill>
                <a:latin typeface="Aptos" pitchFamily="34" charset="0"/>
                <a:ea typeface="Aptos" pitchFamily="34" charset="-122"/>
                <a:cs typeface="Aptos" pitchFamily="34" charset="-120"/>
              </a:rPr>
              <a:t>Useful decisions at every level</a:t>
            </a:r>
            <a:endParaRPr lang="en-US" sz="2750" dirty="0"/>
          </a:p>
        </p:txBody>
      </p:sp>
      <p:sp>
        <p:nvSpPr>
          <p:cNvPr id="4" name="Text 2"/>
          <p:cNvSpPr txBox="1"/>
          <p:nvPr/>
        </p:nvSpPr>
        <p:spPr>
          <a:xfrm>
            <a:off x="603504" y="1170432"/>
            <a:ext cx="10927080" cy="365760"/>
          </a:xfrm>
          <a:prstGeom prst="rect">
            <a:avLst/>
          </a:prstGeom>
          <a:noFill/>
          <a:ln/>
        </p:spPr>
        <p:txBody>
          <a:bodyPr wrap="square" lIns="0" tIns="0" rIns="0" bIns="0" rtlCol="0" anchor="ctr">
            <a:normAutofit/>
          </a:bodyPr>
          <a:lstStyle/>
          <a:p>
            <a:pPr algn="l" indent="0" marL="0">
              <a:buNone/>
            </a:pPr>
            <a:r>
              <a:rPr lang="en-US" sz="1350" dirty="0">
                <a:solidFill>
                  <a:srgbClr val="667085"/>
                </a:solidFill>
                <a:latin typeface="Aptos" pitchFamily="34" charset="0"/>
                <a:ea typeface="Aptos" pitchFamily="34" charset="-122"/>
                <a:cs typeface="Aptos" pitchFamily="34" charset="-120"/>
              </a:rPr>
              <a:t>Each level sees only the information needed for its decisions.</a:t>
            </a:r>
            <a:endParaRPr lang="en-US" sz="1350" dirty="0"/>
          </a:p>
        </p:txBody>
      </p:sp>
      <p:sp>
        <p:nvSpPr>
          <p:cNvPr id="5" name="Shape 3"/>
          <p:cNvSpPr/>
          <p:nvPr/>
        </p:nvSpPr>
        <p:spPr>
          <a:xfrm>
            <a:off x="640080" y="1746504"/>
            <a:ext cx="1554480" cy="438912"/>
          </a:xfrm>
          <a:prstGeom prst="rect">
            <a:avLst/>
          </a:prstGeom>
          <a:solidFill>
            <a:srgbClr val="163454"/>
          </a:solidFill>
          <a:ln w="10160">
            <a:solidFill>
              <a:srgbClr val="163454"/>
            </a:solidFill>
            <a:prstDash val="solid"/>
          </a:ln>
        </p:spPr>
      </p:sp>
      <p:sp>
        <p:nvSpPr>
          <p:cNvPr id="6" name="Text 4"/>
          <p:cNvSpPr txBox="1"/>
          <p:nvPr/>
        </p:nvSpPr>
        <p:spPr>
          <a:xfrm>
            <a:off x="768096" y="1847088"/>
            <a:ext cx="1298448" cy="201168"/>
          </a:xfrm>
          <a:prstGeom prst="rect">
            <a:avLst/>
          </a:prstGeom>
          <a:noFill/>
          <a:ln/>
        </p:spPr>
        <p:txBody>
          <a:bodyPr wrap="square" lIns="0" tIns="0" rIns="0" bIns="0" rtlCol="0" anchor="ctr">
            <a:normAutofit/>
          </a:bodyPr>
          <a:lstStyle/>
          <a:p>
            <a:pPr algn="l" indent="0" marL="0">
              <a:buNone/>
            </a:pPr>
            <a:r>
              <a:rPr lang="en-US" sz="900" b="1" spc="50" kern="0" dirty="0">
                <a:solidFill>
                  <a:srgbClr val="FFFFFF"/>
                </a:solidFill>
                <a:latin typeface="Aptos" pitchFamily="34" charset="0"/>
                <a:ea typeface="Aptos" pitchFamily="34" charset="-122"/>
                <a:cs typeface="Aptos" pitchFamily="34" charset="-120"/>
              </a:rPr>
              <a:t>WHO</a:t>
            </a:r>
            <a:endParaRPr lang="en-US" sz="900" dirty="0"/>
          </a:p>
        </p:txBody>
      </p:sp>
      <p:sp>
        <p:nvSpPr>
          <p:cNvPr id="7" name="Shape 5"/>
          <p:cNvSpPr/>
          <p:nvPr/>
        </p:nvSpPr>
        <p:spPr>
          <a:xfrm>
            <a:off x="2340864" y="1746504"/>
            <a:ext cx="2304288" cy="438912"/>
          </a:xfrm>
          <a:prstGeom prst="rect">
            <a:avLst/>
          </a:prstGeom>
          <a:solidFill>
            <a:srgbClr val="163454"/>
          </a:solidFill>
          <a:ln w="10160">
            <a:solidFill>
              <a:srgbClr val="163454"/>
            </a:solidFill>
            <a:prstDash val="solid"/>
          </a:ln>
        </p:spPr>
      </p:sp>
      <p:sp>
        <p:nvSpPr>
          <p:cNvPr id="8" name="Text 6"/>
          <p:cNvSpPr txBox="1"/>
          <p:nvPr/>
        </p:nvSpPr>
        <p:spPr>
          <a:xfrm>
            <a:off x="2468880" y="1847088"/>
            <a:ext cx="2048256" cy="201168"/>
          </a:xfrm>
          <a:prstGeom prst="rect">
            <a:avLst/>
          </a:prstGeom>
          <a:noFill/>
          <a:ln/>
        </p:spPr>
        <p:txBody>
          <a:bodyPr wrap="square" lIns="0" tIns="0" rIns="0" bIns="0" rtlCol="0" anchor="ctr">
            <a:normAutofit/>
          </a:bodyPr>
          <a:lstStyle/>
          <a:p>
            <a:pPr algn="l" indent="0" marL="0">
              <a:buNone/>
            </a:pPr>
            <a:r>
              <a:rPr lang="en-US" sz="900" b="1" spc="50" kern="0" dirty="0">
                <a:solidFill>
                  <a:srgbClr val="FFFFFF"/>
                </a:solidFill>
                <a:latin typeface="Aptos" pitchFamily="34" charset="0"/>
                <a:ea typeface="Aptos" pitchFamily="34" charset="-122"/>
                <a:cs typeface="Aptos" pitchFamily="34" charset="-120"/>
              </a:rPr>
              <a:t>GOAL</a:t>
            </a:r>
            <a:endParaRPr lang="en-US" sz="900" dirty="0"/>
          </a:p>
        </p:txBody>
      </p:sp>
      <p:sp>
        <p:nvSpPr>
          <p:cNvPr id="9" name="Shape 7"/>
          <p:cNvSpPr/>
          <p:nvPr/>
        </p:nvSpPr>
        <p:spPr>
          <a:xfrm>
            <a:off x="4809744" y="1746504"/>
            <a:ext cx="3264408" cy="438912"/>
          </a:xfrm>
          <a:prstGeom prst="rect">
            <a:avLst/>
          </a:prstGeom>
          <a:solidFill>
            <a:srgbClr val="163454"/>
          </a:solidFill>
          <a:ln w="10160">
            <a:solidFill>
              <a:srgbClr val="163454"/>
            </a:solidFill>
            <a:prstDash val="solid"/>
          </a:ln>
        </p:spPr>
      </p:sp>
      <p:sp>
        <p:nvSpPr>
          <p:cNvPr id="10" name="Text 8"/>
          <p:cNvSpPr txBox="1"/>
          <p:nvPr/>
        </p:nvSpPr>
        <p:spPr>
          <a:xfrm>
            <a:off x="4937760" y="1847088"/>
            <a:ext cx="3008376" cy="201168"/>
          </a:xfrm>
          <a:prstGeom prst="rect">
            <a:avLst/>
          </a:prstGeom>
          <a:noFill/>
          <a:ln/>
        </p:spPr>
        <p:txBody>
          <a:bodyPr wrap="square" lIns="0" tIns="0" rIns="0" bIns="0" rtlCol="0" anchor="ctr">
            <a:normAutofit/>
          </a:bodyPr>
          <a:lstStyle/>
          <a:p>
            <a:pPr algn="l" indent="0" marL="0">
              <a:buNone/>
            </a:pPr>
            <a:r>
              <a:rPr lang="en-US" sz="900" b="1" spc="50" kern="0" dirty="0">
                <a:solidFill>
                  <a:srgbClr val="FFFFFF"/>
                </a:solidFill>
                <a:latin typeface="Aptos" pitchFamily="34" charset="0"/>
                <a:ea typeface="Aptos" pitchFamily="34" charset="-122"/>
                <a:cs typeface="Aptos" pitchFamily="34" charset="-120"/>
              </a:rPr>
              <a:t>USEFUL INFORMATION</a:t>
            </a:r>
            <a:endParaRPr lang="en-US" sz="900" dirty="0"/>
          </a:p>
        </p:txBody>
      </p:sp>
      <p:sp>
        <p:nvSpPr>
          <p:cNvPr id="11" name="Shape 9"/>
          <p:cNvSpPr/>
          <p:nvPr/>
        </p:nvSpPr>
        <p:spPr>
          <a:xfrm>
            <a:off x="8257032" y="1746504"/>
            <a:ext cx="3364992" cy="438912"/>
          </a:xfrm>
          <a:prstGeom prst="rect">
            <a:avLst/>
          </a:prstGeom>
          <a:solidFill>
            <a:srgbClr val="163454"/>
          </a:solidFill>
          <a:ln w="10160">
            <a:solidFill>
              <a:srgbClr val="163454"/>
            </a:solidFill>
            <a:prstDash val="solid"/>
          </a:ln>
        </p:spPr>
      </p:sp>
      <p:sp>
        <p:nvSpPr>
          <p:cNvPr id="12" name="Text 10"/>
          <p:cNvSpPr txBox="1"/>
          <p:nvPr/>
        </p:nvSpPr>
        <p:spPr>
          <a:xfrm>
            <a:off x="8385048" y="1847088"/>
            <a:ext cx="3108960" cy="201168"/>
          </a:xfrm>
          <a:prstGeom prst="rect">
            <a:avLst/>
          </a:prstGeom>
          <a:noFill/>
          <a:ln/>
        </p:spPr>
        <p:txBody>
          <a:bodyPr wrap="square" lIns="0" tIns="0" rIns="0" bIns="0" rtlCol="0" anchor="ctr">
            <a:normAutofit/>
          </a:bodyPr>
          <a:lstStyle/>
          <a:p>
            <a:pPr algn="l" indent="0" marL="0">
              <a:buNone/>
            </a:pPr>
            <a:r>
              <a:rPr lang="en-US" sz="900" b="1" spc="50" kern="0" dirty="0">
                <a:solidFill>
                  <a:srgbClr val="FFFFFF"/>
                </a:solidFill>
                <a:latin typeface="Aptos" pitchFamily="34" charset="0"/>
                <a:ea typeface="Aptos" pitchFamily="34" charset="-122"/>
                <a:cs typeface="Aptos" pitchFamily="34" charset="-120"/>
              </a:rPr>
              <a:t>DECISION</a:t>
            </a:r>
            <a:endParaRPr lang="en-US" sz="900" dirty="0"/>
          </a:p>
        </p:txBody>
      </p:sp>
      <p:sp>
        <p:nvSpPr>
          <p:cNvPr id="13" name="Shape 11"/>
          <p:cNvSpPr/>
          <p:nvPr/>
        </p:nvSpPr>
        <p:spPr>
          <a:xfrm>
            <a:off x="640080" y="2249424"/>
            <a:ext cx="1554480" cy="768096"/>
          </a:xfrm>
          <a:prstGeom prst="rect">
            <a:avLst/>
          </a:prstGeom>
          <a:solidFill>
            <a:srgbClr val="FFFFFF"/>
          </a:solidFill>
          <a:ln w="10160">
            <a:solidFill>
              <a:srgbClr val="D8DEE7"/>
            </a:solidFill>
            <a:prstDash val="solid"/>
          </a:ln>
        </p:spPr>
      </p:sp>
      <p:sp>
        <p:nvSpPr>
          <p:cNvPr id="14" name="Shape 12"/>
          <p:cNvSpPr/>
          <p:nvPr/>
        </p:nvSpPr>
        <p:spPr>
          <a:xfrm>
            <a:off x="2340864" y="2249424"/>
            <a:ext cx="2304288" cy="768096"/>
          </a:xfrm>
          <a:prstGeom prst="rect">
            <a:avLst/>
          </a:prstGeom>
          <a:solidFill>
            <a:srgbClr val="FFFFFF"/>
          </a:solidFill>
          <a:ln w="10160">
            <a:solidFill>
              <a:srgbClr val="D8DEE7"/>
            </a:solidFill>
            <a:prstDash val="solid"/>
          </a:ln>
        </p:spPr>
      </p:sp>
      <p:sp>
        <p:nvSpPr>
          <p:cNvPr id="15" name="Shape 13"/>
          <p:cNvSpPr/>
          <p:nvPr/>
        </p:nvSpPr>
        <p:spPr>
          <a:xfrm>
            <a:off x="4809744" y="2249424"/>
            <a:ext cx="3264408" cy="768096"/>
          </a:xfrm>
          <a:prstGeom prst="rect">
            <a:avLst/>
          </a:prstGeom>
          <a:solidFill>
            <a:srgbClr val="FFFFFF"/>
          </a:solidFill>
          <a:ln w="10160">
            <a:solidFill>
              <a:srgbClr val="D8DEE7"/>
            </a:solidFill>
            <a:prstDash val="solid"/>
          </a:ln>
        </p:spPr>
      </p:sp>
      <p:sp>
        <p:nvSpPr>
          <p:cNvPr id="16" name="Shape 14"/>
          <p:cNvSpPr/>
          <p:nvPr/>
        </p:nvSpPr>
        <p:spPr>
          <a:xfrm>
            <a:off x="8257032" y="2249424"/>
            <a:ext cx="3364992" cy="768096"/>
          </a:xfrm>
          <a:prstGeom prst="rect">
            <a:avLst/>
          </a:prstGeom>
          <a:solidFill>
            <a:srgbClr val="FFFFFF"/>
          </a:solidFill>
          <a:ln w="10160">
            <a:solidFill>
              <a:srgbClr val="D8DEE7"/>
            </a:solidFill>
            <a:prstDash val="solid"/>
          </a:ln>
        </p:spPr>
      </p:sp>
      <p:sp>
        <p:nvSpPr>
          <p:cNvPr id="17" name="Text 15"/>
          <p:cNvSpPr txBox="1"/>
          <p:nvPr/>
        </p:nvSpPr>
        <p:spPr>
          <a:xfrm>
            <a:off x="777240" y="2414016"/>
            <a:ext cx="1280160" cy="365760"/>
          </a:xfrm>
          <a:prstGeom prst="rect">
            <a:avLst/>
          </a:prstGeom>
          <a:noFill/>
          <a:ln/>
        </p:spPr>
        <p:txBody>
          <a:bodyPr wrap="square" lIns="0" tIns="0" rIns="0" bIns="0" rtlCol="0" anchor="ctr">
            <a:normAutofit/>
          </a:bodyPr>
          <a:lstStyle/>
          <a:p>
            <a:pPr algn="l" indent="0" marL="0">
              <a:buNone/>
            </a:pPr>
            <a:r>
              <a:rPr lang="en-US" sz="980" b="1" dirty="0">
                <a:solidFill>
                  <a:srgbClr val="2D8A65"/>
                </a:solidFill>
                <a:latin typeface="Aptos" pitchFamily="34" charset="0"/>
                <a:ea typeface="Aptos" pitchFamily="34" charset="-122"/>
                <a:cs typeface="Aptos" pitchFamily="34" charset="-120"/>
              </a:rPr>
              <a:t>DEVELOPER</a:t>
            </a:r>
            <a:endParaRPr lang="en-US" sz="980" dirty="0"/>
          </a:p>
        </p:txBody>
      </p:sp>
      <p:sp>
        <p:nvSpPr>
          <p:cNvPr id="18" name="Text 16"/>
          <p:cNvSpPr txBox="1"/>
          <p:nvPr/>
        </p:nvSpPr>
        <p:spPr>
          <a:xfrm>
            <a:off x="2478024" y="2368296"/>
            <a:ext cx="2029968" cy="457200"/>
          </a:xfrm>
          <a:prstGeom prst="rect">
            <a:avLst/>
          </a:prstGeom>
          <a:noFill/>
          <a:ln/>
        </p:spPr>
        <p:txBody>
          <a:bodyPr wrap="square" lIns="0" tIns="0" rIns="0" bIns="0" rtlCol="0" anchor="ctr">
            <a:normAutofit/>
          </a:bodyPr>
          <a:lstStyle/>
          <a:p>
            <a:pPr algn="l" indent="0" marL="0">
              <a:buNone/>
            </a:pPr>
            <a:r>
              <a:rPr lang="en-US" sz="1260" b="1" dirty="0">
                <a:solidFill>
                  <a:srgbClr val="172033"/>
                </a:solidFill>
                <a:latin typeface="Aptos" pitchFamily="34" charset="0"/>
                <a:ea typeface="Aptos" pitchFamily="34" charset="-122"/>
                <a:cs typeface="Aptos" pitchFamily="34" charset="-120"/>
              </a:rPr>
              <a:t>Better day-to-day work</a:t>
            </a:r>
            <a:endParaRPr lang="en-US" sz="1260" dirty="0"/>
          </a:p>
        </p:txBody>
      </p:sp>
      <p:sp>
        <p:nvSpPr>
          <p:cNvPr id="19" name="Text 17"/>
          <p:cNvSpPr txBox="1"/>
          <p:nvPr/>
        </p:nvSpPr>
        <p:spPr>
          <a:xfrm>
            <a:off x="4946904" y="2340864"/>
            <a:ext cx="2990088" cy="548640"/>
          </a:xfrm>
          <a:prstGeom prst="rect">
            <a:avLst/>
          </a:prstGeom>
          <a:noFill/>
          <a:ln/>
        </p:spPr>
        <p:txBody>
          <a:bodyPr wrap="square" lIns="0" tIns="0" rIns="0" bIns="0" rtlCol="0" anchor="t">
            <a:normAutofit/>
          </a:bodyPr>
          <a:lstStyle/>
          <a:p>
            <a:pPr algn="l" indent="0" marL="0">
              <a:buNone/>
            </a:pPr>
            <a:r>
              <a:rPr lang="en-US" sz="1080" dirty="0">
                <a:solidFill>
                  <a:srgbClr val="667085"/>
                </a:solidFill>
                <a:latin typeface="Aptos" pitchFamily="34" charset="0"/>
                <a:ea typeface="Aptos" pitchFamily="34" charset="-122"/>
                <a:cs typeface="Aptos" pitchFamily="34" charset="-120"/>
              </a:rPr>
              <a:t>Less rework, easier review, fewer missing facts</a:t>
            </a:r>
            <a:endParaRPr lang="en-US" sz="1080" dirty="0"/>
          </a:p>
        </p:txBody>
      </p:sp>
      <p:sp>
        <p:nvSpPr>
          <p:cNvPr id="20" name="Text 18"/>
          <p:cNvSpPr txBox="1"/>
          <p:nvPr/>
        </p:nvSpPr>
        <p:spPr>
          <a:xfrm>
            <a:off x="8394192" y="2340864"/>
            <a:ext cx="3090672" cy="548640"/>
          </a:xfrm>
          <a:prstGeom prst="rect">
            <a:avLst/>
          </a:prstGeom>
          <a:noFill/>
          <a:ln/>
        </p:spPr>
        <p:txBody>
          <a:bodyPr wrap="square" lIns="0" tIns="0" rIns="0" bIns="0" rtlCol="0" anchor="t">
            <a:normAutofit/>
          </a:bodyPr>
          <a:lstStyle/>
          <a:p>
            <a:pPr algn="l" indent="0" marL="0">
              <a:buNone/>
            </a:pPr>
            <a:r>
              <a:rPr lang="en-US" sz="1080" dirty="0">
                <a:solidFill>
                  <a:srgbClr val="667085"/>
                </a:solidFill>
                <a:latin typeface="Aptos" pitchFamily="34" charset="0"/>
                <a:ea typeface="Aptos" pitchFamily="34" charset="-122"/>
                <a:cs typeface="Aptos" pitchFamily="34" charset="-120"/>
              </a:rPr>
              <a:t>Choose the workflow support that helps</a:t>
            </a:r>
            <a:endParaRPr lang="en-US" sz="1080" dirty="0"/>
          </a:p>
        </p:txBody>
      </p:sp>
      <p:sp>
        <p:nvSpPr>
          <p:cNvPr id="21" name="Shape 19"/>
          <p:cNvSpPr/>
          <p:nvPr/>
        </p:nvSpPr>
        <p:spPr>
          <a:xfrm>
            <a:off x="640080" y="3090672"/>
            <a:ext cx="1554480" cy="768096"/>
          </a:xfrm>
          <a:prstGeom prst="rect">
            <a:avLst/>
          </a:prstGeom>
          <a:solidFill>
            <a:srgbClr val="EDF3F8"/>
          </a:solidFill>
          <a:ln w="10160">
            <a:solidFill>
              <a:srgbClr val="D8DEE7"/>
            </a:solidFill>
            <a:prstDash val="solid"/>
          </a:ln>
        </p:spPr>
      </p:sp>
      <p:sp>
        <p:nvSpPr>
          <p:cNvPr id="22" name="Shape 20"/>
          <p:cNvSpPr/>
          <p:nvPr/>
        </p:nvSpPr>
        <p:spPr>
          <a:xfrm>
            <a:off x="2340864" y="3090672"/>
            <a:ext cx="2304288" cy="768096"/>
          </a:xfrm>
          <a:prstGeom prst="rect">
            <a:avLst/>
          </a:prstGeom>
          <a:solidFill>
            <a:srgbClr val="EDF3F8"/>
          </a:solidFill>
          <a:ln w="10160">
            <a:solidFill>
              <a:srgbClr val="D8DEE7"/>
            </a:solidFill>
            <a:prstDash val="solid"/>
          </a:ln>
        </p:spPr>
      </p:sp>
      <p:sp>
        <p:nvSpPr>
          <p:cNvPr id="23" name="Shape 21"/>
          <p:cNvSpPr/>
          <p:nvPr/>
        </p:nvSpPr>
        <p:spPr>
          <a:xfrm>
            <a:off x="4809744" y="3090672"/>
            <a:ext cx="3264408" cy="768096"/>
          </a:xfrm>
          <a:prstGeom prst="rect">
            <a:avLst/>
          </a:prstGeom>
          <a:solidFill>
            <a:srgbClr val="EDF3F8"/>
          </a:solidFill>
          <a:ln w="10160">
            <a:solidFill>
              <a:srgbClr val="D8DEE7"/>
            </a:solidFill>
            <a:prstDash val="solid"/>
          </a:ln>
        </p:spPr>
      </p:sp>
      <p:sp>
        <p:nvSpPr>
          <p:cNvPr id="24" name="Shape 22"/>
          <p:cNvSpPr/>
          <p:nvPr/>
        </p:nvSpPr>
        <p:spPr>
          <a:xfrm>
            <a:off x="8257032" y="3090672"/>
            <a:ext cx="3364992" cy="768096"/>
          </a:xfrm>
          <a:prstGeom prst="rect">
            <a:avLst/>
          </a:prstGeom>
          <a:solidFill>
            <a:srgbClr val="EDF3F8"/>
          </a:solidFill>
          <a:ln w="10160">
            <a:solidFill>
              <a:srgbClr val="D8DEE7"/>
            </a:solidFill>
            <a:prstDash val="solid"/>
          </a:ln>
        </p:spPr>
      </p:sp>
      <p:sp>
        <p:nvSpPr>
          <p:cNvPr id="25" name="Text 23"/>
          <p:cNvSpPr txBox="1"/>
          <p:nvPr/>
        </p:nvSpPr>
        <p:spPr>
          <a:xfrm>
            <a:off x="777240" y="3255264"/>
            <a:ext cx="1280160" cy="365760"/>
          </a:xfrm>
          <a:prstGeom prst="rect">
            <a:avLst/>
          </a:prstGeom>
          <a:noFill/>
          <a:ln/>
        </p:spPr>
        <p:txBody>
          <a:bodyPr wrap="square" lIns="0" tIns="0" rIns="0" bIns="0" rtlCol="0" anchor="ctr">
            <a:normAutofit/>
          </a:bodyPr>
          <a:lstStyle/>
          <a:p>
            <a:pPr algn="l" indent="0" marL="0">
              <a:buNone/>
            </a:pPr>
            <a:r>
              <a:rPr lang="en-US" sz="980" b="1" dirty="0">
                <a:solidFill>
                  <a:srgbClr val="007F80"/>
                </a:solidFill>
                <a:latin typeface="Aptos" pitchFamily="34" charset="0"/>
                <a:ea typeface="Aptos" pitchFamily="34" charset="-122"/>
                <a:cs typeface="Aptos" pitchFamily="34" charset="-120"/>
              </a:rPr>
              <a:t>DELIVERY LEADS</a:t>
            </a:r>
            <a:endParaRPr lang="en-US" sz="980" dirty="0"/>
          </a:p>
        </p:txBody>
      </p:sp>
      <p:sp>
        <p:nvSpPr>
          <p:cNvPr id="26" name="Text 24"/>
          <p:cNvSpPr txBox="1"/>
          <p:nvPr/>
        </p:nvSpPr>
        <p:spPr>
          <a:xfrm>
            <a:off x="2478024" y="3209544"/>
            <a:ext cx="2029968" cy="457200"/>
          </a:xfrm>
          <a:prstGeom prst="rect">
            <a:avLst/>
          </a:prstGeom>
          <a:noFill/>
          <a:ln/>
        </p:spPr>
        <p:txBody>
          <a:bodyPr wrap="square" lIns="0" tIns="0" rIns="0" bIns="0" rtlCol="0" anchor="ctr">
            <a:normAutofit/>
          </a:bodyPr>
          <a:lstStyle/>
          <a:p>
            <a:pPr algn="l" indent="0" marL="0">
              <a:buNone/>
            </a:pPr>
            <a:r>
              <a:rPr lang="en-US" sz="1260" b="1" dirty="0">
                <a:solidFill>
                  <a:srgbClr val="172033"/>
                </a:solidFill>
                <a:latin typeface="Aptos" pitchFamily="34" charset="0"/>
                <a:ea typeface="Aptos" pitchFamily="34" charset="-122"/>
                <a:cs typeface="Aptos" pitchFamily="34" charset="-120"/>
              </a:rPr>
              <a:t>More consistent delivery</a:t>
            </a:r>
            <a:endParaRPr lang="en-US" sz="1260" dirty="0"/>
          </a:p>
        </p:txBody>
      </p:sp>
      <p:sp>
        <p:nvSpPr>
          <p:cNvPr id="27" name="Text 25"/>
          <p:cNvSpPr txBox="1"/>
          <p:nvPr/>
        </p:nvSpPr>
        <p:spPr>
          <a:xfrm>
            <a:off x="4946904" y="3182112"/>
            <a:ext cx="2990088" cy="548640"/>
          </a:xfrm>
          <a:prstGeom prst="rect">
            <a:avLst/>
          </a:prstGeom>
          <a:noFill/>
          <a:ln/>
        </p:spPr>
        <p:txBody>
          <a:bodyPr wrap="square" lIns="0" tIns="0" rIns="0" bIns="0" rtlCol="0" anchor="t">
            <a:normAutofit/>
          </a:bodyPr>
          <a:lstStyle/>
          <a:p>
            <a:pPr algn="l" indent="0" marL="0">
              <a:buNone/>
            </a:pPr>
            <a:r>
              <a:rPr lang="en-US" sz="1080" dirty="0">
                <a:solidFill>
                  <a:srgbClr val="667085"/>
                </a:solidFill>
                <a:latin typeface="Aptos" pitchFamily="34" charset="0"/>
                <a:ea typeface="Aptos" pitchFamily="34" charset="-122"/>
                <a:cs typeface="Aptos" pitchFamily="34" charset="-120"/>
              </a:rPr>
              <a:t>Shared gaps, handoff friction and rework patterns</a:t>
            </a:r>
            <a:endParaRPr lang="en-US" sz="1080" dirty="0"/>
          </a:p>
        </p:txBody>
      </p:sp>
      <p:sp>
        <p:nvSpPr>
          <p:cNvPr id="28" name="Text 26"/>
          <p:cNvSpPr txBox="1"/>
          <p:nvPr/>
        </p:nvSpPr>
        <p:spPr>
          <a:xfrm>
            <a:off x="8394192" y="3182112"/>
            <a:ext cx="3090672" cy="548640"/>
          </a:xfrm>
          <a:prstGeom prst="rect">
            <a:avLst/>
          </a:prstGeom>
          <a:noFill/>
          <a:ln/>
        </p:spPr>
        <p:txBody>
          <a:bodyPr wrap="square" lIns="0" tIns="0" rIns="0" bIns="0" rtlCol="0" anchor="t">
            <a:normAutofit/>
          </a:bodyPr>
          <a:lstStyle/>
          <a:p>
            <a:pPr algn="l" indent="0" marL="0">
              <a:buNone/>
            </a:pPr>
            <a:r>
              <a:rPr lang="en-US" sz="1080" dirty="0">
                <a:solidFill>
                  <a:srgbClr val="667085"/>
                </a:solidFill>
                <a:latin typeface="Aptos" pitchFamily="34" charset="0"/>
                <a:ea typeface="Aptos" pitchFamily="34" charset="-122"/>
                <a:cs typeface="Aptos" pitchFamily="34" charset="-120"/>
              </a:rPr>
              <a:t>Improve shared knowledge and practice</a:t>
            </a:r>
            <a:endParaRPr lang="en-US" sz="1080" dirty="0"/>
          </a:p>
        </p:txBody>
      </p:sp>
      <p:sp>
        <p:nvSpPr>
          <p:cNvPr id="29" name="Shape 27"/>
          <p:cNvSpPr/>
          <p:nvPr/>
        </p:nvSpPr>
        <p:spPr>
          <a:xfrm>
            <a:off x="640080" y="3931920"/>
            <a:ext cx="1554480" cy="768096"/>
          </a:xfrm>
          <a:prstGeom prst="rect">
            <a:avLst/>
          </a:prstGeom>
          <a:solidFill>
            <a:srgbClr val="FFFFFF"/>
          </a:solidFill>
          <a:ln w="10160">
            <a:solidFill>
              <a:srgbClr val="D8DEE7"/>
            </a:solidFill>
            <a:prstDash val="solid"/>
          </a:ln>
        </p:spPr>
      </p:sp>
      <p:sp>
        <p:nvSpPr>
          <p:cNvPr id="30" name="Shape 28"/>
          <p:cNvSpPr/>
          <p:nvPr/>
        </p:nvSpPr>
        <p:spPr>
          <a:xfrm>
            <a:off x="2340864" y="3931920"/>
            <a:ext cx="2304288" cy="768096"/>
          </a:xfrm>
          <a:prstGeom prst="rect">
            <a:avLst/>
          </a:prstGeom>
          <a:solidFill>
            <a:srgbClr val="FFFFFF"/>
          </a:solidFill>
          <a:ln w="10160">
            <a:solidFill>
              <a:srgbClr val="D8DEE7"/>
            </a:solidFill>
            <a:prstDash val="solid"/>
          </a:ln>
        </p:spPr>
      </p:sp>
      <p:sp>
        <p:nvSpPr>
          <p:cNvPr id="31" name="Shape 29"/>
          <p:cNvSpPr/>
          <p:nvPr/>
        </p:nvSpPr>
        <p:spPr>
          <a:xfrm>
            <a:off x="4809744" y="3931920"/>
            <a:ext cx="3264408" cy="768096"/>
          </a:xfrm>
          <a:prstGeom prst="rect">
            <a:avLst/>
          </a:prstGeom>
          <a:solidFill>
            <a:srgbClr val="FFFFFF"/>
          </a:solidFill>
          <a:ln w="10160">
            <a:solidFill>
              <a:srgbClr val="D8DEE7"/>
            </a:solidFill>
            <a:prstDash val="solid"/>
          </a:ln>
        </p:spPr>
      </p:sp>
      <p:sp>
        <p:nvSpPr>
          <p:cNvPr id="32" name="Shape 30"/>
          <p:cNvSpPr/>
          <p:nvPr/>
        </p:nvSpPr>
        <p:spPr>
          <a:xfrm>
            <a:off x="8257032" y="3931920"/>
            <a:ext cx="3364992" cy="768096"/>
          </a:xfrm>
          <a:prstGeom prst="rect">
            <a:avLst/>
          </a:prstGeom>
          <a:solidFill>
            <a:srgbClr val="FFFFFF"/>
          </a:solidFill>
          <a:ln w="10160">
            <a:solidFill>
              <a:srgbClr val="D8DEE7"/>
            </a:solidFill>
            <a:prstDash val="solid"/>
          </a:ln>
        </p:spPr>
      </p:sp>
      <p:sp>
        <p:nvSpPr>
          <p:cNvPr id="33" name="Text 31"/>
          <p:cNvSpPr txBox="1"/>
          <p:nvPr/>
        </p:nvSpPr>
        <p:spPr>
          <a:xfrm>
            <a:off x="777240" y="4096512"/>
            <a:ext cx="1280160" cy="365760"/>
          </a:xfrm>
          <a:prstGeom prst="rect">
            <a:avLst/>
          </a:prstGeom>
          <a:noFill/>
          <a:ln/>
        </p:spPr>
        <p:txBody>
          <a:bodyPr wrap="square" lIns="0" tIns="0" rIns="0" bIns="0" rtlCol="0" anchor="ctr">
            <a:normAutofit/>
          </a:bodyPr>
          <a:lstStyle/>
          <a:p>
            <a:pPr algn="l" indent="0" marL="0">
              <a:buNone/>
            </a:pPr>
            <a:r>
              <a:rPr lang="en-US" sz="980" b="1" dirty="0">
                <a:solidFill>
                  <a:srgbClr val="D9952A"/>
                </a:solidFill>
                <a:latin typeface="Aptos" pitchFamily="34" charset="0"/>
                <a:ea typeface="Aptos" pitchFamily="34" charset="-122"/>
                <a:cs typeface="Aptos" pitchFamily="34" charset="-120"/>
              </a:rPr>
              <a:t>DELIVERY OPERATIONS</a:t>
            </a:r>
            <a:endParaRPr lang="en-US" sz="980" dirty="0"/>
          </a:p>
        </p:txBody>
      </p:sp>
      <p:sp>
        <p:nvSpPr>
          <p:cNvPr id="34" name="Text 32"/>
          <p:cNvSpPr txBox="1"/>
          <p:nvPr/>
        </p:nvSpPr>
        <p:spPr>
          <a:xfrm>
            <a:off x="2478024" y="4050792"/>
            <a:ext cx="2029968" cy="457200"/>
          </a:xfrm>
          <a:prstGeom prst="rect">
            <a:avLst/>
          </a:prstGeom>
          <a:noFill/>
          <a:ln/>
        </p:spPr>
        <p:txBody>
          <a:bodyPr wrap="square" lIns="0" tIns="0" rIns="0" bIns="0" rtlCol="0" anchor="ctr">
            <a:normAutofit/>
          </a:bodyPr>
          <a:lstStyle/>
          <a:p>
            <a:pPr algn="l" indent="0" marL="0">
              <a:buNone/>
            </a:pPr>
            <a:r>
              <a:rPr lang="en-US" sz="1260" b="1" dirty="0">
                <a:solidFill>
                  <a:srgbClr val="172033"/>
                </a:solidFill>
                <a:latin typeface="Aptos" pitchFamily="34" charset="0"/>
                <a:ea typeface="Aptos" pitchFamily="34" charset="-122"/>
                <a:cs typeface="Aptos" pitchFamily="34" charset="-120"/>
              </a:rPr>
              <a:t>Smoother delivery flow</a:t>
            </a:r>
            <a:endParaRPr lang="en-US" sz="1260" dirty="0"/>
          </a:p>
        </p:txBody>
      </p:sp>
      <p:sp>
        <p:nvSpPr>
          <p:cNvPr id="35" name="Text 33"/>
          <p:cNvSpPr txBox="1"/>
          <p:nvPr/>
        </p:nvSpPr>
        <p:spPr>
          <a:xfrm>
            <a:off x="4946904" y="4023360"/>
            <a:ext cx="2990088" cy="548640"/>
          </a:xfrm>
          <a:prstGeom prst="rect">
            <a:avLst/>
          </a:prstGeom>
          <a:noFill/>
          <a:ln/>
        </p:spPr>
        <p:txBody>
          <a:bodyPr wrap="square" lIns="0" tIns="0" rIns="0" bIns="0" rtlCol="0" anchor="t">
            <a:normAutofit/>
          </a:bodyPr>
          <a:lstStyle/>
          <a:p>
            <a:pPr algn="l" indent="0" marL="0">
              <a:buNone/>
            </a:pPr>
            <a:r>
              <a:rPr lang="en-US" sz="1080" dirty="0">
                <a:solidFill>
                  <a:srgbClr val="667085"/>
                </a:solidFill>
                <a:latin typeface="Aptos" pitchFamily="34" charset="0"/>
                <a:ea typeface="Aptos" pitchFamily="34" charset="-122"/>
                <a:cs typeface="Aptos" pitchFamily="34" charset="-120"/>
              </a:rPr>
              <a:t>Delays, fallback use and AI-limit adherence</a:t>
            </a:r>
            <a:endParaRPr lang="en-US" sz="1080" dirty="0"/>
          </a:p>
        </p:txBody>
      </p:sp>
      <p:sp>
        <p:nvSpPr>
          <p:cNvPr id="36" name="Text 34"/>
          <p:cNvSpPr txBox="1"/>
          <p:nvPr/>
        </p:nvSpPr>
        <p:spPr>
          <a:xfrm>
            <a:off x="8394192" y="4023360"/>
            <a:ext cx="3090672" cy="548640"/>
          </a:xfrm>
          <a:prstGeom prst="rect">
            <a:avLst/>
          </a:prstGeom>
          <a:noFill/>
          <a:ln/>
        </p:spPr>
        <p:txBody>
          <a:bodyPr wrap="square" lIns="0" tIns="0" rIns="0" bIns="0" rtlCol="0" anchor="t">
            <a:normAutofit/>
          </a:bodyPr>
          <a:lstStyle/>
          <a:p>
            <a:pPr algn="l" indent="0" marL="0">
              <a:buNone/>
            </a:pPr>
            <a:r>
              <a:rPr lang="en-US" sz="1080" dirty="0">
                <a:solidFill>
                  <a:srgbClr val="667085"/>
                </a:solidFill>
                <a:latin typeface="Aptos" pitchFamily="34" charset="0"/>
                <a:ea typeface="Aptos" pitchFamily="34" charset="-122"/>
                <a:cs typeface="Aptos" pitchFamily="34" charset="-120"/>
              </a:rPr>
              <a:t>Prioritize process and platform fixes</a:t>
            </a:r>
            <a:endParaRPr lang="en-US" sz="1080" dirty="0"/>
          </a:p>
        </p:txBody>
      </p:sp>
      <p:sp>
        <p:nvSpPr>
          <p:cNvPr id="37" name="Shape 35"/>
          <p:cNvSpPr/>
          <p:nvPr/>
        </p:nvSpPr>
        <p:spPr>
          <a:xfrm>
            <a:off x="640080" y="4773168"/>
            <a:ext cx="1554480" cy="768096"/>
          </a:xfrm>
          <a:prstGeom prst="rect">
            <a:avLst/>
          </a:prstGeom>
          <a:solidFill>
            <a:srgbClr val="EDF3F8"/>
          </a:solidFill>
          <a:ln w="10160">
            <a:solidFill>
              <a:srgbClr val="D8DEE7"/>
            </a:solidFill>
            <a:prstDash val="solid"/>
          </a:ln>
        </p:spPr>
      </p:sp>
      <p:sp>
        <p:nvSpPr>
          <p:cNvPr id="38" name="Shape 36"/>
          <p:cNvSpPr/>
          <p:nvPr/>
        </p:nvSpPr>
        <p:spPr>
          <a:xfrm>
            <a:off x="2340864" y="4773168"/>
            <a:ext cx="2304288" cy="768096"/>
          </a:xfrm>
          <a:prstGeom prst="rect">
            <a:avLst/>
          </a:prstGeom>
          <a:solidFill>
            <a:srgbClr val="EDF3F8"/>
          </a:solidFill>
          <a:ln w="10160">
            <a:solidFill>
              <a:srgbClr val="D8DEE7"/>
            </a:solidFill>
            <a:prstDash val="solid"/>
          </a:ln>
        </p:spPr>
      </p:sp>
      <p:sp>
        <p:nvSpPr>
          <p:cNvPr id="39" name="Shape 37"/>
          <p:cNvSpPr/>
          <p:nvPr/>
        </p:nvSpPr>
        <p:spPr>
          <a:xfrm>
            <a:off x="4809744" y="4773168"/>
            <a:ext cx="3264408" cy="768096"/>
          </a:xfrm>
          <a:prstGeom prst="rect">
            <a:avLst/>
          </a:prstGeom>
          <a:solidFill>
            <a:srgbClr val="EDF3F8"/>
          </a:solidFill>
          <a:ln w="10160">
            <a:solidFill>
              <a:srgbClr val="D8DEE7"/>
            </a:solidFill>
            <a:prstDash val="solid"/>
          </a:ln>
        </p:spPr>
      </p:sp>
      <p:sp>
        <p:nvSpPr>
          <p:cNvPr id="40" name="Shape 38"/>
          <p:cNvSpPr/>
          <p:nvPr/>
        </p:nvSpPr>
        <p:spPr>
          <a:xfrm>
            <a:off x="8257032" y="4773168"/>
            <a:ext cx="3364992" cy="768096"/>
          </a:xfrm>
          <a:prstGeom prst="rect">
            <a:avLst/>
          </a:prstGeom>
          <a:solidFill>
            <a:srgbClr val="EDF3F8"/>
          </a:solidFill>
          <a:ln w="10160">
            <a:solidFill>
              <a:srgbClr val="D8DEE7"/>
            </a:solidFill>
            <a:prstDash val="solid"/>
          </a:ln>
        </p:spPr>
      </p:sp>
      <p:sp>
        <p:nvSpPr>
          <p:cNvPr id="41" name="Text 39"/>
          <p:cNvSpPr txBox="1"/>
          <p:nvPr/>
        </p:nvSpPr>
        <p:spPr>
          <a:xfrm>
            <a:off x="777240" y="4937760"/>
            <a:ext cx="1280160" cy="365760"/>
          </a:xfrm>
          <a:prstGeom prst="rect">
            <a:avLst/>
          </a:prstGeom>
          <a:noFill/>
          <a:ln/>
        </p:spPr>
        <p:txBody>
          <a:bodyPr wrap="square" lIns="0" tIns="0" rIns="0" bIns="0" rtlCol="0" anchor="ctr">
            <a:normAutofit/>
          </a:bodyPr>
          <a:lstStyle/>
          <a:p>
            <a:pPr algn="l" indent="0" marL="0">
              <a:buNone/>
            </a:pPr>
            <a:r>
              <a:rPr lang="en-US" sz="980" b="1" dirty="0">
                <a:solidFill>
                  <a:srgbClr val="163454"/>
                </a:solidFill>
                <a:latin typeface="Aptos" pitchFamily="34" charset="0"/>
                <a:ea typeface="Aptos" pitchFamily="34" charset="-122"/>
                <a:cs typeface="Aptos" pitchFamily="34" charset="-120"/>
              </a:rPr>
              <a:t>MANAGEMENT / AI CENTER OF EXCELLENCE</a:t>
            </a:r>
            <a:endParaRPr lang="en-US" sz="980" dirty="0"/>
          </a:p>
        </p:txBody>
      </p:sp>
      <p:sp>
        <p:nvSpPr>
          <p:cNvPr id="42" name="Text 40"/>
          <p:cNvSpPr txBox="1"/>
          <p:nvPr/>
        </p:nvSpPr>
        <p:spPr>
          <a:xfrm>
            <a:off x="2478024" y="4892040"/>
            <a:ext cx="2029968" cy="457200"/>
          </a:xfrm>
          <a:prstGeom prst="rect">
            <a:avLst/>
          </a:prstGeom>
          <a:noFill/>
          <a:ln/>
        </p:spPr>
        <p:txBody>
          <a:bodyPr wrap="square" lIns="0" tIns="0" rIns="0" bIns="0" rtlCol="0" anchor="ctr">
            <a:normAutofit/>
          </a:bodyPr>
          <a:lstStyle/>
          <a:p>
            <a:pPr algn="l" indent="0" marL="0">
              <a:buNone/>
            </a:pPr>
            <a:r>
              <a:rPr lang="en-US" sz="1260" b="1" dirty="0">
                <a:solidFill>
                  <a:srgbClr val="172033"/>
                </a:solidFill>
                <a:latin typeface="Aptos" pitchFamily="34" charset="0"/>
                <a:ea typeface="Aptos" pitchFamily="34" charset="-122"/>
                <a:cs typeface="Aptos" pitchFamily="34" charset="-120"/>
              </a:rPr>
              <a:t>Responsible adoption at scale</a:t>
            </a:r>
            <a:endParaRPr lang="en-US" sz="1260" dirty="0"/>
          </a:p>
        </p:txBody>
      </p:sp>
      <p:sp>
        <p:nvSpPr>
          <p:cNvPr id="43" name="Text 41"/>
          <p:cNvSpPr txBox="1"/>
          <p:nvPr/>
        </p:nvSpPr>
        <p:spPr>
          <a:xfrm>
            <a:off x="4946904" y="4864608"/>
            <a:ext cx="2990088" cy="548640"/>
          </a:xfrm>
          <a:prstGeom prst="rect">
            <a:avLst/>
          </a:prstGeom>
          <a:noFill/>
          <a:ln/>
        </p:spPr>
        <p:txBody>
          <a:bodyPr wrap="square" lIns="0" tIns="0" rIns="0" bIns="0" rtlCol="0" anchor="t">
            <a:normAutofit/>
          </a:bodyPr>
          <a:lstStyle/>
          <a:p>
            <a:pPr algn="l" indent="0" marL="0">
              <a:buNone/>
            </a:pPr>
            <a:r>
              <a:rPr lang="en-US" sz="1080" dirty="0">
                <a:solidFill>
                  <a:srgbClr val="667085"/>
                </a:solidFill>
                <a:latin typeface="Aptos" pitchFamily="34" charset="0"/>
                <a:ea typeface="Aptos" pitchFamily="34" charset="-122"/>
                <a:cs typeface="Aptos" pitchFamily="34" charset="-120"/>
              </a:rPr>
              <a:t>Useful adoption, training needs and overall capacity</a:t>
            </a:r>
            <a:endParaRPr lang="en-US" sz="1080" dirty="0"/>
          </a:p>
        </p:txBody>
      </p:sp>
      <p:sp>
        <p:nvSpPr>
          <p:cNvPr id="44" name="Text 42"/>
          <p:cNvSpPr txBox="1"/>
          <p:nvPr/>
        </p:nvSpPr>
        <p:spPr>
          <a:xfrm>
            <a:off x="8394192" y="4864608"/>
            <a:ext cx="3090672" cy="548640"/>
          </a:xfrm>
          <a:prstGeom prst="rect">
            <a:avLst/>
          </a:prstGeom>
          <a:noFill/>
          <a:ln/>
        </p:spPr>
        <p:txBody>
          <a:bodyPr wrap="square" lIns="0" tIns="0" rIns="0" bIns="0" rtlCol="0" anchor="t">
            <a:normAutofit/>
          </a:bodyPr>
          <a:lstStyle/>
          <a:p>
            <a:pPr algn="l" indent="0" marL="0">
              <a:buNone/>
            </a:pPr>
            <a:r>
              <a:rPr lang="en-US" sz="1080" dirty="0">
                <a:solidFill>
                  <a:srgbClr val="667085"/>
                </a:solidFill>
                <a:latin typeface="Aptos" pitchFamily="34" charset="0"/>
                <a:ea typeface="Aptos" pitchFamily="34" charset="-122"/>
                <a:cs typeface="Aptos" pitchFamily="34" charset="-120"/>
              </a:rPr>
              <a:t>Invest, expand, constrain or stop</a:t>
            </a:r>
            <a:endParaRPr lang="en-US" sz="1080" dirty="0"/>
          </a:p>
        </p:txBody>
      </p:sp>
      <p:sp>
        <p:nvSpPr>
          <p:cNvPr id="45" name="Shape 43"/>
          <p:cNvSpPr/>
          <p:nvPr/>
        </p:nvSpPr>
        <p:spPr>
          <a:xfrm>
            <a:off x="640080" y="5733288"/>
            <a:ext cx="10972800" cy="502920"/>
          </a:xfrm>
          <a:prstGeom prst="roundRect">
            <a:avLst>
              <a:gd name="adj" fmla="val 14545"/>
            </a:avLst>
          </a:prstGeom>
          <a:solidFill>
            <a:srgbClr val="FFF3DE"/>
          </a:solidFill>
          <a:ln w="10160">
            <a:solidFill>
              <a:srgbClr val="F0D39D"/>
            </a:solidFill>
            <a:prstDash val="solid"/>
          </a:ln>
        </p:spPr>
      </p:sp>
      <p:sp>
        <p:nvSpPr>
          <p:cNvPr id="46" name="Text 44"/>
          <p:cNvSpPr txBox="1"/>
          <p:nvPr/>
        </p:nvSpPr>
        <p:spPr>
          <a:xfrm>
            <a:off x="896112" y="5861304"/>
            <a:ext cx="1033272" cy="219456"/>
          </a:xfrm>
          <a:prstGeom prst="rect">
            <a:avLst/>
          </a:prstGeom>
          <a:noFill/>
          <a:ln/>
        </p:spPr>
        <p:txBody>
          <a:bodyPr wrap="square" lIns="0" tIns="0" rIns="0" bIns="0" rtlCol="0" anchor="ctr">
            <a:normAutofit/>
          </a:bodyPr>
          <a:lstStyle/>
          <a:p>
            <a:pPr algn="l" indent="0" marL="0">
              <a:buNone/>
            </a:pPr>
            <a:r>
              <a:rPr lang="en-US" sz="1150" b="1" dirty="0">
                <a:solidFill>
                  <a:srgbClr val="82530D"/>
                </a:solidFill>
                <a:latin typeface="Aptos" pitchFamily="34" charset="0"/>
                <a:ea typeface="Aptos" pitchFamily="34" charset="-122"/>
                <a:cs typeface="Aptos" pitchFamily="34" charset="-120"/>
              </a:rPr>
              <a:t>Reporting rule</a:t>
            </a:r>
            <a:endParaRPr lang="en-US" sz="1150" dirty="0"/>
          </a:p>
        </p:txBody>
      </p:sp>
      <p:sp>
        <p:nvSpPr>
          <p:cNvPr id="47" name="Text 45"/>
          <p:cNvSpPr txBox="1"/>
          <p:nvPr/>
        </p:nvSpPr>
        <p:spPr>
          <a:xfrm>
            <a:off x="2011680" y="5824728"/>
            <a:ext cx="9235440" cy="283464"/>
          </a:xfrm>
          <a:prstGeom prst="rect">
            <a:avLst/>
          </a:prstGeom>
          <a:noFill/>
          <a:ln/>
        </p:spPr>
        <p:txBody>
          <a:bodyPr wrap="square" lIns="0" tIns="0" rIns="0" bIns="0" rtlCol="0" anchor="ctr">
            <a:normAutofit/>
          </a:bodyPr>
          <a:lstStyle/>
          <a:p>
            <a:pPr algn="ctr" indent="0" marL="0">
              <a:buNone/>
            </a:pPr>
            <a:r>
              <a:rPr lang="en-US" sz="1190" b="1" dirty="0">
                <a:solidFill>
                  <a:srgbClr val="163454"/>
                </a:solidFill>
                <a:latin typeface="Aptos" pitchFamily="34" charset="0"/>
                <a:ea typeface="Aptos" pitchFamily="34" charset="-122"/>
                <a:cs typeface="Aptos" pitchFamily="34" charset="-120"/>
              </a:rPr>
              <a:t>Report by workflow or group. Never copy prompts, code or project content, rank people, or use feedback for performance scoring.</a:t>
            </a:r>
            <a:endParaRPr lang="en-US" sz="1190" dirty="0"/>
          </a:p>
        </p:txBody>
      </p:sp>
      <p:sp>
        <p:nvSpPr>
          <p:cNvPr id="25" name="Slide Number Placeholder 0"/>
          <p:cNvSpPr>
            <a:spLocks noGrp="1"/>
          </p:cNvSpPr>
          <p:nvPr>
            <p:ph type="sldNum" sz="quarter" idx="4294967295"/>
          </p:nvPr>
        </p:nvSpPr>
        <p:spPr>
          <a:xfrm>
            <a:off x="11658600" y="6492240"/>
            <a:ext cx="800000" cy="300000"/>
          </a:xfrm>
          <a:prstGeom prst="rect">
            <a:avLst/>
          </a:prstGeom>
          <a:extLst>
            <a:ext uri="{C572A759-6A51-4108-AA02-DFA0A04FC94B}">
              <ma14:wrappingTextBoxFlag xmlns:ma14="http://schemas.microsoft.com/office/mac/drawingml/2011/main" val="0"/>
            </a:ext>
          </a:extLst>
        </p:spPr>
        <p:txBody>
          <a:bodyPr/>
          <a:lstStyle>
            <a:lvl1pPr>
              <a:defRPr sz="780">
                <a:solidFill>
                  <a:srgbClr val="667085"/>
                </a:solidFill>
                <a:latin typeface="Aptos"/>
                <a:ea typeface="Aptos"/>
                <a:cs typeface="Aptos"/>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603504" y="310896"/>
            <a:ext cx="5120640" cy="219456"/>
          </a:xfrm>
          <a:prstGeom prst="rect">
            <a:avLst/>
          </a:prstGeom>
          <a:noFill/>
          <a:ln/>
        </p:spPr>
        <p:txBody>
          <a:bodyPr wrap="square" lIns="0" tIns="0" rIns="0" bIns="0" rtlCol="0" anchor="ctr">
            <a:normAutofit/>
          </a:bodyPr>
          <a:lstStyle/>
          <a:p>
            <a:pPr algn="l" indent="0" marL="0">
              <a:buNone/>
            </a:pPr>
            <a:r>
              <a:rPr lang="en-US" sz="950" b="1" spc="120" kern="0" dirty="0">
                <a:solidFill>
                  <a:srgbClr val="007F80"/>
                </a:solidFill>
                <a:latin typeface="Aptos" pitchFamily="34" charset="0"/>
                <a:ea typeface="Aptos" pitchFamily="34" charset="-122"/>
                <a:cs typeface="Aptos" pitchFamily="34" charset="-120"/>
              </a:rPr>
              <a:t>A PRACTICAL DECISION PATH</a:t>
            </a:r>
            <a:endParaRPr lang="en-US" sz="950" dirty="0"/>
          </a:p>
        </p:txBody>
      </p:sp>
      <p:sp>
        <p:nvSpPr>
          <p:cNvPr id="3" name="Text 1"/>
          <p:cNvSpPr txBox="1"/>
          <p:nvPr/>
        </p:nvSpPr>
        <p:spPr>
          <a:xfrm>
            <a:off x="603504" y="603504"/>
            <a:ext cx="10972800" cy="548640"/>
          </a:xfrm>
          <a:prstGeom prst="rect">
            <a:avLst/>
          </a:prstGeom>
          <a:noFill/>
          <a:ln/>
        </p:spPr>
        <p:txBody>
          <a:bodyPr wrap="square" lIns="0" tIns="0" rIns="0" bIns="0" rtlCol="0" anchor="ctr">
            <a:normAutofit/>
          </a:bodyPr>
          <a:lstStyle/>
          <a:p>
            <a:pPr algn="l" indent="0" marL="0">
              <a:buNone/>
            </a:pPr>
            <a:r>
              <a:rPr lang="en-US" sz="2750" b="1" dirty="0">
                <a:solidFill>
                  <a:srgbClr val="172033"/>
                </a:solidFill>
                <a:latin typeface="Aptos" pitchFamily="34" charset="0"/>
                <a:ea typeface="Aptos" pitchFamily="34" charset="-122"/>
                <a:cs typeface="Aptos" pitchFamily="34" charset="-120"/>
              </a:rPr>
              <a:t>Audit authority before scaling</a:t>
            </a:r>
            <a:endParaRPr lang="en-US" sz="2750" dirty="0"/>
          </a:p>
        </p:txBody>
      </p:sp>
      <p:sp>
        <p:nvSpPr>
          <p:cNvPr id="4" name="Text 2"/>
          <p:cNvSpPr txBox="1"/>
          <p:nvPr/>
        </p:nvSpPr>
        <p:spPr>
          <a:xfrm>
            <a:off x="603504" y="1170432"/>
            <a:ext cx="10927080" cy="365760"/>
          </a:xfrm>
          <a:prstGeom prst="rect">
            <a:avLst/>
          </a:prstGeom>
          <a:noFill/>
          <a:ln/>
        </p:spPr>
        <p:txBody>
          <a:bodyPr wrap="square" lIns="0" tIns="0" rIns="0" bIns="0" rtlCol="0" anchor="ctr">
            <a:normAutofit/>
          </a:bodyPr>
          <a:lstStyle/>
          <a:p>
            <a:pPr algn="l" indent="0" marL="0">
              <a:buNone/>
            </a:pPr>
            <a:r>
              <a:rPr lang="en-US" sz="1350" dirty="0">
                <a:solidFill>
                  <a:srgbClr val="667085"/>
                </a:solidFill>
                <a:latin typeface="Aptos" pitchFamily="34" charset="0"/>
                <a:ea typeface="Aptos" pitchFamily="34" charset="-122"/>
                <a:cs typeface="Aptos" pitchFamily="34" charset="-120"/>
              </a:rPr>
              <a:t>The next decision is a controlled learning step—not a production or release commitment.</a:t>
            </a:r>
            <a:endParaRPr lang="en-US" sz="1350" dirty="0"/>
          </a:p>
        </p:txBody>
      </p:sp>
      <p:sp>
        <p:nvSpPr>
          <p:cNvPr id="5" name="Shape 3"/>
          <p:cNvSpPr/>
          <p:nvPr/>
        </p:nvSpPr>
        <p:spPr>
          <a:xfrm>
            <a:off x="630936" y="1783080"/>
            <a:ext cx="2569464" cy="2395728"/>
          </a:xfrm>
          <a:prstGeom prst="roundRect">
            <a:avLst>
              <a:gd name="adj" fmla="val 3053"/>
            </a:avLst>
          </a:prstGeom>
          <a:solidFill>
            <a:srgbClr val="FFFFFF"/>
          </a:solidFill>
          <a:ln w="10160">
            <a:solidFill>
              <a:srgbClr val="D8DEE7"/>
            </a:solidFill>
            <a:prstDash val="solid"/>
          </a:ln>
        </p:spPr>
      </p:sp>
      <p:sp>
        <p:nvSpPr>
          <p:cNvPr id="6" name="Shape 4"/>
          <p:cNvSpPr/>
          <p:nvPr/>
        </p:nvSpPr>
        <p:spPr>
          <a:xfrm>
            <a:off x="630936" y="1783080"/>
            <a:ext cx="73152" cy="2395728"/>
          </a:xfrm>
          <a:prstGeom prst="rect">
            <a:avLst/>
          </a:prstGeom>
          <a:solidFill>
            <a:srgbClr val="2D8A65"/>
          </a:solidFill>
          <a:ln w="12700">
            <a:solidFill>
              <a:srgbClr val="2D8A65"/>
            </a:solidFill>
            <a:prstDash val="solid"/>
          </a:ln>
        </p:spPr>
      </p:sp>
      <p:sp>
        <p:nvSpPr>
          <p:cNvPr id="7" name="Text 5"/>
          <p:cNvSpPr txBox="1"/>
          <p:nvPr/>
        </p:nvSpPr>
        <p:spPr>
          <a:xfrm>
            <a:off x="877824" y="1965960"/>
            <a:ext cx="2112264" cy="201168"/>
          </a:xfrm>
          <a:prstGeom prst="rect">
            <a:avLst/>
          </a:prstGeom>
          <a:noFill/>
          <a:ln/>
        </p:spPr>
        <p:txBody>
          <a:bodyPr wrap="square" lIns="0" tIns="0" rIns="0" bIns="0" rtlCol="0" anchor="ctr">
            <a:normAutofit/>
          </a:bodyPr>
          <a:lstStyle/>
          <a:p>
            <a:pPr algn="l" indent="0" marL="0">
              <a:buNone/>
            </a:pPr>
            <a:r>
              <a:rPr lang="en-US" sz="880" b="1" spc="70" kern="0" dirty="0">
                <a:solidFill>
                  <a:srgbClr val="2D8A65"/>
                </a:solidFill>
                <a:latin typeface="Aptos" pitchFamily="34" charset="0"/>
                <a:ea typeface="Aptos" pitchFamily="34" charset="-122"/>
                <a:cs typeface="Aptos" pitchFamily="34" charset="-120"/>
              </a:rPr>
              <a:t>POC</a:t>
            </a:r>
            <a:endParaRPr lang="en-US" sz="880" dirty="0"/>
          </a:p>
        </p:txBody>
      </p:sp>
      <p:sp>
        <p:nvSpPr>
          <p:cNvPr id="8" name="Text 6"/>
          <p:cNvSpPr txBox="1"/>
          <p:nvPr/>
        </p:nvSpPr>
        <p:spPr>
          <a:xfrm>
            <a:off x="877824" y="2249424"/>
            <a:ext cx="2093976" cy="338328"/>
          </a:xfrm>
          <a:prstGeom prst="rect">
            <a:avLst/>
          </a:prstGeom>
          <a:noFill/>
          <a:ln/>
        </p:spPr>
        <p:txBody>
          <a:bodyPr wrap="square" lIns="0" tIns="0" rIns="0" bIns="0" rtlCol="0" anchor="ctr">
            <a:normAutofit/>
          </a:bodyPr>
          <a:lstStyle/>
          <a:p>
            <a:pPr algn="l" indent="0" marL="0">
              <a:buNone/>
            </a:pPr>
            <a:r>
              <a:rPr lang="en-US" sz="1650" b="1" dirty="0">
                <a:solidFill>
                  <a:srgbClr val="172033"/>
                </a:solidFill>
                <a:latin typeface="Aptos" pitchFamily="34" charset="0"/>
                <a:ea typeface="Aptos" pitchFamily="34" charset="-122"/>
                <a:cs typeface="Aptos" pitchFamily="34" charset="-120"/>
              </a:rPr>
              <a:t>Four-day management POC</a:t>
            </a:r>
            <a:endParaRPr lang="en-US" sz="1650" dirty="0"/>
          </a:p>
        </p:txBody>
      </p:sp>
      <p:sp>
        <p:nvSpPr>
          <p:cNvPr id="9" name="Text 7"/>
          <p:cNvSpPr txBox="1"/>
          <p:nvPr/>
        </p:nvSpPr>
        <p:spPr>
          <a:xfrm>
            <a:off x="877824" y="2660904"/>
            <a:ext cx="2093976" cy="1353312"/>
          </a:xfrm>
          <a:prstGeom prst="rect">
            <a:avLst/>
          </a:prstGeom>
          <a:noFill/>
          <a:ln/>
        </p:spPr>
        <p:txBody>
          <a:bodyPr wrap="square" lIns="0" tIns="0" rIns="0" bIns="0" rtlCol="0" anchor="t">
            <a:normAutofit/>
          </a:bodyPr>
          <a:lstStyle/>
          <a:p>
            <a:pPr algn="l" indent="0" marL="0">
              <a:buNone/>
            </a:pPr>
            <a:r>
              <a:rPr lang="en-US" sz="1180" dirty="0">
                <a:solidFill>
                  <a:srgbClr val="667085"/>
                </a:solidFill>
                <a:latin typeface="Aptos" pitchFamily="34" charset="0"/>
                <a:ea typeface="Aptos" pitchFamily="34" charset="-122"/>
                <a:cs typeface="Aptos" pitchFamily="34" charset="-120"/>
              </a:rPr>
              <a:t>Planning target—not a delivery promise; use the current product instead of restarting four months of discovery.</a:t>
            </a:r>
            <a:endParaRPr lang="en-US" sz="1180" dirty="0"/>
          </a:p>
        </p:txBody>
      </p:sp>
      <p:sp>
        <p:nvSpPr>
          <p:cNvPr id="10" name="Shape 8"/>
          <p:cNvSpPr/>
          <p:nvPr/>
        </p:nvSpPr>
        <p:spPr>
          <a:xfrm>
            <a:off x="3447288" y="1783080"/>
            <a:ext cx="2569464" cy="2395728"/>
          </a:xfrm>
          <a:prstGeom prst="roundRect">
            <a:avLst>
              <a:gd name="adj" fmla="val 3053"/>
            </a:avLst>
          </a:prstGeom>
          <a:solidFill>
            <a:srgbClr val="FFFFFF"/>
          </a:solidFill>
          <a:ln w="10160">
            <a:solidFill>
              <a:srgbClr val="D8DEE7"/>
            </a:solidFill>
            <a:prstDash val="solid"/>
          </a:ln>
        </p:spPr>
      </p:sp>
      <p:sp>
        <p:nvSpPr>
          <p:cNvPr id="11" name="Shape 9"/>
          <p:cNvSpPr/>
          <p:nvPr/>
        </p:nvSpPr>
        <p:spPr>
          <a:xfrm>
            <a:off x="3447288" y="1783080"/>
            <a:ext cx="73152" cy="2395728"/>
          </a:xfrm>
          <a:prstGeom prst="rect">
            <a:avLst/>
          </a:prstGeom>
          <a:solidFill>
            <a:srgbClr val="007F80"/>
          </a:solidFill>
          <a:ln w="12700">
            <a:solidFill>
              <a:srgbClr val="007F80"/>
            </a:solidFill>
            <a:prstDash val="solid"/>
          </a:ln>
        </p:spPr>
      </p:sp>
      <p:sp>
        <p:nvSpPr>
          <p:cNvPr id="12" name="Text 10"/>
          <p:cNvSpPr txBox="1"/>
          <p:nvPr/>
        </p:nvSpPr>
        <p:spPr>
          <a:xfrm>
            <a:off x="3694176" y="1965960"/>
            <a:ext cx="2112264" cy="201168"/>
          </a:xfrm>
          <a:prstGeom prst="rect">
            <a:avLst/>
          </a:prstGeom>
          <a:noFill/>
          <a:ln/>
        </p:spPr>
        <p:txBody>
          <a:bodyPr wrap="square" lIns="0" tIns="0" rIns="0" bIns="0" rtlCol="0" anchor="ctr">
            <a:normAutofit/>
          </a:bodyPr>
          <a:lstStyle/>
          <a:p>
            <a:pPr algn="l" indent="0" marL="0">
              <a:buNone/>
            </a:pPr>
            <a:r>
              <a:rPr lang="en-US" sz="880" b="1" spc="70" kern="0" dirty="0">
                <a:solidFill>
                  <a:srgbClr val="007F80"/>
                </a:solidFill>
                <a:latin typeface="Aptos" pitchFamily="34" charset="0"/>
                <a:ea typeface="Aptos" pitchFamily="34" charset="-122"/>
                <a:cs typeface="Aptos" pitchFamily="34" charset="-120"/>
              </a:rPr>
              <a:t>AUDIT</a:t>
            </a:r>
            <a:endParaRPr lang="en-US" sz="880" dirty="0"/>
          </a:p>
        </p:txBody>
      </p:sp>
      <p:sp>
        <p:nvSpPr>
          <p:cNvPr id="13" name="Text 11"/>
          <p:cNvSpPr txBox="1"/>
          <p:nvPr/>
        </p:nvSpPr>
        <p:spPr>
          <a:xfrm>
            <a:off x="3694176" y="2249424"/>
            <a:ext cx="2093976" cy="338328"/>
          </a:xfrm>
          <a:prstGeom prst="rect">
            <a:avLst/>
          </a:prstGeom>
          <a:noFill/>
          <a:ln/>
        </p:spPr>
        <p:txBody>
          <a:bodyPr wrap="square" lIns="0" tIns="0" rIns="0" bIns="0" rtlCol="0" anchor="ctr">
            <a:normAutofit/>
          </a:bodyPr>
          <a:lstStyle/>
          <a:p>
            <a:pPr algn="l" indent="0" marL="0">
              <a:buNone/>
            </a:pPr>
            <a:r>
              <a:rPr lang="en-US" sz="1650" b="1" dirty="0">
                <a:solidFill>
                  <a:srgbClr val="172033"/>
                </a:solidFill>
                <a:latin typeface="Aptos" pitchFamily="34" charset="0"/>
                <a:ea typeface="Aptos" pitchFamily="34" charset="-122"/>
                <a:cs typeface="Aptos" pitchFamily="34" charset="-120"/>
              </a:rPr>
              <a:t>Trace pivotal decisions</a:t>
            </a:r>
            <a:endParaRPr lang="en-US" sz="1650" dirty="0"/>
          </a:p>
        </p:txBody>
      </p:sp>
      <p:sp>
        <p:nvSpPr>
          <p:cNvPr id="14" name="Text 12"/>
          <p:cNvSpPr txBox="1"/>
          <p:nvPr/>
        </p:nvSpPr>
        <p:spPr>
          <a:xfrm>
            <a:off x="3694176" y="2660904"/>
            <a:ext cx="2093976" cy="1353312"/>
          </a:xfrm>
          <a:prstGeom prst="rect">
            <a:avLst/>
          </a:prstGeom>
          <a:noFill/>
          <a:ln/>
        </p:spPr>
        <p:txBody>
          <a:bodyPr wrap="square" lIns="0" tIns="0" rIns="0" bIns="0" rtlCol="0" anchor="t">
            <a:normAutofit/>
          </a:bodyPr>
          <a:lstStyle/>
          <a:p>
            <a:pPr algn="l" indent="0" marL="0">
              <a:buNone/>
            </a:pPr>
            <a:r>
              <a:rPr lang="en-US" sz="1180" dirty="0">
                <a:solidFill>
                  <a:srgbClr val="667085"/>
                </a:solidFill>
                <a:latin typeface="Aptos" pitchFamily="34" charset="0"/>
                <a:ea typeface="Aptos" pitchFamily="34" charset="-122"/>
                <a:cs typeface="Aptos" pitchFamily="34" charset="-120"/>
              </a:rPr>
              <a:t>Review every limit, default, multiplier, exception and approval claim.</a:t>
            </a:r>
            <a:endParaRPr lang="en-US" sz="1180" dirty="0"/>
          </a:p>
        </p:txBody>
      </p:sp>
      <p:sp>
        <p:nvSpPr>
          <p:cNvPr id="15" name="Shape 13"/>
          <p:cNvSpPr/>
          <p:nvPr/>
        </p:nvSpPr>
        <p:spPr>
          <a:xfrm>
            <a:off x="6263640" y="1783080"/>
            <a:ext cx="2569464" cy="2395728"/>
          </a:xfrm>
          <a:prstGeom prst="roundRect">
            <a:avLst>
              <a:gd name="adj" fmla="val 3053"/>
            </a:avLst>
          </a:prstGeom>
          <a:solidFill>
            <a:srgbClr val="FFFFFF"/>
          </a:solidFill>
          <a:ln w="10160">
            <a:solidFill>
              <a:srgbClr val="D8DEE7"/>
            </a:solidFill>
            <a:prstDash val="solid"/>
          </a:ln>
        </p:spPr>
      </p:sp>
      <p:sp>
        <p:nvSpPr>
          <p:cNvPr id="16" name="Shape 14"/>
          <p:cNvSpPr/>
          <p:nvPr/>
        </p:nvSpPr>
        <p:spPr>
          <a:xfrm>
            <a:off x="6263640" y="1783080"/>
            <a:ext cx="73152" cy="2395728"/>
          </a:xfrm>
          <a:prstGeom prst="rect">
            <a:avLst/>
          </a:prstGeom>
          <a:solidFill>
            <a:srgbClr val="D9952A"/>
          </a:solidFill>
          <a:ln w="12700">
            <a:solidFill>
              <a:srgbClr val="D9952A"/>
            </a:solidFill>
            <a:prstDash val="solid"/>
          </a:ln>
        </p:spPr>
      </p:sp>
      <p:sp>
        <p:nvSpPr>
          <p:cNvPr id="17" name="Text 15"/>
          <p:cNvSpPr txBox="1"/>
          <p:nvPr/>
        </p:nvSpPr>
        <p:spPr>
          <a:xfrm>
            <a:off x="6510528" y="1965960"/>
            <a:ext cx="2112264" cy="201168"/>
          </a:xfrm>
          <a:prstGeom prst="rect">
            <a:avLst/>
          </a:prstGeom>
          <a:noFill/>
          <a:ln/>
        </p:spPr>
        <p:txBody>
          <a:bodyPr wrap="square" lIns="0" tIns="0" rIns="0" bIns="0" rtlCol="0" anchor="ctr">
            <a:normAutofit/>
          </a:bodyPr>
          <a:lstStyle/>
          <a:p>
            <a:pPr algn="l" indent="0" marL="0">
              <a:buNone/>
            </a:pPr>
            <a:r>
              <a:rPr lang="en-US" sz="880" b="1" spc="70" kern="0" dirty="0">
                <a:solidFill>
                  <a:srgbClr val="D9952A"/>
                </a:solidFill>
                <a:latin typeface="Aptos" pitchFamily="34" charset="0"/>
                <a:ea typeface="Aptos" pitchFamily="34" charset="-122"/>
                <a:cs typeface="Aptos" pitchFamily="34" charset="-120"/>
              </a:rPr>
              <a:t>DESIGN</a:t>
            </a:r>
            <a:endParaRPr lang="en-US" sz="880" dirty="0"/>
          </a:p>
        </p:txBody>
      </p:sp>
      <p:sp>
        <p:nvSpPr>
          <p:cNvPr id="18" name="Text 16"/>
          <p:cNvSpPr txBox="1"/>
          <p:nvPr/>
        </p:nvSpPr>
        <p:spPr>
          <a:xfrm>
            <a:off x="6510528" y="2249424"/>
            <a:ext cx="2093976" cy="338328"/>
          </a:xfrm>
          <a:prstGeom prst="rect">
            <a:avLst/>
          </a:prstGeom>
          <a:noFill/>
          <a:ln/>
        </p:spPr>
        <p:txBody>
          <a:bodyPr wrap="square" lIns="0" tIns="0" rIns="0" bIns="0" rtlCol="0" anchor="ctr">
            <a:normAutofit/>
          </a:bodyPr>
          <a:lstStyle/>
          <a:p>
            <a:pPr algn="l" indent="0" marL="0">
              <a:buNone/>
            </a:pPr>
            <a:r>
              <a:rPr lang="en-US" sz="1650" b="1" dirty="0">
                <a:solidFill>
                  <a:srgbClr val="172033"/>
                </a:solidFill>
                <a:latin typeface="Aptos" pitchFamily="34" charset="0"/>
                <a:ea typeface="Aptos" pitchFamily="34" charset="-122"/>
                <a:cs typeface="Aptos" pitchFamily="34" charset="-120"/>
              </a:rPr>
              <a:t>Build approval-led policy</a:t>
            </a:r>
            <a:endParaRPr lang="en-US" sz="1650" dirty="0"/>
          </a:p>
        </p:txBody>
      </p:sp>
      <p:sp>
        <p:nvSpPr>
          <p:cNvPr id="19" name="Text 17"/>
          <p:cNvSpPr txBox="1"/>
          <p:nvPr/>
        </p:nvSpPr>
        <p:spPr>
          <a:xfrm>
            <a:off x="6510528" y="2660904"/>
            <a:ext cx="2093976" cy="1353312"/>
          </a:xfrm>
          <a:prstGeom prst="rect">
            <a:avLst/>
          </a:prstGeom>
          <a:noFill/>
          <a:ln/>
        </p:spPr>
        <p:txBody>
          <a:bodyPr wrap="square" lIns="0" tIns="0" rIns="0" bIns="0" rtlCol="0" anchor="t">
            <a:normAutofit/>
          </a:bodyPr>
          <a:lstStyle/>
          <a:p>
            <a:pPr algn="l" indent="0" marL="0">
              <a:buNone/>
            </a:pPr>
            <a:r>
              <a:rPr lang="en-US" sz="1180" dirty="0">
                <a:solidFill>
                  <a:srgbClr val="667085"/>
                </a:solidFill>
                <a:latin typeface="Aptos" pitchFamily="34" charset="0"/>
                <a:ea typeface="Aptos" pitchFamily="34" charset="-122"/>
                <a:cs typeface="Aptos" pitchFamily="34" charset="-120"/>
              </a:rPr>
              <a:t>Reject missing authority; calculate and explain adaptive allowances.</a:t>
            </a:r>
            <a:endParaRPr lang="en-US" sz="1180" dirty="0"/>
          </a:p>
        </p:txBody>
      </p:sp>
      <p:sp>
        <p:nvSpPr>
          <p:cNvPr id="20" name="Shape 18"/>
          <p:cNvSpPr/>
          <p:nvPr/>
        </p:nvSpPr>
        <p:spPr>
          <a:xfrm>
            <a:off x="9079992" y="1783080"/>
            <a:ext cx="2569464" cy="2395728"/>
          </a:xfrm>
          <a:prstGeom prst="roundRect">
            <a:avLst>
              <a:gd name="adj" fmla="val 3053"/>
            </a:avLst>
          </a:prstGeom>
          <a:solidFill>
            <a:srgbClr val="FFFFFF"/>
          </a:solidFill>
          <a:ln w="10160">
            <a:solidFill>
              <a:srgbClr val="D8DEE7"/>
            </a:solidFill>
            <a:prstDash val="solid"/>
          </a:ln>
        </p:spPr>
      </p:sp>
      <p:sp>
        <p:nvSpPr>
          <p:cNvPr id="21" name="Shape 19"/>
          <p:cNvSpPr/>
          <p:nvPr/>
        </p:nvSpPr>
        <p:spPr>
          <a:xfrm>
            <a:off x="9079992" y="1783080"/>
            <a:ext cx="73152" cy="2395728"/>
          </a:xfrm>
          <a:prstGeom prst="rect">
            <a:avLst/>
          </a:prstGeom>
          <a:solidFill>
            <a:srgbClr val="163454"/>
          </a:solidFill>
          <a:ln w="12700">
            <a:solidFill>
              <a:srgbClr val="163454"/>
            </a:solidFill>
            <a:prstDash val="solid"/>
          </a:ln>
        </p:spPr>
      </p:sp>
      <p:sp>
        <p:nvSpPr>
          <p:cNvPr id="22" name="Text 20"/>
          <p:cNvSpPr txBox="1"/>
          <p:nvPr/>
        </p:nvSpPr>
        <p:spPr>
          <a:xfrm>
            <a:off x="9326880" y="1965960"/>
            <a:ext cx="2112264" cy="201168"/>
          </a:xfrm>
          <a:prstGeom prst="rect">
            <a:avLst/>
          </a:prstGeom>
          <a:noFill/>
          <a:ln/>
        </p:spPr>
        <p:txBody>
          <a:bodyPr wrap="square" lIns="0" tIns="0" rIns="0" bIns="0" rtlCol="0" anchor="ctr">
            <a:normAutofit/>
          </a:bodyPr>
          <a:lstStyle/>
          <a:p>
            <a:pPr algn="l" indent="0" marL="0">
              <a:buNone/>
            </a:pPr>
            <a:r>
              <a:rPr lang="en-US" sz="880" b="1" spc="70" kern="0" dirty="0">
                <a:solidFill>
                  <a:srgbClr val="163454"/>
                </a:solidFill>
                <a:latin typeface="Aptos" pitchFamily="34" charset="0"/>
                <a:ea typeface="Aptos" pitchFamily="34" charset="-122"/>
                <a:cs typeface="Aptos" pitchFamily="34" charset="-120"/>
              </a:rPr>
              <a:t>DRY-RUN</a:t>
            </a:r>
            <a:endParaRPr lang="en-US" sz="880" dirty="0"/>
          </a:p>
        </p:txBody>
      </p:sp>
      <p:sp>
        <p:nvSpPr>
          <p:cNvPr id="23" name="Text 21"/>
          <p:cNvSpPr txBox="1"/>
          <p:nvPr/>
        </p:nvSpPr>
        <p:spPr>
          <a:xfrm>
            <a:off x="9326880" y="2249424"/>
            <a:ext cx="2093976" cy="338328"/>
          </a:xfrm>
          <a:prstGeom prst="rect">
            <a:avLst/>
          </a:prstGeom>
          <a:noFill/>
          <a:ln/>
        </p:spPr>
        <p:txBody>
          <a:bodyPr wrap="square" lIns="0" tIns="0" rIns="0" bIns="0" rtlCol="0" anchor="ctr">
            <a:normAutofit/>
          </a:bodyPr>
          <a:lstStyle/>
          <a:p>
            <a:pPr algn="l" indent="0" marL="0">
              <a:buNone/>
            </a:pPr>
            <a:r>
              <a:rPr lang="en-US" sz="1650" b="1" dirty="0">
                <a:solidFill>
                  <a:srgbClr val="172033"/>
                </a:solidFill>
                <a:latin typeface="Aptos" pitchFamily="34" charset="0"/>
                <a:ea typeface="Aptos" pitchFamily="34" charset="-122"/>
                <a:cs typeface="Aptos" pitchFamily="34" charset="-120"/>
              </a:rPr>
              <a:t>Prove the control</a:t>
            </a:r>
            <a:endParaRPr lang="en-US" sz="1650" dirty="0"/>
          </a:p>
        </p:txBody>
      </p:sp>
      <p:sp>
        <p:nvSpPr>
          <p:cNvPr id="24" name="Text 22"/>
          <p:cNvSpPr txBox="1"/>
          <p:nvPr/>
        </p:nvSpPr>
        <p:spPr>
          <a:xfrm>
            <a:off x="9326880" y="2660904"/>
            <a:ext cx="2093976" cy="1353312"/>
          </a:xfrm>
          <a:prstGeom prst="rect">
            <a:avLst/>
          </a:prstGeom>
          <a:noFill/>
          <a:ln/>
        </p:spPr>
        <p:txBody>
          <a:bodyPr wrap="square" lIns="0" tIns="0" rIns="0" bIns="0" rtlCol="0" anchor="t">
            <a:normAutofit/>
          </a:bodyPr>
          <a:lstStyle/>
          <a:p>
            <a:pPr algn="l" indent="0" marL="0">
              <a:buNone/>
            </a:pPr>
            <a:r>
              <a:rPr lang="en-US" sz="1180" dirty="0">
                <a:solidFill>
                  <a:srgbClr val="667085"/>
                </a:solidFill>
                <a:latin typeface="Aptos" pitchFamily="34" charset="0"/>
                <a:ea typeface="Aptos" pitchFamily="34" charset="-122"/>
                <a:cs typeface="Aptos" pitchFamily="34" charset="-120"/>
              </a:rPr>
              <a:t>Show that no unapproved value can govern cost, data or execution.</a:t>
            </a:r>
            <a:endParaRPr lang="en-US" sz="1180" dirty="0"/>
          </a:p>
        </p:txBody>
      </p:sp>
      <p:sp>
        <p:nvSpPr>
          <p:cNvPr id="25" name="Shape 23"/>
          <p:cNvSpPr/>
          <p:nvPr/>
        </p:nvSpPr>
        <p:spPr>
          <a:xfrm>
            <a:off x="640080" y="4489704"/>
            <a:ext cx="10981944" cy="1197864"/>
          </a:xfrm>
          <a:prstGeom prst="roundRect">
            <a:avLst>
              <a:gd name="adj" fmla="val 6107"/>
            </a:avLst>
          </a:prstGeom>
          <a:solidFill>
            <a:srgbClr val="163454"/>
          </a:solidFill>
          <a:ln w="10160">
            <a:solidFill>
              <a:srgbClr val="163454"/>
            </a:solidFill>
            <a:prstDash val="solid"/>
          </a:ln>
        </p:spPr>
      </p:sp>
      <p:sp>
        <p:nvSpPr>
          <p:cNvPr id="26" name="Text 24"/>
          <p:cNvSpPr txBox="1"/>
          <p:nvPr/>
        </p:nvSpPr>
        <p:spPr>
          <a:xfrm>
            <a:off x="932688" y="4718304"/>
            <a:ext cx="2148840" cy="201168"/>
          </a:xfrm>
          <a:prstGeom prst="rect">
            <a:avLst/>
          </a:prstGeom>
          <a:noFill/>
          <a:ln/>
        </p:spPr>
        <p:txBody>
          <a:bodyPr wrap="square" lIns="0" tIns="0" rIns="0" bIns="0" rtlCol="0" anchor="ctr">
            <a:normAutofit/>
          </a:bodyPr>
          <a:lstStyle/>
          <a:p>
            <a:pPr algn="l" indent="0" marL="0">
              <a:buNone/>
            </a:pPr>
            <a:r>
              <a:rPr lang="en-US" sz="940" b="1" spc="100" kern="0" dirty="0">
                <a:solidFill>
                  <a:srgbClr val="9DE0E4"/>
                </a:solidFill>
                <a:latin typeface="Aptos" pitchFamily="34" charset="0"/>
                <a:ea typeface="Aptos" pitchFamily="34" charset="-122"/>
                <a:cs typeface="Aptos" pitchFamily="34" charset="-120"/>
              </a:rPr>
              <a:t>MANAGEMENT QUESTION</a:t>
            </a:r>
            <a:endParaRPr lang="en-US" sz="940" dirty="0"/>
          </a:p>
        </p:txBody>
      </p:sp>
      <p:sp>
        <p:nvSpPr>
          <p:cNvPr id="27" name="Text 25"/>
          <p:cNvSpPr txBox="1"/>
          <p:nvPr/>
        </p:nvSpPr>
        <p:spPr>
          <a:xfrm>
            <a:off x="932688" y="5038344"/>
            <a:ext cx="10076688" cy="420624"/>
          </a:xfrm>
          <a:prstGeom prst="rect">
            <a:avLst/>
          </a:prstGeom>
          <a:noFill/>
          <a:ln/>
        </p:spPr>
        <p:txBody>
          <a:bodyPr wrap="square" lIns="0" tIns="0" rIns="0" bIns="0" rtlCol="0" anchor="ctr">
            <a:normAutofit/>
          </a:bodyPr>
          <a:lstStyle/>
          <a:p>
            <a:pPr algn="l" indent="0" marL="0">
              <a:buNone/>
            </a:pPr>
            <a:r>
              <a:rPr lang="en-US" sz="1860" b="1" dirty="0">
                <a:solidFill>
                  <a:srgbClr val="FFFFFF"/>
                </a:solidFill>
                <a:latin typeface="Aptos" pitchFamily="34" charset="0"/>
                <a:ea typeface="Aptos" pitchFamily="34" charset="-122"/>
                <a:cs typeface="Aptos" pitchFamily="34" charset="-120"/>
              </a:rPr>
              <a:t>Should management authorize the four-day POC and decision audit before Phase 4 resumes?</a:t>
            </a:r>
            <a:endParaRPr lang="en-US" sz="1860" dirty="0"/>
          </a:p>
        </p:txBody>
      </p:sp>
      <p:sp>
        <p:nvSpPr>
          <p:cNvPr id="28" name="Text 26"/>
          <p:cNvSpPr txBox="1"/>
          <p:nvPr/>
        </p:nvSpPr>
        <p:spPr>
          <a:xfrm>
            <a:off x="658368" y="5897880"/>
            <a:ext cx="10954512" cy="365760"/>
          </a:xfrm>
          <a:prstGeom prst="rect">
            <a:avLst/>
          </a:prstGeom>
          <a:noFill/>
          <a:ln/>
        </p:spPr>
        <p:txBody>
          <a:bodyPr wrap="square" lIns="0" tIns="0" rIns="0" bIns="0" rtlCol="0" anchor="ctr">
            <a:normAutofit/>
          </a:bodyPr>
          <a:lstStyle/>
          <a:p>
            <a:pPr algn="ctr" indent="0" marL="0">
              <a:buNone/>
            </a:pPr>
            <a:r>
              <a:rPr lang="en-US" sz="1150" b="1" dirty="0">
                <a:solidFill>
                  <a:srgbClr val="007F80"/>
                </a:solidFill>
                <a:latin typeface="Aptos" pitchFamily="34" charset="0"/>
                <a:ea typeface="Aptos" pitchFamily="34" charset="-122"/>
                <a:cs typeface="Aptos" pitchFamily="34" charset="-120"/>
              </a:rPr>
              <a:t>Phase 4 is deliberately deferred: the 12,000 ceiling was not explicitly approved; quality comparison never began.</a:t>
            </a:r>
            <a:endParaRPr lang="en-US" sz="1150" dirty="0"/>
          </a:p>
        </p:txBody>
      </p:sp>
      <p:sp>
        <p:nvSpPr>
          <p:cNvPr id="25" name="Slide Number Placeholder 0"/>
          <p:cNvSpPr>
            <a:spLocks noGrp="1"/>
          </p:cNvSpPr>
          <p:nvPr>
            <p:ph type="sldNum" sz="quarter" idx="4294967295"/>
          </p:nvPr>
        </p:nvSpPr>
        <p:spPr>
          <a:xfrm>
            <a:off x="11658600" y="6492240"/>
            <a:ext cx="800000" cy="300000"/>
          </a:xfrm>
          <a:prstGeom prst="rect">
            <a:avLst/>
          </a:prstGeom>
          <a:extLst>
            <a:ext uri="{C572A759-6A51-4108-AA02-DFA0A04FC94B}">
              <ma14:wrappingTextBoxFlag xmlns:ma14="http://schemas.microsoft.com/office/mac/drawingml/2011/main" val="0"/>
            </a:ext>
          </a:extLst>
        </p:spPr>
        <p:txBody>
          <a:bodyPr/>
          <a:lstStyle>
            <a:lvl1pPr>
              <a:defRPr sz="780">
                <a:solidFill>
                  <a:srgbClr val="667085"/>
                </a:solidFill>
                <a:latin typeface="Aptos"/>
                <a:ea typeface="Aptos"/>
                <a:cs typeface="Aptos"/>
              </a:defRPr>
            </a:lvl1pPr>
          </a:lstStyle>
          <a:p>
            <a:pPr algn="l"/>
            <a:fld id="{F7021451-1387-4CA6-816F-3879F97B5CBC}" type="slidenum">
              <a:rPr b="0" lang="en-US"/>
              <a:t>9</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DWI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DWI — A Safer, More Consistent Way to Use AI</dc:title>
  <dc:subject>DWI management proof of concept and future direction in plain language</dc:subject>
  <dc:creator>DWI</dc:creator>
  <cp:lastModifiedBy>DWI</cp:lastModifiedBy>
  <cp:revision>1</cp:revision>
  <dcterms:created xsi:type="dcterms:W3CDTF">2026-09-01T10:25:10Z</dcterms:created>
  <dcterms:modified xsi:type="dcterms:W3CDTF">2026-09-01T10:25:10Z</dcterms:modified>
</cp:coreProperties>
</file>